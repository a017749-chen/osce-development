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5"/>
  </p:notesMasterIdLst>
  <p:sldIdLst>
    <p:sldId id="256" r:id="rId2"/>
    <p:sldId id="257" r:id="rId3"/>
    <p:sldId id="525" r:id="rId4"/>
    <p:sldId id="459" r:id="rId5"/>
    <p:sldId id="531" r:id="rId6"/>
    <p:sldId id="532" r:id="rId7"/>
    <p:sldId id="456" r:id="rId8"/>
    <p:sldId id="500" r:id="rId9"/>
    <p:sldId id="258" r:id="rId10"/>
    <p:sldId id="533" r:id="rId11"/>
    <p:sldId id="452" r:id="rId12"/>
    <p:sldId id="534" r:id="rId13"/>
    <p:sldId id="536" r:id="rId14"/>
    <p:sldId id="259" r:id="rId15"/>
    <p:sldId id="260" r:id="rId16"/>
    <p:sldId id="261" r:id="rId17"/>
    <p:sldId id="535" r:id="rId18"/>
    <p:sldId id="262" r:id="rId19"/>
    <p:sldId id="263" r:id="rId20"/>
    <p:sldId id="264" r:id="rId21"/>
    <p:sldId id="265" r:id="rId22"/>
    <p:sldId id="266" r:id="rId23"/>
    <p:sldId id="267" r:id="rId24"/>
    <p:sldId id="268" r:id="rId25"/>
    <p:sldId id="269" r:id="rId26"/>
    <p:sldId id="270" r:id="rId27"/>
    <p:sldId id="271" r:id="rId28"/>
    <p:sldId id="316" r:id="rId29"/>
    <p:sldId id="317" r:id="rId30"/>
    <p:sldId id="272" r:id="rId31"/>
    <p:sldId id="273" r:id="rId32"/>
    <p:sldId id="274" r:id="rId33"/>
    <p:sldId id="275" r:id="rId34"/>
    <p:sldId id="276" r:id="rId35"/>
    <p:sldId id="277" r:id="rId36"/>
    <p:sldId id="278" r:id="rId37"/>
    <p:sldId id="279" r:id="rId38"/>
    <p:sldId id="280" r:id="rId39"/>
    <p:sldId id="281" r:id="rId40"/>
    <p:sldId id="282" r:id="rId41"/>
    <p:sldId id="283" r:id="rId42"/>
    <p:sldId id="284" r:id="rId43"/>
    <p:sldId id="285" r:id="rId4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6" d="100"/>
          <a:sy n="146" d="100"/>
        </p:scale>
        <p:origin x="168"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C9DED26-1CF8-4470-8586-C2139D0FFF57}"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29A9E658-7029-4397-A657-7D47758AAD5F}">
      <dgm:prSet/>
      <dgm:spPr/>
      <dgm:t>
        <a:bodyPr/>
        <a:lstStyle/>
        <a:p>
          <a:r>
            <a:rPr lang="en-US"/>
            <a:t>Demonstration</a:t>
          </a:r>
        </a:p>
      </dgm:t>
    </dgm:pt>
    <dgm:pt modelId="{8DDDB745-9F07-4ED8-A907-E7E7FFC82018}" type="parTrans" cxnId="{E890C6A0-C119-4A03-AAFE-D7F6C27DE4A6}">
      <dgm:prSet/>
      <dgm:spPr/>
      <dgm:t>
        <a:bodyPr/>
        <a:lstStyle/>
        <a:p>
          <a:endParaRPr lang="en-US"/>
        </a:p>
      </dgm:t>
    </dgm:pt>
    <dgm:pt modelId="{88F4AE27-E490-40FE-AF13-BD1EA4DEF5E4}" type="sibTrans" cxnId="{E890C6A0-C119-4A03-AAFE-D7F6C27DE4A6}">
      <dgm:prSet/>
      <dgm:spPr/>
      <dgm:t>
        <a:bodyPr/>
        <a:lstStyle/>
        <a:p>
          <a:endParaRPr lang="en-US"/>
        </a:p>
      </dgm:t>
    </dgm:pt>
    <dgm:pt modelId="{3E061C59-1FBE-45B1-9CEB-60F00854E226}">
      <dgm:prSet/>
      <dgm:spPr/>
      <dgm:t>
        <a:bodyPr/>
        <a:lstStyle/>
        <a:p>
          <a:r>
            <a:rPr lang="en-US"/>
            <a:t>Show what I know </a:t>
          </a:r>
        </a:p>
      </dgm:t>
    </dgm:pt>
    <dgm:pt modelId="{FFED66B0-8211-43A9-8550-E9BBA311F764}" type="parTrans" cxnId="{7C927DE2-0321-4160-A223-4DC4BFD3CD08}">
      <dgm:prSet/>
      <dgm:spPr/>
      <dgm:t>
        <a:bodyPr/>
        <a:lstStyle/>
        <a:p>
          <a:endParaRPr lang="en-US"/>
        </a:p>
      </dgm:t>
    </dgm:pt>
    <dgm:pt modelId="{6AA6157E-DF43-4092-9EE9-05520B0D3B69}" type="sibTrans" cxnId="{7C927DE2-0321-4160-A223-4DC4BFD3CD08}">
      <dgm:prSet/>
      <dgm:spPr/>
      <dgm:t>
        <a:bodyPr/>
        <a:lstStyle/>
        <a:p>
          <a:endParaRPr lang="en-US"/>
        </a:p>
      </dgm:t>
    </dgm:pt>
    <dgm:pt modelId="{4D28AC1D-A669-4542-BCB0-FE8376CFF7D1}">
      <dgm:prSet/>
      <dgm:spPr/>
      <dgm:t>
        <a:bodyPr/>
        <a:lstStyle/>
        <a:p>
          <a:r>
            <a:rPr lang="en-US"/>
            <a:t>Show what I can</a:t>
          </a:r>
        </a:p>
      </dgm:t>
    </dgm:pt>
    <dgm:pt modelId="{1F116C35-8B2D-4A2F-8EC0-7ECB396FD22C}" type="parTrans" cxnId="{AACE0FD7-CA45-4EE9-84F1-A487B2B04912}">
      <dgm:prSet/>
      <dgm:spPr/>
      <dgm:t>
        <a:bodyPr/>
        <a:lstStyle/>
        <a:p>
          <a:endParaRPr lang="en-US"/>
        </a:p>
      </dgm:t>
    </dgm:pt>
    <dgm:pt modelId="{B84BCD4A-C49C-45FD-AC3A-525DFBF3D9D1}" type="sibTrans" cxnId="{AACE0FD7-CA45-4EE9-84F1-A487B2B04912}">
      <dgm:prSet/>
      <dgm:spPr/>
      <dgm:t>
        <a:bodyPr/>
        <a:lstStyle/>
        <a:p>
          <a:endParaRPr lang="en-US"/>
        </a:p>
      </dgm:t>
    </dgm:pt>
    <dgm:pt modelId="{B3069F9B-AC6B-4DD2-AFC2-5873846E182F}" type="pres">
      <dgm:prSet presAssocID="{BC9DED26-1CF8-4470-8586-C2139D0FFF57}" presName="linear" presStyleCnt="0">
        <dgm:presLayoutVars>
          <dgm:animLvl val="lvl"/>
          <dgm:resizeHandles val="exact"/>
        </dgm:presLayoutVars>
      </dgm:prSet>
      <dgm:spPr/>
    </dgm:pt>
    <dgm:pt modelId="{FFB2931B-CF8A-4955-84A3-26E9947F6EA5}" type="pres">
      <dgm:prSet presAssocID="{29A9E658-7029-4397-A657-7D47758AAD5F}" presName="parentText" presStyleLbl="node1" presStyleIdx="0" presStyleCnt="3">
        <dgm:presLayoutVars>
          <dgm:chMax val="0"/>
          <dgm:bulletEnabled val="1"/>
        </dgm:presLayoutVars>
      </dgm:prSet>
      <dgm:spPr/>
    </dgm:pt>
    <dgm:pt modelId="{C407C021-4200-4BC4-8FD7-F81A3B021426}" type="pres">
      <dgm:prSet presAssocID="{88F4AE27-E490-40FE-AF13-BD1EA4DEF5E4}" presName="spacer" presStyleCnt="0"/>
      <dgm:spPr/>
    </dgm:pt>
    <dgm:pt modelId="{2DC3A328-3C97-4919-AC3E-94D51DB92908}" type="pres">
      <dgm:prSet presAssocID="{3E061C59-1FBE-45B1-9CEB-60F00854E226}" presName="parentText" presStyleLbl="node1" presStyleIdx="1" presStyleCnt="3">
        <dgm:presLayoutVars>
          <dgm:chMax val="0"/>
          <dgm:bulletEnabled val="1"/>
        </dgm:presLayoutVars>
      </dgm:prSet>
      <dgm:spPr/>
    </dgm:pt>
    <dgm:pt modelId="{8649DF24-3C27-43FC-B9E1-61017AD21122}" type="pres">
      <dgm:prSet presAssocID="{6AA6157E-DF43-4092-9EE9-05520B0D3B69}" presName="spacer" presStyleCnt="0"/>
      <dgm:spPr/>
    </dgm:pt>
    <dgm:pt modelId="{65CD94EF-1AB6-45BF-9441-782155EAEE2D}" type="pres">
      <dgm:prSet presAssocID="{4D28AC1D-A669-4542-BCB0-FE8376CFF7D1}" presName="parentText" presStyleLbl="node1" presStyleIdx="2" presStyleCnt="3">
        <dgm:presLayoutVars>
          <dgm:chMax val="0"/>
          <dgm:bulletEnabled val="1"/>
        </dgm:presLayoutVars>
      </dgm:prSet>
      <dgm:spPr/>
    </dgm:pt>
  </dgm:ptLst>
  <dgm:cxnLst>
    <dgm:cxn modelId="{E890C6A0-C119-4A03-AAFE-D7F6C27DE4A6}" srcId="{BC9DED26-1CF8-4470-8586-C2139D0FFF57}" destId="{29A9E658-7029-4397-A657-7D47758AAD5F}" srcOrd="0" destOrd="0" parTransId="{8DDDB745-9F07-4ED8-A907-E7E7FFC82018}" sibTransId="{88F4AE27-E490-40FE-AF13-BD1EA4DEF5E4}"/>
    <dgm:cxn modelId="{10C408A4-3248-45F4-9761-0A7DAE208285}" type="presOf" srcId="{3E061C59-1FBE-45B1-9CEB-60F00854E226}" destId="{2DC3A328-3C97-4919-AC3E-94D51DB92908}" srcOrd="0" destOrd="0" presId="urn:microsoft.com/office/officeart/2005/8/layout/vList2"/>
    <dgm:cxn modelId="{402D30B7-0A93-441E-9E9F-BF9D85F3D912}" type="presOf" srcId="{BC9DED26-1CF8-4470-8586-C2139D0FFF57}" destId="{B3069F9B-AC6B-4DD2-AFC2-5873846E182F}" srcOrd="0" destOrd="0" presId="urn:microsoft.com/office/officeart/2005/8/layout/vList2"/>
    <dgm:cxn modelId="{AACE0FD7-CA45-4EE9-84F1-A487B2B04912}" srcId="{BC9DED26-1CF8-4470-8586-C2139D0FFF57}" destId="{4D28AC1D-A669-4542-BCB0-FE8376CFF7D1}" srcOrd="2" destOrd="0" parTransId="{1F116C35-8B2D-4A2F-8EC0-7ECB396FD22C}" sibTransId="{B84BCD4A-C49C-45FD-AC3A-525DFBF3D9D1}"/>
    <dgm:cxn modelId="{7C927DE2-0321-4160-A223-4DC4BFD3CD08}" srcId="{BC9DED26-1CF8-4470-8586-C2139D0FFF57}" destId="{3E061C59-1FBE-45B1-9CEB-60F00854E226}" srcOrd="1" destOrd="0" parTransId="{FFED66B0-8211-43A9-8550-E9BBA311F764}" sibTransId="{6AA6157E-DF43-4092-9EE9-05520B0D3B69}"/>
    <dgm:cxn modelId="{665C57F1-2DDB-4BD8-8A61-19A2E933CC94}" type="presOf" srcId="{4D28AC1D-A669-4542-BCB0-FE8376CFF7D1}" destId="{65CD94EF-1AB6-45BF-9441-782155EAEE2D}" srcOrd="0" destOrd="0" presId="urn:microsoft.com/office/officeart/2005/8/layout/vList2"/>
    <dgm:cxn modelId="{E54504F5-1783-4185-9408-1BEE234C671B}" type="presOf" srcId="{29A9E658-7029-4397-A657-7D47758AAD5F}" destId="{FFB2931B-CF8A-4955-84A3-26E9947F6EA5}" srcOrd="0" destOrd="0" presId="urn:microsoft.com/office/officeart/2005/8/layout/vList2"/>
    <dgm:cxn modelId="{8C2C5A58-BDBD-4270-800A-322D31221BE8}" type="presParOf" srcId="{B3069F9B-AC6B-4DD2-AFC2-5873846E182F}" destId="{FFB2931B-CF8A-4955-84A3-26E9947F6EA5}" srcOrd="0" destOrd="0" presId="urn:microsoft.com/office/officeart/2005/8/layout/vList2"/>
    <dgm:cxn modelId="{06CFFEDC-634A-4098-8F3D-56B36DD74305}" type="presParOf" srcId="{B3069F9B-AC6B-4DD2-AFC2-5873846E182F}" destId="{C407C021-4200-4BC4-8FD7-F81A3B021426}" srcOrd="1" destOrd="0" presId="urn:microsoft.com/office/officeart/2005/8/layout/vList2"/>
    <dgm:cxn modelId="{E6B592E1-AC3D-4EA2-8733-78C17C6CC705}" type="presParOf" srcId="{B3069F9B-AC6B-4DD2-AFC2-5873846E182F}" destId="{2DC3A328-3C97-4919-AC3E-94D51DB92908}" srcOrd="2" destOrd="0" presId="urn:microsoft.com/office/officeart/2005/8/layout/vList2"/>
    <dgm:cxn modelId="{A33018EF-7C1E-4A89-9955-01D6218227D7}" type="presParOf" srcId="{B3069F9B-AC6B-4DD2-AFC2-5873846E182F}" destId="{8649DF24-3C27-43FC-B9E1-61017AD21122}" srcOrd="3" destOrd="0" presId="urn:microsoft.com/office/officeart/2005/8/layout/vList2"/>
    <dgm:cxn modelId="{A909162A-F392-4D07-8715-EF49965D776C}" type="presParOf" srcId="{B3069F9B-AC6B-4DD2-AFC2-5873846E182F}" destId="{65CD94EF-1AB6-45BF-9441-782155EAEE2D}"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9C79337-AA6C-4F57-9A8D-670BED908A4E}"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42F30471-1EF6-4B2C-A682-5B636F8101F4}">
      <dgm:prSet/>
      <dgm:spPr/>
      <dgm:t>
        <a:bodyPr/>
        <a:lstStyle/>
        <a:p>
          <a:r>
            <a:rPr lang="zh-TW"/>
            <a:t>容許犯錯</a:t>
          </a:r>
          <a:endParaRPr lang="en-US"/>
        </a:p>
      </dgm:t>
    </dgm:pt>
    <dgm:pt modelId="{7BAFDBFD-DB11-48C4-9447-70AD99C75540}" type="parTrans" cxnId="{94FC8946-FC28-43A7-950F-9BCAFF74271B}">
      <dgm:prSet/>
      <dgm:spPr/>
      <dgm:t>
        <a:bodyPr/>
        <a:lstStyle/>
        <a:p>
          <a:endParaRPr lang="en-US"/>
        </a:p>
      </dgm:t>
    </dgm:pt>
    <dgm:pt modelId="{BACA19EB-21D8-4323-9597-1C7F4FB7B416}" type="sibTrans" cxnId="{94FC8946-FC28-43A7-950F-9BCAFF74271B}">
      <dgm:prSet/>
      <dgm:spPr/>
      <dgm:t>
        <a:bodyPr/>
        <a:lstStyle/>
        <a:p>
          <a:endParaRPr lang="en-US"/>
        </a:p>
      </dgm:t>
    </dgm:pt>
    <dgm:pt modelId="{8B07B54C-F75E-49C5-99BD-FD8706AC58D5}">
      <dgm:prSet/>
      <dgm:spPr/>
      <dgm:t>
        <a:bodyPr/>
        <a:lstStyle/>
        <a:p>
          <a:r>
            <a:rPr lang="zh-TW"/>
            <a:t>提供改善方式</a:t>
          </a:r>
          <a:endParaRPr lang="en-US"/>
        </a:p>
      </dgm:t>
    </dgm:pt>
    <dgm:pt modelId="{86F97B96-E983-4DA0-8437-5AEBDA2C47C0}" type="parTrans" cxnId="{FC90B9CD-523E-4F64-9157-25334B0C3617}">
      <dgm:prSet/>
      <dgm:spPr/>
      <dgm:t>
        <a:bodyPr/>
        <a:lstStyle/>
        <a:p>
          <a:endParaRPr lang="en-US"/>
        </a:p>
      </dgm:t>
    </dgm:pt>
    <dgm:pt modelId="{95A9CEA3-3B34-417E-8EC7-3E9E0363A747}" type="sibTrans" cxnId="{FC90B9CD-523E-4F64-9157-25334B0C3617}">
      <dgm:prSet/>
      <dgm:spPr/>
      <dgm:t>
        <a:bodyPr/>
        <a:lstStyle/>
        <a:p>
          <a:endParaRPr lang="en-US"/>
        </a:p>
      </dgm:t>
    </dgm:pt>
    <dgm:pt modelId="{A4B9FDD8-72BD-4275-B124-144ABB561C7E}">
      <dgm:prSet/>
      <dgm:spPr/>
      <dgm:t>
        <a:bodyPr/>
        <a:lstStyle/>
        <a:p>
          <a:r>
            <a:rPr lang="zh-TW"/>
            <a:t>達成一致性</a:t>
          </a:r>
          <a:endParaRPr lang="en-US"/>
        </a:p>
      </dgm:t>
    </dgm:pt>
    <dgm:pt modelId="{F7671116-6917-458F-AB0B-598AAD9501D3}" type="parTrans" cxnId="{EF2E53C8-E650-4451-911C-D9EEC99D0BD9}">
      <dgm:prSet/>
      <dgm:spPr/>
      <dgm:t>
        <a:bodyPr/>
        <a:lstStyle/>
        <a:p>
          <a:endParaRPr lang="en-US"/>
        </a:p>
      </dgm:t>
    </dgm:pt>
    <dgm:pt modelId="{BF1A2502-1183-4184-840B-F23C118D4E3F}" type="sibTrans" cxnId="{EF2E53C8-E650-4451-911C-D9EEC99D0BD9}">
      <dgm:prSet/>
      <dgm:spPr/>
      <dgm:t>
        <a:bodyPr/>
        <a:lstStyle/>
        <a:p>
          <a:endParaRPr lang="en-US"/>
        </a:p>
      </dgm:t>
    </dgm:pt>
    <dgm:pt modelId="{826659FB-7B08-4BD5-95C5-C919A80610C6}" type="pres">
      <dgm:prSet presAssocID="{89C79337-AA6C-4F57-9A8D-670BED908A4E}" presName="linear" presStyleCnt="0">
        <dgm:presLayoutVars>
          <dgm:animLvl val="lvl"/>
          <dgm:resizeHandles val="exact"/>
        </dgm:presLayoutVars>
      </dgm:prSet>
      <dgm:spPr/>
    </dgm:pt>
    <dgm:pt modelId="{373A8596-F3B1-4F1E-ACD9-FB2A59781C6B}" type="pres">
      <dgm:prSet presAssocID="{42F30471-1EF6-4B2C-A682-5B636F8101F4}" presName="parentText" presStyleLbl="node1" presStyleIdx="0" presStyleCnt="3">
        <dgm:presLayoutVars>
          <dgm:chMax val="0"/>
          <dgm:bulletEnabled val="1"/>
        </dgm:presLayoutVars>
      </dgm:prSet>
      <dgm:spPr/>
    </dgm:pt>
    <dgm:pt modelId="{65017104-3E0B-4C8E-A1FA-A7483BD5A2AC}" type="pres">
      <dgm:prSet presAssocID="{BACA19EB-21D8-4323-9597-1C7F4FB7B416}" presName="spacer" presStyleCnt="0"/>
      <dgm:spPr/>
    </dgm:pt>
    <dgm:pt modelId="{630A3DEE-4E73-424B-8416-FB397522800A}" type="pres">
      <dgm:prSet presAssocID="{8B07B54C-F75E-49C5-99BD-FD8706AC58D5}" presName="parentText" presStyleLbl="node1" presStyleIdx="1" presStyleCnt="3">
        <dgm:presLayoutVars>
          <dgm:chMax val="0"/>
          <dgm:bulletEnabled val="1"/>
        </dgm:presLayoutVars>
      </dgm:prSet>
      <dgm:spPr/>
    </dgm:pt>
    <dgm:pt modelId="{0C35100E-9065-45F1-94E9-CBDF4453EE82}" type="pres">
      <dgm:prSet presAssocID="{95A9CEA3-3B34-417E-8EC7-3E9E0363A747}" presName="spacer" presStyleCnt="0"/>
      <dgm:spPr/>
    </dgm:pt>
    <dgm:pt modelId="{FB00FDB3-CA26-4FB2-8418-1AD6CE0402E9}" type="pres">
      <dgm:prSet presAssocID="{A4B9FDD8-72BD-4275-B124-144ABB561C7E}" presName="parentText" presStyleLbl="node1" presStyleIdx="2" presStyleCnt="3">
        <dgm:presLayoutVars>
          <dgm:chMax val="0"/>
          <dgm:bulletEnabled val="1"/>
        </dgm:presLayoutVars>
      </dgm:prSet>
      <dgm:spPr/>
    </dgm:pt>
  </dgm:ptLst>
  <dgm:cxnLst>
    <dgm:cxn modelId="{BC95F95B-72C3-47AB-AFFC-D356B5A16112}" type="presOf" srcId="{A4B9FDD8-72BD-4275-B124-144ABB561C7E}" destId="{FB00FDB3-CA26-4FB2-8418-1AD6CE0402E9}" srcOrd="0" destOrd="0" presId="urn:microsoft.com/office/officeart/2005/8/layout/vList2"/>
    <dgm:cxn modelId="{94FC8946-FC28-43A7-950F-9BCAFF74271B}" srcId="{89C79337-AA6C-4F57-9A8D-670BED908A4E}" destId="{42F30471-1EF6-4B2C-A682-5B636F8101F4}" srcOrd="0" destOrd="0" parTransId="{7BAFDBFD-DB11-48C4-9447-70AD99C75540}" sibTransId="{BACA19EB-21D8-4323-9597-1C7F4FB7B416}"/>
    <dgm:cxn modelId="{D602B68A-D9E7-46B2-A67A-4EBCAF4A1F5B}" type="presOf" srcId="{8B07B54C-F75E-49C5-99BD-FD8706AC58D5}" destId="{630A3DEE-4E73-424B-8416-FB397522800A}" srcOrd="0" destOrd="0" presId="urn:microsoft.com/office/officeart/2005/8/layout/vList2"/>
    <dgm:cxn modelId="{561248BC-0BC9-4492-887C-7824F9D463BF}" type="presOf" srcId="{42F30471-1EF6-4B2C-A682-5B636F8101F4}" destId="{373A8596-F3B1-4F1E-ACD9-FB2A59781C6B}" srcOrd="0" destOrd="0" presId="urn:microsoft.com/office/officeart/2005/8/layout/vList2"/>
    <dgm:cxn modelId="{6027F1C6-1958-4279-BE87-369EFF287493}" type="presOf" srcId="{89C79337-AA6C-4F57-9A8D-670BED908A4E}" destId="{826659FB-7B08-4BD5-95C5-C919A80610C6}" srcOrd="0" destOrd="0" presId="urn:microsoft.com/office/officeart/2005/8/layout/vList2"/>
    <dgm:cxn modelId="{EF2E53C8-E650-4451-911C-D9EEC99D0BD9}" srcId="{89C79337-AA6C-4F57-9A8D-670BED908A4E}" destId="{A4B9FDD8-72BD-4275-B124-144ABB561C7E}" srcOrd="2" destOrd="0" parTransId="{F7671116-6917-458F-AB0B-598AAD9501D3}" sibTransId="{BF1A2502-1183-4184-840B-F23C118D4E3F}"/>
    <dgm:cxn modelId="{FC90B9CD-523E-4F64-9157-25334B0C3617}" srcId="{89C79337-AA6C-4F57-9A8D-670BED908A4E}" destId="{8B07B54C-F75E-49C5-99BD-FD8706AC58D5}" srcOrd="1" destOrd="0" parTransId="{86F97B96-E983-4DA0-8437-5AEBDA2C47C0}" sibTransId="{95A9CEA3-3B34-417E-8EC7-3E9E0363A747}"/>
    <dgm:cxn modelId="{7BCEC0F1-2DCB-408D-ADC6-B26F79688701}" type="presParOf" srcId="{826659FB-7B08-4BD5-95C5-C919A80610C6}" destId="{373A8596-F3B1-4F1E-ACD9-FB2A59781C6B}" srcOrd="0" destOrd="0" presId="urn:microsoft.com/office/officeart/2005/8/layout/vList2"/>
    <dgm:cxn modelId="{ED04CFAD-8014-4B5A-9647-B634ADE911D2}" type="presParOf" srcId="{826659FB-7B08-4BD5-95C5-C919A80610C6}" destId="{65017104-3E0B-4C8E-A1FA-A7483BD5A2AC}" srcOrd="1" destOrd="0" presId="urn:microsoft.com/office/officeart/2005/8/layout/vList2"/>
    <dgm:cxn modelId="{BC62C54C-BC1B-4AA6-9DEF-BA31BA609AD4}" type="presParOf" srcId="{826659FB-7B08-4BD5-95C5-C919A80610C6}" destId="{630A3DEE-4E73-424B-8416-FB397522800A}" srcOrd="2" destOrd="0" presId="urn:microsoft.com/office/officeart/2005/8/layout/vList2"/>
    <dgm:cxn modelId="{9DD3332A-0A24-413A-AD13-02A0DF7E7179}" type="presParOf" srcId="{826659FB-7B08-4BD5-95C5-C919A80610C6}" destId="{0C35100E-9065-45F1-94E9-CBDF4453EE82}" srcOrd="3" destOrd="0" presId="urn:microsoft.com/office/officeart/2005/8/layout/vList2"/>
    <dgm:cxn modelId="{99A302AD-F8AD-466E-9D54-33D3F56778C1}" type="presParOf" srcId="{826659FB-7B08-4BD5-95C5-C919A80610C6}" destId="{FB00FDB3-CA26-4FB2-8418-1AD6CE0402E9}"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360B416-5B21-4BAC-B691-98727C057885}" type="doc">
      <dgm:prSet loTypeId="urn:microsoft.com/office/officeart/2005/8/layout/hierarchy1" loCatId="hierarchy" qsTypeId="urn:microsoft.com/office/officeart/2005/8/quickstyle/simple1" qsCatId="simple" csTypeId="urn:microsoft.com/office/officeart/2005/8/colors/accent6_2" csCatId="accent6" phldr="1"/>
      <dgm:spPr/>
      <dgm:t>
        <a:bodyPr/>
        <a:lstStyle/>
        <a:p>
          <a:endParaRPr lang="en-US"/>
        </a:p>
      </dgm:t>
    </dgm:pt>
    <dgm:pt modelId="{2D994462-CD48-4FB0-BE58-3AD99FB94653}">
      <dgm:prSet/>
      <dgm:spPr/>
      <dgm:t>
        <a:bodyPr/>
        <a:lstStyle/>
        <a:p>
          <a:r>
            <a:rPr lang="zh-TW" dirty="0"/>
            <a:t>回饋性評量</a:t>
          </a:r>
          <a:endParaRPr lang="en-US" altLang="zh-TW" dirty="0"/>
        </a:p>
        <a:p>
          <a:r>
            <a:rPr lang="en-US" dirty="0"/>
            <a:t>(formative )</a:t>
          </a:r>
        </a:p>
        <a:p>
          <a:r>
            <a:rPr lang="zh-TW" dirty="0"/>
            <a:t>訓練中改進</a:t>
          </a:r>
          <a:endParaRPr lang="en-US" altLang="zh-TW" dirty="0"/>
        </a:p>
        <a:p>
          <a:r>
            <a:rPr lang="zh-TW" altLang="en-US" dirty="0"/>
            <a:t>著重回饋</a:t>
          </a:r>
          <a:endParaRPr lang="en-US" dirty="0"/>
        </a:p>
      </dgm:t>
    </dgm:pt>
    <dgm:pt modelId="{2E2F98EE-198D-42F8-A6BF-C76DB15311DD}" type="parTrans" cxnId="{0399FA8B-7997-4D80-97BE-4F5AE8A958B3}">
      <dgm:prSet/>
      <dgm:spPr/>
      <dgm:t>
        <a:bodyPr/>
        <a:lstStyle/>
        <a:p>
          <a:endParaRPr lang="en-US"/>
        </a:p>
      </dgm:t>
    </dgm:pt>
    <dgm:pt modelId="{28E57743-1F1A-4F03-92D4-E098DC69A975}" type="sibTrans" cxnId="{0399FA8B-7997-4D80-97BE-4F5AE8A958B3}">
      <dgm:prSet/>
      <dgm:spPr/>
      <dgm:t>
        <a:bodyPr/>
        <a:lstStyle/>
        <a:p>
          <a:endParaRPr lang="en-US"/>
        </a:p>
      </dgm:t>
    </dgm:pt>
    <dgm:pt modelId="{49150F31-1EB7-4F49-B220-C1D8EFBCBE7C}">
      <dgm:prSet/>
      <dgm:spPr/>
      <dgm:t>
        <a:bodyPr/>
        <a:lstStyle/>
        <a:p>
          <a:r>
            <a:rPr lang="zh-TW" dirty="0"/>
            <a:t>總結性評量</a:t>
          </a:r>
          <a:r>
            <a:rPr lang="en-US" dirty="0"/>
            <a:t>(summative)</a:t>
          </a:r>
        </a:p>
        <a:p>
          <a:r>
            <a:rPr lang="zh-TW" dirty="0"/>
            <a:t>訓練結束</a:t>
          </a:r>
          <a:endParaRPr lang="en-US" altLang="zh-TW" dirty="0"/>
        </a:p>
        <a:p>
          <a:r>
            <a:rPr lang="zh-TW" altLang="en-US" dirty="0"/>
            <a:t>評估訓練結果</a:t>
          </a:r>
          <a:endParaRPr lang="en-US" dirty="0"/>
        </a:p>
      </dgm:t>
    </dgm:pt>
    <dgm:pt modelId="{F1E2756D-2583-4049-B353-AD3117C999CB}" type="parTrans" cxnId="{0ABF87EA-868D-4B47-BD30-E272F6F1B30B}">
      <dgm:prSet/>
      <dgm:spPr/>
      <dgm:t>
        <a:bodyPr/>
        <a:lstStyle/>
        <a:p>
          <a:endParaRPr lang="en-US"/>
        </a:p>
      </dgm:t>
    </dgm:pt>
    <dgm:pt modelId="{3DDB2DA1-E2CB-4974-8F11-244BE4C8E828}" type="sibTrans" cxnId="{0ABF87EA-868D-4B47-BD30-E272F6F1B30B}">
      <dgm:prSet/>
      <dgm:spPr/>
      <dgm:t>
        <a:bodyPr/>
        <a:lstStyle/>
        <a:p>
          <a:endParaRPr lang="en-US"/>
        </a:p>
      </dgm:t>
    </dgm:pt>
    <dgm:pt modelId="{F25251FF-7E57-4BD6-8B70-A1D9899314F3}" type="pres">
      <dgm:prSet presAssocID="{3360B416-5B21-4BAC-B691-98727C057885}" presName="hierChild1" presStyleCnt="0">
        <dgm:presLayoutVars>
          <dgm:chPref val="1"/>
          <dgm:dir/>
          <dgm:animOne val="branch"/>
          <dgm:animLvl val="lvl"/>
          <dgm:resizeHandles/>
        </dgm:presLayoutVars>
      </dgm:prSet>
      <dgm:spPr/>
    </dgm:pt>
    <dgm:pt modelId="{BD45704C-3436-43C1-8A42-A51FBAC19A65}" type="pres">
      <dgm:prSet presAssocID="{2D994462-CD48-4FB0-BE58-3AD99FB94653}" presName="hierRoot1" presStyleCnt="0"/>
      <dgm:spPr/>
    </dgm:pt>
    <dgm:pt modelId="{7909A0F0-5421-4C0E-9AD1-1A41C6F62552}" type="pres">
      <dgm:prSet presAssocID="{2D994462-CD48-4FB0-BE58-3AD99FB94653}" presName="composite" presStyleCnt="0"/>
      <dgm:spPr/>
    </dgm:pt>
    <dgm:pt modelId="{0EC1F0BE-9321-4E5E-9310-0A847B035FE4}" type="pres">
      <dgm:prSet presAssocID="{2D994462-CD48-4FB0-BE58-3AD99FB94653}" presName="background" presStyleLbl="node0" presStyleIdx="0" presStyleCnt="2"/>
      <dgm:spPr/>
    </dgm:pt>
    <dgm:pt modelId="{0EE63F3C-E790-4A77-91EE-D4219441F2C3}" type="pres">
      <dgm:prSet presAssocID="{2D994462-CD48-4FB0-BE58-3AD99FB94653}" presName="text" presStyleLbl="fgAcc0" presStyleIdx="0" presStyleCnt="2">
        <dgm:presLayoutVars>
          <dgm:chPref val="3"/>
        </dgm:presLayoutVars>
      </dgm:prSet>
      <dgm:spPr/>
    </dgm:pt>
    <dgm:pt modelId="{229C6E60-AFFB-46FD-A443-D377DAB232BD}" type="pres">
      <dgm:prSet presAssocID="{2D994462-CD48-4FB0-BE58-3AD99FB94653}" presName="hierChild2" presStyleCnt="0"/>
      <dgm:spPr/>
    </dgm:pt>
    <dgm:pt modelId="{F508AAF6-D051-48B4-983C-E27EF93D2951}" type="pres">
      <dgm:prSet presAssocID="{49150F31-1EB7-4F49-B220-C1D8EFBCBE7C}" presName="hierRoot1" presStyleCnt="0"/>
      <dgm:spPr/>
    </dgm:pt>
    <dgm:pt modelId="{5A0E2B06-BF13-4F90-8D62-371440036EE2}" type="pres">
      <dgm:prSet presAssocID="{49150F31-1EB7-4F49-B220-C1D8EFBCBE7C}" presName="composite" presStyleCnt="0"/>
      <dgm:spPr/>
    </dgm:pt>
    <dgm:pt modelId="{8A8E4896-6D7A-4FFC-B58C-6F70C4E5AE9D}" type="pres">
      <dgm:prSet presAssocID="{49150F31-1EB7-4F49-B220-C1D8EFBCBE7C}" presName="background" presStyleLbl="node0" presStyleIdx="1" presStyleCnt="2"/>
      <dgm:spPr/>
    </dgm:pt>
    <dgm:pt modelId="{9C9EECC8-DEBC-49DA-A861-C66AAB919C65}" type="pres">
      <dgm:prSet presAssocID="{49150F31-1EB7-4F49-B220-C1D8EFBCBE7C}" presName="text" presStyleLbl="fgAcc0" presStyleIdx="1" presStyleCnt="2">
        <dgm:presLayoutVars>
          <dgm:chPref val="3"/>
        </dgm:presLayoutVars>
      </dgm:prSet>
      <dgm:spPr/>
    </dgm:pt>
    <dgm:pt modelId="{6B8787C6-EC2A-4867-B133-9987DB42A0ED}" type="pres">
      <dgm:prSet presAssocID="{49150F31-1EB7-4F49-B220-C1D8EFBCBE7C}" presName="hierChild2" presStyleCnt="0"/>
      <dgm:spPr/>
    </dgm:pt>
  </dgm:ptLst>
  <dgm:cxnLst>
    <dgm:cxn modelId="{21DA1C05-8FB4-4187-9C8C-3259F7D35FFB}" type="presOf" srcId="{3360B416-5B21-4BAC-B691-98727C057885}" destId="{F25251FF-7E57-4BD6-8B70-A1D9899314F3}" srcOrd="0" destOrd="0" presId="urn:microsoft.com/office/officeart/2005/8/layout/hierarchy1"/>
    <dgm:cxn modelId="{214A3C12-53DA-461E-A389-F6C7B4AC1700}" type="presOf" srcId="{49150F31-1EB7-4F49-B220-C1D8EFBCBE7C}" destId="{9C9EECC8-DEBC-49DA-A861-C66AAB919C65}" srcOrd="0" destOrd="0" presId="urn:microsoft.com/office/officeart/2005/8/layout/hierarchy1"/>
    <dgm:cxn modelId="{0399FA8B-7997-4D80-97BE-4F5AE8A958B3}" srcId="{3360B416-5B21-4BAC-B691-98727C057885}" destId="{2D994462-CD48-4FB0-BE58-3AD99FB94653}" srcOrd="0" destOrd="0" parTransId="{2E2F98EE-198D-42F8-A6BF-C76DB15311DD}" sibTransId="{28E57743-1F1A-4F03-92D4-E098DC69A975}"/>
    <dgm:cxn modelId="{4AA914B9-E77D-4FCB-9281-2FEC6085A524}" type="presOf" srcId="{2D994462-CD48-4FB0-BE58-3AD99FB94653}" destId="{0EE63F3C-E790-4A77-91EE-D4219441F2C3}" srcOrd="0" destOrd="0" presId="urn:microsoft.com/office/officeart/2005/8/layout/hierarchy1"/>
    <dgm:cxn modelId="{0ABF87EA-868D-4B47-BD30-E272F6F1B30B}" srcId="{3360B416-5B21-4BAC-B691-98727C057885}" destId="{49150F31-1EB7-4F49-B220-C1D8EFBCBE7C}" srcOrd="1" destOrd="0" parTransId="{F1E2756D-2583-4049-B353-AD3117C999CB}" sibTransId="{3DDB2DA1-E2CB-4974-8F11-244BE4C8E828}"/>
    <dgm:cxn modelId="{BFED1F52-1815-4F60-BB6E-A0E17B527BCF}" type="presParOf" srcId="{F25251FF-7E57-4BD6-8B70-A1D9899314F3}" destId="{BD45704C-3436-43C1-8A42-A51FBAC19A65}" srcOrd="0" destOrd="0" presId="urn:microsoft.com/office/officeart/2005/8/layout/hierarchy1"/>
    <dgm:cxn modelId="{CB1B3B07-CF3A-412B-A752-75B35D6EF7B9}" type="presParOf" srcId="{BD45704C-3436-43C1-8A42-A51FBAC19A65}" destId="{7909A0F0-5421-4C0E-9AD1-1A41C6F62552}" srcOrd="0" destOrd="0" presId="urn:microsoft.com/office/officeart/2005/8/layout/hierarchy1"/>
    <dgm:cxn modelId="{A8170536-AE49-4FCA-8294-62FB9D9F12FA}" type="presParOf" srcId="{7909A0F0-5421-4C0E-9AD1-1A41C6F62552}" destId="{0EC1F0BE-9321-4E5E-9310-0A847B035FE4}" srcOrd="0" destOrd="0" presId="urn:microsoft.com/office/officeart/2005/8/layout/hierarchy1"/>
    <dgm:cxn modelId="{0D7F550E-895E-4CD4-8833-772E293FC3B9}" type="presParOf" srcId="{7909A0F0-5421-4C0E-9AD1-1A41C6F62552}" destId="{0EE63F3C-E790-4A77-91EE-D4219441F2C3}" srcOrd="1" destOrd="0" presId="urn:microsoft.com/office/officeart/2005/8/layout/hierarchy1"/>
    <dgm:cxn modelId="{1E8E7630-F29C-454D-97FC-5AFA74345F94}" type="presParOf" srcId="{BD45704C-3436-43C1-8A42-A51FBAC19A65}" destId="{229C6E60-AFFB-46FD-A443-D377DAB232BD}" srcOrd="1" destOrd="0" presId="urn:microsoft.com/office/officeart/2005/8/layout/hierarchy1"/>
    <dgm:cxn modelId="{481586FB-EFF0-410B-9885-F7A1C0478025}" type="presParOf" srcId="{F25251FF-7E57-4BD6-8B70-A1D9899314F3}" destId="{F508AAF6-D051-48B4-983C-E27EF93D2951}" srcOrd="1" destOrd="0" presId="urn:microsoft.com/office/officeart/2005/8/layout/hierarchy1"/>
    <dgm:cxn modelId="{3669E502-5C8E-4362-B533-85845CA51EA9}" type="presParOf" srcId="{F508AAF6-D051-48B4-983C-E27EF93D2951}" destId="{5A0E2B06-BF13-4F90-8D62-371440036EE2}" srcOrd="0" destOrd="0" presId="urn:microsoft.com/office/officeart/2005/8/layout/hierarchy1"/>
    <dgm:cxn modelId="{5A1DDEC5-06C6-46E1-A700-606EEDBDD96B}" type="presParOf" srcId="{5A0E2B06-BF13-4F90-8D62-371440036EE2}" destId="{8A8E4896-6D7A-4FFC-B58C-6F70C4E5AE9D}" srcOrd="0" destOrd="0" presId="urn:microsoft.com/office/officeart/2005/8/layout/hierarchy1"/>
    <dgm:cxn modelId="{D346269E-3F22-4A46-8967-2971E51D3854}" type="presParOf" srcId="{5A0E2B06-BF13-4F90-8D62-371440036EE2}" destId="{9C9EECC8-DEBC-49DA-A861-C66AAB919C65}" srcOrd="1" destOrd="0" presId="urn:microsoft.com/office/officeart/2005/8/layout/hierarchy1"/>
    <dgm:cxn modelId="{B45CD651-E28F-4FFF-A61D-FE1C459BF882}" type="presParOf" srcId="{F508AAF6-D051-48B4-983C-E27EF93D2951}" destId="{6B8787C6-EC2A-4867-B133-9987DB42A0ED}"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B2931B-CF8A-4955-84A3-26E9947F6EA5}">
      <dsp:nvSpPr>
        <dsp:cNvPr id="0" name=""/>
        <dsp:cNvSpPr/>
      </dsp:nvSpPr>
      <dsp:spPr>
        <a:xfrm>
          <a:off x="0" y="147476"/>
          <a:ext cx="4690291" cy="1079325"/>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0" tIns="171450" rIns="171450" bIns="171450" numCol="1" spcCol="1270" anchor="ctr" anchorCtr="0">
          <a:noAutofit/>
        </a:bodyPr>
        <a:lstStyle/>
        <a:p>
          <a:pPr marL="0" lvl="0" indent="0" algn="l" defTabSz="2000250">
            <a:lnSpc>
              <a:spcPct val="90000"/>
            </a:lnSpc>
            <a:spcBef>
              <a:spcPct val="0"/>
            </a:spcBef>
            <a:spcAft>
              <a:spcPct val="35000"/>
            </a:spcAft>
            <a:buNone/>
          </a:pPr>
          <a:r>
            <a:rPr lang="en-US" sz="4500" kern="1200"/>
            <a:t>Demonstration</a:t>
          </a:r>
        </a:p>
      </dsp:txBody>
      <dsp:txXfrm>
        <a:off x="52688" y="200164"/>
        <a:ext cx="4584915" cy="973949"/>
      </dsp:txXfrm>
    </dsp:sp>
    <dsp:sp modelId="{2DC3A328-3C97-4919-AC3E-94D51DB92908}">
      <dsp:nvSpPr>
        <dsp:cNvPr id="0" name=""/>
        <dsp:cNvSpPr/>
      </dsp:nvSpPr>
      <dsp:spPr>
        <a:xfrm>
          <a:off x="0" y="1356401"/>
          <a:ext cx="4690291" cy="1079325"/>
        </a:xfrm>
        <a:prstGeom prst="roundRect">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0" tIns="171450" rIns="171450" bIns="171450" numCol="1" spcCol="1270" anchor="ctr" anchorCtr="0">
          <a:noAutofit/>
        </a:bodyPr>
        <a:lstStyle/>
        <a:p>
          <a:pPr marL="0" lvl="0" indent="0" algn="l" defTabSz="2000250">
            <a:lnSpc>
              <a:spcPct val="90000"/>
            </a:lnSpc>
            <a:spcBef>
              <a:spcPct val="0"/>
            </a:spcBef>
            <a:spcAft>
              <a:spcPct val="35000"/>
            </a:spcAft>
            <a:buNone/>
          </a:pPr>
          <a:r>
            <a:rPr lang="en-US" sz="4500" kern="1200"/>
            <a:t>Show what I know </a:t>
          </a:r>
        </a:p>
      </dsp:txBody>
      <dsp:txXfrm>
        <a:off x="52688" y="1409089"/>
        <a:ext cx="4584915" cy="973949"/>
      </dsp:txXfrm>
    </dsp:sp>
    <dsp:sp modelId="{65CD94EF-1AB6-45BF-9441-782155EAEE2D}">
      <dsp:nvSpPr>
        <dsp:cNvPr id="0" name=""/>
        <dsp:cNvSpPr/>
      </dsp:nvSpPr>
      <dsp:spPr>
        <a:xfrm>
          <a:off x="0" y="2565326"/>
          <a:ext cx="4690291" cy="1079325"/>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0" tIns="171450" rIns="171450" bIns="171450" numCol="1" spcCol="1270" anchor="ctr" anchorCtr="0">
          <a:noAutofit/>
        </a:bodyPr>
        <a:lstStyle/>
        <a:p>
          <a:pPr marL="0" lvl="0" indent="0" algn="l" defTabSz="2000250">
            <a:lnSpc>
              <a:spcPct val="90000"/>
            </a:lnSpc>
            <a:spcBef>
              <a:spcPct val="0"/>
            </a:spcBef>
            <a:spcAft>
              <a:spcPct val="35000"/>
            </a:spcAft>
            <a:buNone/>
          </a:pPr>
          <a:r>
            <a:rPr lang="en-US" sz="4500" kern="1200"/>
            <a:t>Show what I can</a:t>
          </a:r>
        </a:p>
      </dsp:txBody>
      <dsp:txXfrm>
        <a:off x="52688" y="2618014"/>
        <a:ext cx="4584915" cy="97394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3A8596-F3B1-4F1E-ACD9-FB2A59781C6B}">
      <dsp:nvSpPr>
        <dsp:cNvPr id="0" name=""/>
        <dsp:cNvSpPr/>
      </dsp:nvSpPr>
      <dsp:spPr>
        <a:xfrm>
          <a:off x="0" y="29014"/>
          <a:ext cx="4690291" cy="1158299"/>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0" tIns="171450" rIns="171450" bIns="171450" numCol="1" spcCol="1270" anchor="ctr" anchorCtr="0">
          <a:noAutofit/>
        </a:bodyPr>
        <a:lstStyle/>
        <a:p>
          <a:pPr marL="0" lvl="0" indent="0" algn="l" defTabSz="2000250">
            <a:lnSpc>
              <a:spcPct val="90000"/>
            </a:lnSpc>
            <a:spcBef>
              <a:spcPct val="0"/>
            </a:spcBef>
            <a:spcAft>
              <a:spcPct val="35000"/>
            </a:spcAft>
            <a:buNone/>
          </a:pPr>
          <a:r>
            <a:rPr lang="zh-TW" sz="4500" kern="1200"/>
            <a:t>容許犯錯</a:t>
          </a:r>
          <a:endParaRPr lang="en-US" sz="4500" kern="1200"/>
        </a:p>
      </dsp:txBody>
      <dsp:txXfrm>
        <a:off x="56543" y="85557"/>
        <a:ext cx="4577205" cy="1045213"/>
      </dsp:txXfrm>
    </dsp:sp>
    <dsp:sp modelId="{630A3DEE-4E73-424B-8416-FB397522800A}">
      <dsp:nvSpPr>
        <dsp:cNvPr id="0" name=""/>
        <dsp:cNvSpPr/>
      </dsp:nvSpPr>
      <dsp:spPr>
        <a:xfrm>
          <a:off x="0" y="1316914"/>
          <a:ext cx="4690291" cy="1158299"/>
        </a:xfrm>
        <a:prstGeom prst="roundRect">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0" tIns="171450" rIns="171450" bIns="171450" numCol="1" spcCol="1270" anchor="ctr" anchorCtr="0">
          <a:noAutofit/>
        </a:bodyPr>
        <a:lstStyle/>
        <a:p>
          <a:pPr marL="0" lvl="0" indent="0" algn="l" defTabSz="2000250">
            <a:lnSpc>
              <a:spcPct val="90000"/>
            </a:lnSpc>
            <a:spcBef>
              <a:spcPct val="0"/>
            </a:spcBef>
            <a:spcAft>
              <a:spcPct val="35000"/>
            </a:spcAft>
            <a:buNone/>
          </a:pPr>
          <a:r>
            <a:rPr lang="zh-TW" sz="4500" kern="1200"/>
            <a:t>提供改善方式</a:t>
          </a:r>
          <a:endParaRPr lang="en-US" sz="4500" kern="1200"/>
        </a:p>
      </dsp:txBody>
      <dsp:txXfrm>
        <a:off x="56543" y="1373457"/>
        <a:ext cx="4577205" cy="1045213"/>
      </dsp:txXfrm>
    </dsp:sp>
    <dsp:sp modelId="{FB00FDB3-CA26-4FB2-8418-1AD6CE0402E9}">
      <dsp:nvSpPr>
        <dsp:cNvPr id="0" name=""/>
        <dsp:cNvSpPr/>
      </dsp:nvSpPr>
      <dsp:spPr>
        <a:xfrm>
          <a:off x="0" y="2604814"/>
          <a:ext cx="4690291" cy="1158299"/>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0" tIns="171450" rIns="171450" bIns="171450" numCol="1" spcCol="1270" anchor="ctr" anchorCtr="0">
          <a:noAutofit/>
        </a:bodyPr>
        <a:lstStyle/>
        <a:p>
          <a:pPr marL="0" lvl="0" indent="0" algn="l" defTabSz="2000250">
            <a:lnSpc>
              <a:spcPct val="90000"/>
            </a:lnSpc>
            <a:spcBef>
              <a:spcPct val="0"/>
            </a:spcBef>
            <a:spcAft>
              <a:spcPct val="35000"/>
            </a:spcAft>
            <a:buNone/>
          </a:pPr>
          <a:r>
            <a:rPr lang="zh-TW" sz="4500" kern="1200"/>
            <a:t>達成一致性</a:t>
          </a:r>
          <a:endParaRPr lang="en-US" sz="4500" kern="1200"/>
        </a:p>
      </dsp:txBody>
      <dsp:txXfrm>
        <a:off x="56543" y="2661357"/>
        <a:ext cx="4577205" cy="104521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C1F0BE-9321-4E5E-9310-0A847B035FE4}">
      <dsp:nvSpPr>
        <dsp:cNvPr id="0" name=""/>
        <dsp:cNvSpPr/>
      </dsp:nvSpPr>
      <dsp:spPr>
        <a:xfrm>
          <a:off x="962" y="380965"/>
          <a:ext cx="3379189" cy="2145785"/>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EE63F3C-E790-4A77-91EE-D4219441F2C3}">
      <dsp:nvSpPr>
        <dsp:cNvPr id="0" name=""/>
        <dsp:cNvSpPr/>
      </dsp:nvSpPr>
      <dsp:spPr>
        <a:xfrm>
          <a:off x="376428" y="737657"/>
          <a:ext cx="3379189" cy="2145785"/>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TW" sz="2400" kern="1200" dirty="0"/>
            <a:t>回饋性評量</a:t>
          </a:r>
          <a:endParaRPr lang="en-US" altLang="zh-TW" sz="2400" kern="1200" dirty="0"/>
        </a:p>
        <a:p>
          <a:pPr marL="0" lvl="0" indent="0" algn="ctr" defTabSz="1066800">
            <a:lnSpc>
              <a:spcPct val="90000"/>
            </a:lnSpc>
            <a:spcBef>
              <a:spcPct val="0"/>
            </a:spcBef>
            <a:spcAft>
              <a:spcPct val="35000"/>
            </a:spcAft>
            <a:buNone/>
          </a:pPr>
          <a:r>
            <a:rPr lang="en-US" sz="2400" kern="1200" dirty="0"/>
            <a:t>(formative )</a:t>
          </a:r>
        </a:p>
        <a:p>
          <a:pPr marL="0" lvl="0" indent="0" algn="ctr" defTabSz="1066800">
            <a:lnSpc>
              <a:spcPct val="90000"/>
            </a:lnSpc>
            <a:spcBef>
              <a:spcPct val="0"/>
            </a:spcBef>
            <a:spcAft>
              <a:spcPct val="35000"/>
            </a:spcAft>
            <a:buNone/>
          </a:pPr>
          <a:r>
            <a:rPr lang="zh-TW" sz="2400" kern="1200" dirty="0"/>
            <a:t>訓練中改進</a:t>
          </a:r>
          <a:endParaRPr lang="en-US" altLang="zh-TW" sz="2400" kern="1200" dirty="0"/>
        </a:p>
        <a:p>
          <a:pPr marL="0" lvl="0" indent="0" algn="ctr" defTabSz="1066800">
            <a:lnSpc>
              <a:spcPct val="90000"/>
            </a:lnSpc>
            <a:spcBef>
              <a:spcPct val="0"/>
            </a:spcBef>
            <a:spcAft>
              <a:spcPct val="35000"/>
            </a:spcAft>
            <a:buNone/>
          </a:pPr>
          <a:r>
            <a:rPr lang="zh-TW" altLang="en-US" sz="2400" kern="1200" dirty="0"/>
            <a:t>著重回饋</a:t>
          </a:r>
          <a:endParaRPr lang="en-US" sz="2400" kern="1200" dirty="0"/>
        </a:p>
      </dsp:txBody>
      <dsp:txXfrm>
        <a:off x="439276" y="800505"/>
        <a:ext cx="3253493" cy="2020089"/>
      </dsp:txXfrm>
    </dsp:sp>
    <dsp:sp modelId="{8A8E4896-6D7A-4FFC-B58C-6F70C4E5AE9D}">
      <dsp:nvSpPr>
        <dsp:cNvPr id="0" name=""/>
        <dsp:cNvSpPr/>
      </dsp:nvSpPr>
      <dsp:spPr>
        <a:xfrm>
          <a:off x="4131082" y="380965"/>
          <a:ext cx="3379189" cy="2145785"/>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C9EECC8-DEBC-49DA-A861-C66AAB919C65}">
      <dsp:nvSpPr>
        <dsp:cNvPr id="0" name=""/>
        <dsp:cNvSpPr/>
      </dsp:nvSpPr>
      <dsp:spPr>
        <a:xfrm>
          <a:off x="4506548" y="737657"/>
          <a:ext cx="3379189" cy="2145785"/>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TW" sz="2400" kern="1200" dirty="0"/>
            <a:t>總結性評量</a:t>
          </a:r>
          <a:r>
            <a:rPr lang="en-US" sz="2400" kern="1200" dirty="0"/>
            <a:t>(summative)</a:t>
          </a:r>
        </a:p>
        <a:p>
          <a:pPr marL="0" lvl="0" indent="0" algn="ctr" defTabSz="1066800">
            <a:lnSpc>
              <a:spcPct val="90000"/>
            </a:lnSpc>
            <a:spcBef>
              <a:spcPct val="0"/>
            </a:spcBef>
            <a:spcAft>
              <a:spcPct val="35000"/>
            </a:spcAft>
            <a:buNone/>
          </a:pPr>
          <a:r>
            <a:rPr lang="zh-TW" sz="2400" kern="1200" dirty="0"/>
            <a:t>訓練結束</a:t>
          </a:r>
          <a:endParaRPr lang="en-US" altLang="zh-TW" sz="2400" kern="1200" dirty="0"/>
        </a:p>
        <a:p>
          <a:pPr marL="0" lvl="0" indent="0" algn="ctr" defTabSz="1066800">
            <a:lnSpc>
              <a:spcPct val="90000"/>
            </a:lnSpc>
            <a:spcBef>
              <a:spcPct val="0"/>
            </a:spcBef>
            <a:spcAft>
              <a:spcPct val="35000"/>
            </a:spcAft>
            <a:buNone/>
          </a:pPr>
          <a:r>
            <a:rPr lang="zh-TW" altLang="en-US" sz="2400" kern="1200" dirty="0"/>
            <a:t>評估訓練結果</a:t>
          </a:r>
          <a:endParaRPr lang="en-US" sz="2400" kern="1200" dirty="0"/>
        </a:p>
      </dsp:txBody>
      <dsp:txXfrm>
        <a:off x="4569396" y="800505"/>
        <a:ext cx="3253493" cy="202008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82952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304800" rtl="0" fontAlgn="base">
              <a:buFont typeface="Arial" panose="020B0604020202020204" pitchFamily="34" charset="0"/>
              <a:buChar char="•"/>
            </a:pPr>
            <a:r>
              <a:rPr lang="en-US" altLang="zh-TW" sz="1800" b="0" i="0" u="none" strike="noStrike" dirty="0">
                <a:solidFill>
                  <a:srgbClr val="000000"/>
                </a:solidFill>
                <a:effectLst/>
                <a:latin typeface="Google Sans Text"/>
              </a:rPr>
              <a:t>OSCE</a:t>
            </a:r>
            <a:r>
              <a:rPr lang="zh-TW" altLang="en-US" sz="1800" b="0" i="0" u="none" strike="noStrike" dirty="0">
                <a:solidFill>
                  <a:srgbClr val="000000"/>
                </a:solidFill>
                <a:effectLst/>
                <a:latin typeface="Google Sans Text"/>
              </a:rPr>
              <a:t>旨在評估學員是否「能做」</a:t>
            </a:r>
            <a:r>
              <a:rPr lang="en-US" altLang="zh-TW" sz="1800" b="0" i="0" u="none" strike="noStrike" dirty="0">
                <a:solidFill>
                  <a:srgbClr val="000000"/>
                </a:solidFill>
                <a:effectLst/>
                <a:latin typeface="Google Sans Text"/>
              </a:rPr>
              <a:t>(SHOWS HOW) </a:t>
            </a:r>
            <a:r>
              <a:rPr lang="zh-TW" altLang="en-US" sz="1800" b="0" i="0" u="none" strike="noStrike" dirty="0">
                <a:solidFill>
                  <a:srgbClr val="000000"/>
                </a:solidFill>
                <a:effectLst/>
                <a:latin typeface="Google Sans Text"/>
              </a:rPr>
              <a:t>以及在模擬情境下「實際執行」</a:t>
            </a:r>
            <a:r>
              <a:rPr lang="en-US" altLang="zh-TW" sz="1800" b="0" i="0" u="none" strike="noStrike" dirty="0">
                <a:solidFill>
                  <a:srgbClr val="000000"/>
                </a:solidFill>
                <a:effectLst/>
                <a:latin typeface="Google Sans Text"/>
              </a:rPr>
              <a:t>(DOES)</a:t>
            </a:r>
            <a:r>
              <a:rPr lang="zh-TW" altLang="en-US" sz="1800" b="0" i="0" u="none" strike="noStrike" dirty="0">
                <a:solidFill>
                  <a:srgbClr val="000000"/>
                </a:solidFill>
                <a:effectLst/>
                <a:latin typeface="Google Sans Text"/>
              </a:rPr>
              <a:t>。</a:t>
            </a:r>
            <a:endParaRPr lang="zh-TW" altLang="en-US" sz="1800" b="0" i="0" u="none" strike="noStrike" dirty="0">
              <a:solidFill>
                <a:srgbClr val="000000"/>
              </a:solidFill>
              <a:effectLst/>
              <a:latin typeface="Arial" panose="020B0604020202020204" pitchFamily="34" charset="0"/>
            </a:endParaRPr>
          </a:p>
          <a:p>
            <a:pPr marL="304800" rtl="0" fontAlgn="base">
              <a:buFont typeface="Arial" panose="020B0604020202020204" pitchFamily="34" charset="0"/>
              <a:buChar char="•"/>
            </a:pPr>
            <a:r>
              <a:rPr lang="zh-TW" altLang="en-US" sz="1800" b="0" i="0" u="none" strike="noStrike" dirty="0">
                <a:solidFill>
                  <a:srgbClr val="000000"/>
                </a:solidFill>
                <a:effectLst/>
                <a:latin typeface="Google Sans Text"/>
              </a:rPr>
              <a:t>鼓勵設計「能展現</a:t>
            </a:r>
            <a:r>
              <a:rPr lang="en-US" altLang="zh-TW" sz="1800" b="0" i="0" u="none" strike="noStrike" dirty="0">
                <a:solidFill>
                  <a:srgbClr val="000000"/>
                </a:solidFill>
                <a:effectLst/>
                <a:latin typeface="Google Sans Text"/>
              </a:rPr>
              <a:t>PGY</a:t>
            </a:r>
            <a:r>
              <a:rPr lang="zh-TW" altLang="en-US" sz="1800" b="0" i="0" u="none" strike="noStrike" dirty="0">
                <a:solidFill>
                  <a:srgbClr val="000000"/>
                </a:solidFill>
                <a:effectLst/>
                <a:latin typeface="Google Sans Text"/>
              </a:rPr>
              <a:t>學員臨床決策與專業素養」的考題。</a:t>
            </a:r>
            <a:endParaRPr lang="zh-TW" altLang="en-US" sz="1800" b="0" i="0" u="none" strike="noStrike" dirty="0">
              <a:solidFill>
                <a:srgbClr val="000000"/>
              </a:solidFill>
              <a:effectLst/>
              <a:latin typeface="Arial" panose="020B0604020202020204" pitchFamily="34" charset="0"/>
            </a:endParaRPr>
          </a:p>
          <a:p>
            <a:endParaRPr lang="zh-TW" altLang="en-US" dirty="0"/>
          </a:p>
        </p:txBody>
      </p:sp>
      <p:sp>
        <p:nvSpPr>
          <p:cNvPr id="4" name="投影片編號版面配置區 3"/>
          <p:cNvSpPr>
            <a:spLocks noGrp="1"/>
          </p:cNvSpPr>
          <p:nvPr>
            <p:ph type="sldNum" sz="quarter" idx="5"/>
          </p:nvPr>
        </p:nvSpPr>
        <p:spPr/>
        <p:txBody>
          <a:bodyPr/>
          <a:lstStyle/>
          <a:p>
            <a:fld id="{6C2F298A-01F8-49C8-AD28-73139648031F}" type="slidenum">
              <a:rPr lang="zh-TW" altLang="en-US" smtClean="0"/>
              <a:t>10</a:t>
            </a:fld>
            <a:endParaRPr lang="zh-TW" altLang="en-US"/>
          </a:p>
        </p:txBody>
      </p:sp>
    </p:spTree>
    <p:extLst>
      <p:ext uri="{BB962C8B-B14F-4D97-AF65-F5344CB8AC3E}">
        <p14:creationId xmlns:p14="http://schemas.microsoft.com/office/powerpoint/2010/main" val="23587549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出題者是誰</a:t>
            </a:r>
            <a:r>
              <a:rPr lang="en-US" altLang="zh-TW" dirty="0"/>
              <a:t>? </a:t>
            </a:r>
            <a:r>
              <a:rPr lang="en-US" altLang="zh-TW" dirty="0" err="1"/>
              <a:t>Slido</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6C2F298A-01F8-49C8-AD28-73139648031F}" type="slidenum">
              <a:rPr lang="zh-TW" altLang="en-US" smtClean="0"/>
              <a:t>12</a:t>
            </a:fld>
            <a:endParaRPr lang="zh-TW" altLang="en-US"/>
          </a:p>
        </p:txBody>
      </p:sp>
    </p:spTree>
    <p:extLst>
      <p:ext uri="{BB962C8B-B14F-4D97-AF65-F5344CB8AC3E}">
        <p14:creationId xmlns:p14="http://schemas.microsoft.com/office/powerpoint/2010/main" val="1237858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投影片圖像版面配置區 1">
            <a:extLst>
              <a:ext uri="{FF2B5EF4-FFF2-40B4-BE49-F238E27FC236}">
                <a16:creationId xmlns:a16="http://schemas.microsoft.com/office/drawing/2014/main" id="{3E6A644D-C812-FA26-6A18-6B6413EE44F4}"/>
              </a:ext>
            </a:extLst>
          </p:cNvPr>
          <p:cNvSpPr>
            <a:spLocks noGrp="1" noRot="1" noChangeAspect="1" noChangeArrowheads="1" noTextEdit="1"/>
          </p:cNvSpPr>
          <p:nvPr>
            <p:ph type="sldImg"/>
          </p:nvPr>
        </p:nvSpPr>
        <p:spPr>
          <a:xfrm>
            <a:off x="139700" y="768350"/>
            <a:ext cx="6819900" cy="3836988"/>
          </a:xfrm>
          <a:ln/>
        </p:spPr>
      </p:sp>
      <p:sp>
        <p:nvSpPr>
          <p:cNvPr id="34819" name="備忘稿版面配置區 2">
            <a:extLst>
              <a:ext uri="{FF2B5EF4-FFF2-40B4-BE49-F238E27FC236}">
                <a16:creationId xmlns:a16="http://schemas.microsoft.com/office/drawing/2014/main" id="{B1659AC1-79D9-C180-6120-3F2D7B0E6B30}"/>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TW" altLang="en-US"/>
              <a:t>趙：先決定要測量的主題面向與能力</a:t>
            </a:r>
            <a:endParaRPr lang="en-US" altLang="zh-TW"/>
          </a:p>
          <a:p>
            <a:endParaRPr lang="en-US" altLang="zh-TW"/>
          </a:p>
          <a:p>
            <a:r>
              <a:rPr lang="en-US" altLang="zh-TW"/>
              <a:t>The purpose of PDT is to train raters to recognize appropriate behaviors associated with each dimension targeted for evaluation. The dimension, competency, or skill is described to raters and behavioral examples of the dimension are provided through a written vignette, video, or role-play. PDT aims to improve accuracy by decreasing variability in ratings due to rater errors or biases unrelated to the targeted performance behaviors. An example of PDT for a simulation-based assessment of teamwork might include a short lecture describing teamwork in health care and specific behaviors that constitute teamwork (eg, situation monitoring, giving information). Video examples or vignettes may be used to provide specific examples of “giving information” so that raters learn to associate similar visual behavioral cues with the dimension being evaluate</a:t>
            </a:r>
            <a:endParaRPr lang="zh-TW" altLang="en-US"/>
          </a:p>
        </p:txBody>
      </p:sp>
      <p:sp>
        <p:nvSpPr>
          <p:cNvPr id="34820" name="投影片編號版面配置區 3">
            <a:extLst>
              <a:ext uri="{FF2B5EF4-FFF2-40B4-BE49-F238E27FC236}">
                <a16:creationId xmlns:a16="http://schemas.microsoft.com/office/drawing/2014/main" id="{F3AB604A-2BA7-7637-782E-1107298FE08C}"/>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a:solidFill>
                  <a:schemeClr val="tx1"/>
                </a:solidFill>
                <a:latin typeface="Arial" panose="020B0604020202020204" pitchFamily="34" charset="0"/>
                <a:ea typeface="新細明體" panose="02020500000000000000" pitchFamily="18" charset="-120"/>
              </a:defRPr>
            </a:lvl1pPr>
            <a:lvl2pPr marL="742950" indent="-285750" defTabSz="990600">
              <a:defRPr kumimoji="1">
                <a:solidFill>
                  <a:schemeClr val="tx1"/>
                </a:solidFill>
                <a:latin typeface="Arial" panose="020B0604020202020204" pitchFamily="34" charset="0"/>
                <a:ea typeface="新細明體" panose="02020500000000000000" pitchFamily="18" charset="-120"/>
              </a:defRPr>
            </a:lvl2pPr>
            <a:lvl3pPr marL="1143000" indent="-228600" defTabSz="990600">
              <a:defRPr kumimoji="1">
                <a:solidFill>
                  <a:schemeClr val="tx1"/>
                </a:solidFill>
                <a:latin typeface="Arial" panose="020B0604020202020204" pitchFamily="34" charset="0"/>
                <a:ea typeface="新細明體" panose="02020500000000000000" pitchFamily="18" charset="-120"/>
              </a:defRPr>
            </a:lvl3pPr>
            <a:lvl4pPr marL="1600200" indent="-228600" defTabSz="990600">
              <a:defRPr kumimoji="1">
                <a:solidFill>
                  <a:schemeClr val="tx1"/>
                </a:solidFill>
                <a:latin typeface="Arial" panose="020B0604020202020204" pitchFamily="34" charset="0"/>
                <a:ea typeface="新細明體" panose="02020500000000000000" pitchFamily="18" charset="-120"/>
              </a:defRPr>
            </a:lvl4pPr>
            <a:lvl5pPr marL="2057400" indent="-228600" defTabSz="990600">
              <a:defRPr kumimoji="1">
                <a:solidFill>
                  <a:schemeClr val="tx1"/>
                </a:solidFill>
                <a:latin typeface="Arial" panose="020B0604020202020204" pitchFamily="34" charset="0"/>
                <a:ea typeface="新細明體" panose="02020500000000000000" pitchFamily="18" charset="-120"/>
              </a:defRPr>
            </a:lvl5pPr>
            <a:lvl6pPr marL="2514600" indent="-228600" defTabSz="990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defTabSz="990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defTabSz="990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defTabSz="990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D1181226-6B05-4678-8B60-A9F67379CF5E}" type="slidenum">
              <a:rPr lang="zh-TW" altLang="en-US" smtClean="0">
                <a:latin typeface="Calibri" panose="020F0502020204030204" pitchFamily="34" charset="0"/>
              </a:rPr>
              <a:pPr/>
              <a:t>28</a:t>
            </a:fld>
            <a:endParaRPr lang="en-US" altLang="zh-TW">
              <a:latin typeface="Calibri" panose="020F050202020403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投影片圖像版面配置區 1">
            <a:extLst>
              <a:ext uri="{FF2B5EF4-FFF2-40B4-BE49-F238E27FC236}">
                <a16:creationId xmlns:a16="http://schemas.microsoft.com/office/drawing/2014/main" id="{AF2AD24D-9026-DFF7-C31F-2F093E0434C2}"/>
              </a:ext>
            </a:extLst>
          </p:cNvPr>
          <p:cNvSpPr>
            <a:spLocks noGrp="1" noRot="1" noChangeAspect="1" noChangeArrowheads="1" noTextEdit="1"/>
          </p:cNvSpPr>
          <p:nvPr>
            <p:ph type="sldImg"/>
          </p:nvPr>
        </p:nvSpPr>
        <p:spPr>
          <a:xfrm>
            <a:off x="139700" y="768350"/>
            <a:ext cx="6819900" cy="3836988"/>
          </a:xfrm>
          <a:ln/>
        </p:spPr>
      </p:sp>
      <p:sp>
        <p:nvSpPr>
          <p:cNvPr id="36867" name="備忘稿版面配置區 2">
            <a:extLst>
              <a:ext uri="{FF2B5EF4-FFF2-40B4-BE49-F238E27FC236}">
                <a16:creationId xmlns:a16="http://schemas.microsoft.com/office/drawing/2014/main" id="{CFDC5B12-BD5D-8269-3286-49A66240F932}"/>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TW" altLang="en-US"/>
              <a:t>趙：再把這些能力轉換成可供觀察評分的 </a:t>
            </a:r>
            <a:r>
              <a:rPr lang="en-US" altLang="zh-TW"/>
              <a:t>checklist</a:t>
            </a:r>
          </a:p>
          <a:p>
            <a:endParaRPr lang="en-US" altLang="zh-TW"/>
          </a:p>
          <a:p>
            <a:r>
              <a:rPr lang="zh-TW" altLang="en-US"/>
              <a:t>讓不同的評估者能夠用相同的評分</a:t>
            </a:r>
            <a:r>
              <a:rPr lang="en-US" altLang="zh-TW"/>
              <a:t>check list</a:t>
            </a:r>
            <a:r>
              <a:rPr lang="zh-TW" altLang="en-US"/>
              <a:t>去觀察學生</a:t>
            </a:r>
            <a:endParaRPr lang="en-US" altLang="zh-TW"/>
          </a:p>
          <a:p>
            <a:r>
              <a:rPr lang="en-US" altLang="zh-TW"/>
              <a:t>FOR helps increase accuracy and provides standardization across raters. The objective of FOR is to help raters discriminate variations in the quality of demonstrated skills. An iterative process whereby raters practice rating behaviors, assess reliability, and discuss discrepancies between raters is used to provide practice and feedback to improve rater performance. Again, using teamwork as an example, an FOR approach to preparing raters to assess situation monitoring by team members might ask them to individually assess videotaped examples representing a range of performances from poor (eg, failing to provide critical information to team members) to good (eg, providing critical information urgently) would be developed. Raters would then review the videos as a group and discuss discrepancies between individual raters, often with a facilitator, with the goal of developing a common set of rating rules.</a:t>
            </a:r>
            <a:r>
              <a:rPr lang="zh-TW" altLang="en-US"/>
              <a:t>互了解</a:t>
            </a:r>
          </a:p>
        </p:txBody>
      </p:sp>
      <p:sp>
        <p:nvSpPr>
          <p:cNvPr id="36868" name="投影片編號版面配置區 3">
            <a:extLst>
              <a:ext uri="{FF2B5EF4-FFF2-40B4-BE49-F238E27FC236}">
                <a16:creationId xmlns:a16="http://schemas.microsoft.com/office/drawing/2014/main" id="{FF944108-0B1D-27FD-C607-A87D3D449C2D}"/>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a:solidFill>
                  <a:schemeClr val="tx1"/>
                </a:solidFill>
                <a:latin typeface="Arial" panose="020B0604020202020204" pitchFamily="34" charset="0"/>
                <a:ea typeface="新細明體" panose="02020500000000000000" pitchFamily="18" charset="-120"/>
              </a:defRPr>
            </a:lvl1pPr>
            <a:lvl2pPr marL="742950" indent="-285750" defTabSz="990600">
              <a:defRPr kumimoji="1">
                <a:solidFill>
                  <a:schemeClr val="tx1"/>
                </a:solidFill>
                <a:latin typeface="Arial" panose="020B0604020202020204" pitchFamily="34" charset="0"/>
                <a:ea typeface="新細明體" panose="02020500000000000000" pitchFamily="18" charset="-120"/>
              </a:defRPr>
            </a:lvl2pPr>
            <a:lvl3pPr marL="1143000" indent="-228600" defTabSz="990600">
              <a:defRPr kumimoji="1">
                <a:solidFill>
                  <a:schemeClr val="tx1"/>
                </a:solidFill>
                <a:latin typeface="Arial" panose="020B0604020202020204" pitchFamily="34" charset="0"/>
                <a:ea typeface="新細明體" panose="02020500000000000000" pitchFamily="18" charset="-120"/>
              </a:defRPr>
            </a:lvl3pPr>
            <a:lvl4pPr marL="1600200" indent="-228600" defTabSz="990600">
              <a:defRPr kumimoji="1">
                <a:solidFill>
                  <a:schemeClr val="tx1"/>
                </a:solidFill>
                <a:latin typeface="Arial" panose="020B0604020202020204" pitchFamily="34" charset="0"/>
                <a:ea typeface="新細明體" panose="02020500000000000000" pitchFamily="18" charset="-120"/>
              </a:defRPr>
            </a:lvl4pPr>
            <a:lvl5pPr marL="2057400" indent="-228600" defTabSz="990600">
              <a:defRPr kumimoji="1">
                <a:solidFill>
                  <a:schemeClr val="tx1"/>
                </a:solidFill>
                <a:latin typeface="Arial" panose="020B0604020202020204" pitchFamily="34" charset="0"/>
                <a:ea typeface="新細明體" panose="02020500000000000000" pitchFamily="18" charset="-120"/>
              </a:defRPr>
            </a:lvl5pPr>
            <a:lvl6pPr marL="2514600" indent="-228600" defTabSz="990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defTabSz="990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defTabSz="990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defTabSz="990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183AC98C-DB99-4BB1-8276-F54F4DDCC0CF}" type="slidenum">
              <a:rPr lang="zh-TW" altLang="en-US" smtClean="0">
                <a:latin typeface="Calibri" panose="020F0502020204030204" pitchFamily="34" charset="0"/>
              </a:rPr>
              <a:pPr/>
              <a:t>29</a:t>
            </a:fld>
            <a:endParaRPr lang="en-US" altLang="zh-TW">
              <a:latin typeface="Calibri" panose="020F050202020403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3B71C7A-A7F6-3FD0-EDB9-42895398FD6A}"/>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35EBDD69-E973-476B-F034-AF931F5022ED}"/>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85E572E-EFFB-77C9-ACFA-E95055442ADA}"/>
              </a:ext>
            </a:extLst>
          </p:cNvPr>
          <p:cNvSpPr>
            <a:spLocks noGrp="1"/>
          </p:cNvSpPr>
          <p:nvPr>
            <p:ph type="dt" sz="half" idx="10"/>
          </p:nvPr>
        </p:nvSpPr>
        <p:spPr/>
        <p:txBody>
          <a:bodyPr/>
          <a:lstStyle/>
          <a:p>
            <a:fld id="{E20DA213-B4F7-473F-A6F0-5F40E2A2112F}" type="datetimeFigureOut">
              <a:rPr lang="zh-TW" altLang="en-US" smtClean="0"/>
              <a:t>2026/6/15</a:t>
            </a:fld>
            <a:endParaRPr lang="zh-TW" altLang="en-US"/>
          </a:p>
        </p:txBody>
      </p:sp>
      <p:sp>
        <p:nvSpPr>
          <p:cNvPr id="5" name="頁尾版面配置區 4">
            <a:extLst>
              <a:ext uri="{FF2B5EF4-FFF2-40B4-BE49-F238E27FC236}">
                <a16:creationId xmlns:a16="http://schemas.microsoft.com/office/drawing/2014/main" id="{70AA5596-3379-3894-54D0-742ED170ED2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D8A97CFB-96C0-B535-8A9D-6E86DA2F465D}"/>
              </a:ext>
            </a:extLst>
          </p:cNvPr>
          <p:cNvSpPr>
            <a:spLocks noGrp="1"/>
          </p:cNvSpPr>
          <p:nvPr>
            <p:ph type="sldNum" sz="quarter" idx="12"/>
          </p:nvPr>
        </p:nvSpPr>
        <p:spPr/>
        <p:txBody>
          <a:bodyPr/>
          <a:lstStyle/>
          <a:p>
            <a:fld id="{B77FFA8F-2771-4362-96E3-35140A0AFC81}" type="slidenum">
              <a:rPr lang="zh-TW" altLang="en-US" smtClean="0"/>
              <a:t>‹#›</a:t>
            </a:fld>
            <a:endParaRPr lang="zh-TW" altLang="en-US"/>
          </a:p>
        </p:txBody>
      </p:sp>
    </p:spTree>
    <p:extLst>
      <p:ext uri="{BB962C8B-B14F-4D97-AF65-F5344CB8AC3E}">
        <p14:creationId xmlns:p14="http://schemas.microsoft.com/office/powerpoint/2010/main" val="26817532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3EAD70F-50FC-F54D-1A88-06828D91B77D}"/>
              </a:ext>
            </a:extLst>
          </p:cNvPr>
          <p:cNvSpPr>
            <a:spLocks noGrp="1"/>
          </p:cNvSpPr>
          <p:nvPr>
            <p:ph type="ctrTitle"/>
          </p:nvPr>
        </p:nvSpPr>
        <p:spPr>
          <a:xfrm>
            <a:off x="1143000" y="841772"/>
            <a:ext cx="6858000" cy="1790700"/>
          </a:xfrm>
        </p:spPr>
        <p:txBody>
          <a:bodyPr anchor="b"/>
          <a:lstStyle>
            <a:lvl1pPr algn="ctr">
              <a:defRPr sz="4500"/>
            </a:lvl1pPr>
          </a:lstStyle>
          <a:p>
            <a:r>
              <a:rPr lang="zh-TW" altLang="en-US"/>
              <a:t>按一下以編輯母片標題樣式</a:t>
            </a:r>
          </a:p>
        </p:txBody>
      </p:sp>
      <p:sp>
        <p:nvSpPr>
          <p:cNvPr id="3" name="副標題 2">
            <a:extLst>
              <a:ext uri="{FF2B5EF4-FFF2-40B4-BE49-F238E27FC236}">
                <a16:creationId xmlns:a16="http://schemas.microsoft.com/office/drawing/2014/main" id="{F0FB2366-205D-A5C6-AC72-C3067973108F}"/>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FFC7E80C-5FB5-363E-BA0E-7A642BE9DA3D}"/>
              </a:ext>
            </a:extLst>
          </p:cNvPr>
          <p:cNvSpPr>
            <a:spLocks noGrp="1"/>
          </p:cNvSpPr>
          <p:nvPr>
            <p:ph type="dt" sz="half" idx="10"/>
          </p:nvPr>
        </p:nvSpPr>
        <p:spPr/>
        <p:txBody>
          <a:bodyPr/>
          <a:lstStyle/>
          <a:p>
            <a:fld id="{E20DA213-B4F7-473F-A6F0-5F40E2A2112F}" type="datetimeFigureOut">
              <a:rPr lang="zh-TW" altLang="en-US" smtClean="0"/>
              <a:t>2026/6/15</a:t>
            </a:fld>
            <a:endParaRPr lang="zh-TW" altLang="en-US"/>
          </a:p>
        </p:txBody>
      </p:sp>
      <p:sp>
        <p:nvSpPr>
          <p:cNvPr id="5" name="頁尾版面配置區 4">
            <a:extLst>
              <a:ext uri="{FF2B5EF4-FFF2-40B4-BE49-F238E27FC236}">
                <a16:creationId xmlns:a16="http://schemas.microsoft.com/office/drawing/2014/main" id="{2D583D3A-6CB7-3A7B-D30C-979317295A1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0F5DA55-A472-01CE-6821-F8769A54487D}"/>
              </a:ext>
            </a:extLst>
          </p:cNvPr>
          <p:cNvSpPr>
            <a:spLocks noGrp="1"/>
          </p:cNvSpPr>
          <p:nvPr>
            <p:ph type="sldNum" sz="quarter" idx="12"/>
          </p:nvPr>
        </p:nvSpPr>
        <p:spPr/>
        <p:txBody>
          <a:bodyPr/>
          <a:lstStyle/>
          <a:p>
            <a:fld id="{B77FFA8F-2771-4362-96E3-35140A0AFC81}" type="slidenum">
              <a:rPr lang="zh-TW" altLang="en-US" smtClean="0"/>
              <a:t>‹#›</a:t>
            </a:fld>
            <a:endParaRPr lang="zh-TW" altLang="en-US"/>
          </a:p>
        </p:txBody>
      </p:sp>
    </p:spTree>
    <p:extLst>
      <p:ext uri="{BB962C8B-B14F-4D97-AF65-F5344CB8AC3E}">
        <p14:creationId xmlns:p14="http://schemas.microsoft.com/office/powerpoint/2010/main" val="19784015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2.xml"/><Relationship Id="rId3" Type="http://schemas.openxmlformats.org/officeDocument/2006/relationships/diagramLayout" Target="../diagrams/layout2.xml"/><Relationship Id="rId4" Type="http://schemas.openxmlformats.org/officeDocument/2006/relationships/diagramQuickStyle" Target="../diagrams/quickStyle2.xml"/><Relationship Id="rId5" Type="http://schemas.openxmlformats.org/officeDocument/2006/relationships/diagramColors" Target="../diagrams/colors2.xml"/><Relationship Id="rId6" Type="http://schemas.microsoft.com/office/2007/relationships/diagramDrawing" Target="../diagrams/drawing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3.xml"/><Relationship Id="rId3" Type="http://schemas.openxmlformats.org/officeDocument/2006/relationships/diagramLayout" Target="../diagrams/layout3.xml"/><Relationship Id="rId4" Type="http://schemas.openxmlformats.org/officeDocument/2006/relationships/diagramQuickStyle" Target="../diagrams/quickStyle3.xml"/><Relationship Id="rId5" Type="http://schemas.openxmlformats.org/officeDocument/2006/relationships/diagramColors" Target="../diagrams/colors3.xml"/><Relationship Id="rId6" Type="http://schemas.microsoft.com/office/2007/relationships/diagramDrawing" Target="../diagrams/drawing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4.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4.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79"/>
        </a:solidFill>
        <a:effectLst/>
      </p:bgPr>
    </p:bg>
    <p:spTree>
      <p:nvGrpSpPr>
        <p:cNvPr id="1" name=""/>
        <p:cNvGrpSpPr/>
        <p:nvPr/>
      </p:nvGrpSpPr>
      <p:grpSpPr>
        <a:xfrm>
          <a:off x="0" y="0"/>
          <a:ext cx="0" cy="0"/>
          <a:chOff x="0" y="0"/>
          <a:chExt cx="0" cy="0"/>
        </a:xfrm>
      </p:grpSpPr>
      <p:sp>
        <p:nvSpPr>
          <p:cNvPr id="2" name="Text 0"/>
          <p:cNvSpPr/>
          <p:nvPr/>
        </p:nvSpPr>
        <p:spPr>
          <a:xfrm>
            <a:off x="640080" y="1078992"/>
            <a:ext cx="7863840" cy="320040"/>
          </a:xfrm>
          <a:prstGeom prst="rect">
            <a:avLst/>
          </a:prstGeom>
          <a:noFill/>
          <a:ln/>
        </p:spPr>
        <p:txBody>
          <a:bodyPr wrap="square" lIns="0" tIns="0" rIns="0" bIns="0" rtlCol="0" anchor="ctr"/>
          <a:lstStyle/>
          <a:p>
            <a:pPr marL="0" indent="0">
              <a:buNone/>
            </a:pPr>
            <a:r>
              <a:rPr lang="en-US" sz="1400" dirty="0">
                <a:solidFill>
                  <a:srgbClr val="BDD7EE"/>
                </a:solidFill>
                <a:latin typeface="Microsoft JhengHei" pitchFamily="34" charset="0"/>
                <a:ea typeface="Microsoft JhengHei" pitchFamily="34" charset="-122"/>
                <a:cs typeface="Microsoft JhengHei" pitchFamily="34" charset="-120"/>
              </a:rPr>
              <a:t>台灣醫學教育學會 TAME 格式 × 114 年度試題開發指引</a:t>
            </a:r>
            <a:endParaRPr lang="en-US" sz="1400" dirty="0"/>
          </a:p>
        </p:txBody>
      </p:sp>
      <p:sp>
        <p:nvSpPr>
          <p:cNvPr id="3" name="Text 1"/>
          <p:cNvSpPr/>
          <p:nvPr/>
        </p:nvSpPr>
        <p:spPr>
          <a:xfrm>
            <a:off x="640080" y="1481328"/>
            <a:ext cx="7863840" cy="914400"/>
          </a:xfrm>
          <a:prstGeom prst="rect">
            <a:avLst/>
          </a:prstGeom>
          <a:noFill/>
          <a:ln/>
        </p:spPr>
        <p:txBody>
          <a:bodyPr wrap="square" lIns="0" tIns="0" rIns="0" bIns="0" rtlCol="0" anchor="ctr"/>
          <a:lstStyle/>
          <a:p>
            <a:pPr marL="0" indent="0">
              <a:buNone/>
            </a:pPr>
            <a:r>
              <a:rPr lang="en-US" sz="4800" b="1" dirty="0">
                <a:solidFill>
                  <a:srgbClr val="FFFFFF"/>
                </a:solidFill>
                <a:latin typeface="Microsoft JhengHei" pitchFamily="34" charset="0"/>
                <a:ea typeface="Microsoft JhengHei" pitchFamily="34" charset="-122"/>
                <a:cs typeface="Microsoft JhengHei" pitchFamily="34" charset="-120"/>
              </a:rPr>
              <a:t>OSCE 出題原則</a:t>
            </a:r>
            <a:endParaRPr lang="en-US" sz="4800" dirty="0"/>
          </a:p>
        </p:txBody>
      </p:sp>
      <p:sp>
        <p:nvSpPr>
          <p:cNvPr id="4" name="Text 2"/>
          <p:cNvSpPr/>
          <p:nvPr/>
        </p:nvSpPr>
        <p:spPr>
          <a:xfrm>
            <a:off x="640080" y="2487168"/>
            <a:ext cx="7863840" cy="365760"/>
          </a:xfrm>
          <a:prstGeom prst="rect">
            <a:avLst/>
          </a:prstGeom>
          <a:noFill/>
          <a:ln/>
        </p:spPr>
        <p:txBody>
          <a:bodyPr wrap="square" lIns="0" tIns="0" rIns="0" bIns="0" rtlCol="0" anchor="ctr"/>
          <a:lstStyle/>
          <a:p>
            <a:pPr marL="0" indent="0">
              <a:buNone/>
            </a:pPr>
            <a:r>
              <a:rPr lang="en-US" sz="1700" dirty="0">
                <a:solidFill>
                  <a:srgbClr val="BDD7EE"/>
                </a:solidFill>
                <a:latin typeface="Microsoft JhengHei" pitchFamily="34" charset="0"/>
                <a:ea typeface="Microsoft JhengHei" pitchFamily="34" charset="-122"/>
                <a:cs typeface="Microsoft JhengHei" pitchFamily="34" charset="-120"/>
              </a:rPr>
              <a:t>與出題教師談：怎麼設計一站可信、可評、考得出能力的教案</a:t>
            </a:r>
            <a:endParaRPr lang="en-US" sz="1700" dirty="0"/>
          </a:p>
        </p:txBody>
      </p:sp>
      <p:sp>
        <p:nvSpPr>
          <p:cNvPr id="5" name="Shape 3"/>
          <p:cNvSpPr/>
          <p:nvPr/>
        </p:nvSpPr>
        <p:spPr>
          <a:xfrm>
            <a:off x="658368" y="3822192"/>
            <a:ext cx="2011680" cy="0"/>
          </a:xfrm>
          <a:prstGeom prst="line">
            <a:avLst/>
          </a:prstGeom>
          <a:noFill/>
          <a:ln w="25400">
            <a:solidFill>
              <a:srgbClr val="2E75B6"/>
            </a:solidFill>
            <a:prstDash val="solid"/>
          </a:ln>
        </p:spPr>
        <p:txBody>
          <a:bodyPr/>
          <a:lstStyle/>
          <a:p>
            <a:endParaRPr lang="zh-TW" altLang="en-US"/>
          </a:p>
        </p:txBody>
      </p:sp>
      <p:sp>
        <p:nvSpPr>
          <p:cNvPr id="6" name="Text 4"/>
          <p:cNvSpPr/>
          <p:nvPr/>
        </p:nvSpPr>
        <p:spPr>
          <a:xfrm>
            <a:off x="640080" y="3950208"/>
            <a:ext cx="6858000" cy="777240"/>
          </a:xfrm>
          <a:prstGeom prst="rect">
            <a:avLst/>
          </a:prstGeom>
          <a:noFill/>
          <a:ln/>
        </p:spPr>
        <p:txBody>
          <a:bodyPr wrap="square" lIns="0" tIns="0" rIns="0" bIns="0" rtlCol="0" anchor="ctr"/>
          <a:lstStyle/>
          <a:p>
            <a:pPr marL="0" indent="0">
              <a:buNone/>
            </a:pPr>
            <a:r>
              <a:rPr lang="en-US" sz="1800" b="1" dirty="0">
                <a:solidFill>
                  <a:srgbClr val="FFFFFF"/>
                </a:solidFill>
                <a:latin typeface="Microsoft JhengHei" pitchFamily="34" charset="0"/>
                <a:ea typeface="Microsoft JhengHei" pitchFamily="34" charset="-122"/>
                <a:cs typeface="Microsoft JhengHei" pitchFamily="34" charset="-120"/>
              </a:rPr>
              <a:t>陳義展 醫師</a:t>
            </a:r>
            <a:endParaRPr lang="en-US" sz="1800" dirty="0"/>
          </a:p>
          <a:p>
            <a:pPr marL="0" indent="0">
              <a:buNone/>
            </a:pPr>
            <a:r>
              <a:rPr lang="en-US" sz="1300" dirty="0">
                <a:solidFill>
                  <a:srgbClr val="BDD7EE"/>
                </a:solidFill>
                <a:latin typeface="Microsoft JhengHei" pitchFamily="34" charset="0"/>
                <a:ea typeface="Microsoft JhengHei" pitchFamily="34" charset="-122"/>
                <a:cs typeface="Microsoft JhengHei" pitchFamily="34" charset="-120"/>
              </a:rPr>
              <a:t>長庚醫院 一般外科｜臨床技能中心主任</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641080" y="4828032"/>
            <a:ext cx="365760" cy="274320"/>
          </a:xfrm>
          <a:prstGeom prst="rect">
            <a:avLst/>
          </a:prstGeom>
          <a:noFill/>
          <a:ln/>
        </p:spPr>
        <p:txBody>
          <a:bodyPr wrap="square" lIns="0" tIns="0" rIns="0" bIns="0" rtlCol="0" anchor="ctr"/>
          <a:lstStyle/>
          <a:p>
            <a:pPr marL="0" indent="0" algn="r">
              <a:buNone/>
            </a:pPr>
            <a:r>
              <a:rPr lang="en-US" sz="1000" dirty="0">
                <a:solidFill>
                  <a:srgbClr val="5B6B7F"/>
                </a:solidFill>
                <a:latin typeface="Microsoft JhengHei" pitchFamily="34" charset="0"/>
                <a:ea typeface="Microsoft JhengHei" pitchFamily="34" charset="-122"/>
                <a:cs typeface="Microsoft JhengHei" pitchFamily="34" charset="-120"/>
              </a:rPr>
              <a:t>2</a:t>
            </a:r>
            <a:endParaRPr lang="en-US" sz="1000" dirty="0"/>
          </a:p>
        </p:txBody>
      </p:sp>
      <p:sp>
        <p:nvSpPr>
          <p:cNvPr id="3" name="Text 1"/>
          <p:cNvSpPr/>
          <p:nvPr/>
        </p:nvSpPr>
        <p:spPr>
          <a:xfrm>
            <a:off x="502920" y="201168"/>
            <a:ext cx="8046720" cy="274320"/>
          </a:xfrm>
          <a:prstGeom prst="rect">
            <a:avLst/>
          </a:prstGeom>
          <a:noFill/>
          <a:ln/>
        </p:spPr>
        <p:txBody>
          <a:bodyPr wrap="square" lIns="0" tIns="0" rIns="0" bIns="0" rtlCol="0" anchor="ctr"/>
          <a:lstStyle/>
          <a:p>
            <a:pPr marL="0" indent="0">
              <a:buNone/>
            </a:pPr>
            <a:r>
              <a:rPr lang="en-US" sz="1200" b="1" kern="0" spc="200" dirty="0">
                <a:solidFill>
                  <a:srgbClr val="2E75B6"/>
                </a:solidFill>
                <a:latin typeface="Microsoft JhengHei" pitchFamily="34" charset="0"/>
                <a:ea typeface="Microsoft JhengHei" pitchFamily="34" charset="-122"/>
                <a:cs typeface="Microsoft JhengHei" pitchFamily="34" charset="-120"/>
              </a:rPr>
              <a:t>AGENDA</a:t>
            </a:r>
            <a:endParaRPr lang="en-US" sz="1200" dirty="0"/>
          </a:p>
        </p:txBody>
      </p:sp>
      <p:sp>
        <p:nvSpPr>
          <p:cNvPr id="4" name="Text 2"/>
          <p:cNvSpPr/>
          <p:nvPr/>
        </p:nvSpPr>
        <p:spPr>
          <a:xfrm>
            <a:off x="502920" y="457200"/>
            <a:ext cx="8138160" cy="566928"/>
          </a:xfrm>
          <a:prstGeom prst="rect">
            <a:avLst/>
          </a:prstGeom>
          <a:noFill/>
          <a:ln/>
        </p:spPr>
        <p:txBody>
          <a:bodyPr wrap="square" lIns="0" tIns="0" rIns="0" bIns="0" rtlCol="0" anchor="ctr"/>
          <a:lstStyle/>
          <a:p>
            <a:pPr marL="0" indent="0">
              <a:buNone/>
            </a:pPr>
            <a:r>
              <a:rPr lang="en-US" sz="2700" b="1" dirty="0">
                <a:solidFill>
                  <a:srgbClr val="1F4E79"/>
                </a:solidFill>
                <a:latin typeface="Microsoft JhengHei" pitchFamily="34" charset="0"/>
                <a:ea typeface="Microsoft JhengHei" pitchFamily="34" charset="-122"/>
                <a:cs typeface="Microsoft JhengHei" pitchFamily="34" charset="-120"/>
              </a:rPr>
              <a:t>今天談五件事</a:t>
            </a:r>
            <a:endParaRPr lang="en-US" sz="2700" dirty="0"/>
          </a:p>
        </p:txBody>
      </p:sp>
      <p:sp>
        <p:nvSpPr>
          <p:cNvPr id="5" name="Shape 3"/>
          <p:cNvSpPr/>
          <p:nvPr/>
        </p:nvSpPr>
        <p:spPr>
          <a:xfrm>
            <a:off x="502920" y="1115568"/>
            <a:ext cx="8138160" cy="640080"/>
          </a:xfrm>
          <a:prstGeom prst="rect">
            <a:avLst/>
          </a:prstGeom>
          <a:solidFill>
            <a:srgbClr val="DEEBF7"/>
          </a:solidFill>
          <a:ln/>
        </p:spPr>
        <p:txBody>
          <a:bodyPr/>
          <a:lstStyle/>
          <a:p>
            <a:endParaRPr lang="zh-TW" altLang="en-US"/>
          </a:p>
        </p:txBody>
      </p:sp>
      <p:sp>
        <p:nvSpPr>
          <p:cNvPr id="6" name="Shape 4"/>
          <p:cNvSpPr/>
          <p:nvPr/>
        </p:nvSpPr>
        <p:spPr>
          <a:xfrm>
            <a:off x="502920" y="1115568"/>
            <a:ext cx="64008" cy="640080"/>
          </a:xfrm>
          <a:prstGeom prst="rect">
            <a:avLst/>
          </a:prstGeom>
          <a:solidFill>
            <a:srgbClr val="2E75B6"/>
          </a:solidFill>
          <a:ln/>
        </p:spPr>
        <p:txBody>
          <a:bodyPr/>
          <a:lstStyle/>
          <a:p>
            <a:endParaRPr lang="zh-TW" altLang="en-US"/>
          </a:p>
        </p:txBody>
      </p:sp>
      <p:sp>
        <p:nvSpPr>
          <p:cNvPr id="7" name="Shape 5"/>
          <p:cNvSpPr/>
          <p:nvPr/>
        </p:nvSpPr>
        <p:spPr>
          <a:xfrm>
            <a:off x="713232" y="1234440"/>
            <a:ext cx="402336" cy="402336"/>
          </a:xfrm>
          <a:prstGeom prst="ellipse">
            <a:avLst/>
          </a:prstGeom>
          <a:solidFill>
            <a:srgbClr val="1F4E79"/>
          </a:solidFill>
          <a:ln/>
        </p:spPr>
        <p:txBody>
          <a:bodyPr/>
          <a:lstStyle/>
          <a:p>
            <a:endParaRPr lang="zh-TW" altLang="en-US"/>
          </a:p>
        </p:txBody>
      </p:sp>
      <p:sp>
        <p:nvSpPr>
          <p:cNvPr id="8" name="Text 6"/>
          <p:cNvSpPr/>
          <p:nvPr/>
        </p:nvSpPr>
        <p:spPr>
          <a:xfrm>
            <a:off x="713232" y="1223467"/>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Microsoft JhengHei" pitchFamily="34" charset="0"/>
                <a:ea typeface="Microsoft JhengHei" pitchFamily="34" charset="-122"/>
                <a:cs typeface="Microsoft JhengHei" pitchFamily="34" charset="-120"/>
              </a:rPr>
              <a:t>1</a:t>
            </a:r>
            <a:endParaRPr lang="en-US" sz="1600" dirty="0"/>
          </a:p>
        </p:txBody>
      </p:sp>
      <p:sp>
        <p:nvSpPr>
          <p:cNvPr id="9" name="Text 7"/>
          <p:cNvSpPr/>
          <p:nvPr/>
        </p:nvSpPr>
        <p:spPr>
          <a:xfrm>
            <a:off x="1280160" y="1115568"/>
            <a:ext cx="7223760" cy="640080"/>
          </a:xfrm>
          <a:prstGeom prst="rect">
            <a:avLst/>
          </a:prstGeom>
          <a:noFill/>
          <a:ln/>
        </p:spPr>
        <p:txBody>
          <a:bodyPr wrap="square" lIns="0" tIns="0" rIns="0" bIns="0" rtlCol="0" anchor="ctr"/>
          <a:lstStyle/>
          <a:p>
            <a:pPr marL="0" indent="0">
              <a:buNone/>
            </a:pPr>
            <a:r>
              <a:rPr lang="en-US" sz="1600" b="1" dirty="0">
                <a:solidFill>
                  <a:srgbClr val="1F4E79"/>
                </a:solidFill>
                <a:latin typeface="Microsoft JhengHei" pitchFamily="34" charset="0"/>
                <a:ea typeface="Microsoft JhengHei" pitchFamily="34" charset="-122"/>
                <a:cs typeface="Microsoft JhengHei" pitchFamily="34" charset="-120"/>
              </a:rPr>
              <a:t>出題前的準備　</a:t>
            </a:r>
            <a:r>
              <a:rPr lang="en-US" sz="1300" dirty="0">
                <a:solidFill>
                  <a:srgbClr val="5B6B7F"/>
                </a:solidFill>
                <a:latin typeface="Microsoft JhengHei" pitchFamily="34" charset="0"/>
                <a:ea typeface="Microsoft JhengHei" pitchFamily="34" charset="-122"/>
                <a:cs typeface="Microsoft JhengHei" pitchFamily="34" charset="-120"/>
              </a:rPr>
              <a:t>三個問題、測驗藍圖、八個參數</a:t>
            </a:r>
            <a:endParaRPr lang="en-US" sz="1600" dirty="0"/>
          </a:p>
        </p:txBody>
      </p:sp>
      <p:sp>
        <p:nvSpPr>
          <p:cNvPr id="10" name="Shape 8"/>
          <p:cNvSpPr/>
          <p:nvPr/>
        </p:nvSpPr>
        <p:spPr>
          <a:xfrm>
            <a:off x="502920" y="1865376"/>
            <a:ext cx="8138160" cy="640080"/>
          </a:xfrm>
          <a:prstGeom prst="rect">
            <a:avLst/>
          </a:prstGeom>
          <a:solidFill>
            <a:srgbClr val="DEEBF7"/>
          </a:solidFill>
          <a:ln/>
        </p:spPr>
        <p:txBody>
          <a:bodyPr/>
          <a:lstStyle/>
          <a:p>
            <a:endParaRPr lang="zh-TW" altLang="en-US"/>
          </a:p>
        </p:txBody>
      </p:sp>
      <p:sp>
        <p:nvSpPr>
          <p:cNvPr id="11" name="Shape 9"/>
          <p:cNvSpPr/>
          <p:nvPr/>
        </p:nvSpPr>
        <p:spPr>
          <a:xfrm>
            <a:off x="502920" y="1865376"/>
            <a:ext cx="64008" cy="640080"/>
          </a:xfrm>
          <a:prstGeom prst="rect">
            <a:avLst/>
          </a:prstGeom>
          <a:solidFill>
            <a:srgbClr val="2E75B6"/>
          </a:solidFill>
          <a:ln/>
        </p:spPr>
        <p:txBody>
          <a:bodyPr/>
          <a:lstStyle/>
          <a:p>
            <a:endParaRPr lang="zh-TW" altLang="en-US"/>
          </a:p>
        </p:txBody>
      </p:sp>
      <p:sp>
        <p:nvSpPr>
          <p:cNvPr id="12" name="Shape 10"/>
          <p:cNvSpPr/>
          <p:nvPr/>
        </p:nvSpPr>
        <p:spPr>
          <a:xfrm>
            <a:off x="713232" y="1984248"/>
            <a:ext cx="402336" cy="402336"/>
          </a:xfrm>
          <a:prstGeom prst="ellipse">
            <a:avLst/>
          </a:prstGeom>
          <a:solidFill>
            <a:srgbClr val="1F4E79"/>
          </a:solidFill>
          <a:ln/>
        </p:spPr>
        <p:txBody>
          <a:bodyPr/>
          <a:lstStyle/>
          <a:p>
            <a:endParaRPr lang="zh-TW" altLang="en-US"/>
          </a:p>
        </p:txBody>
      </p:sp>
      <p:sp>
        <p:nvSpPr>
          <p:cNvPr id="13" name="Text 11"/>
          <p:cNvSpPr/>
          <p:nvPr/>
        </p:nvSpPr>
        <p:spPr>
          <a:xfrm>
            <a:off x="713232" y="1973275"/>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Microsoft JhengHei" pitchFamily="34" charset="0"/>
                <a:ea typeface="Microsoft JhengHei" pitchFamily="34" charset="-122"/>
                <a:cs typeface="Microsoft JhengHei" pitchFamily="34" charset="-120"/>
              </a:rPr>
              <a:t>2</a:t>
            </a:r>
            <a:endParaRPr lang="en-US" sz="1600" dirty="0"/>
          </a:p>
        </p:txBody>
      </p:sp>
      <p:sp>
        <p:nvSpPr>
          <p:cNvPr id="14" name="Text 12"/>
          <p:cNvSpPr/>
          <p:nvPr/>
        </p:nvSpPr>
        <p:spPr>
          <a:xfrm>
            <a:off x="1280160" y="1865376"/>
            <a:ext cx="7223760" cy="640080"/>
          </a:xfrm>
          <a:prstGeom prst="rect">
            <a:avLst/>
          </a:prstGeom>
          <a:noFill/>
          <a:ln/>
        </p:spPr>
        <p:txBody>
          <a:bodyPr wrap="square" lIns="0" tIns="0" rIns="0" bIns="0" rtlCol="0" anchor="ctr"/>
          <a:lstStyle/>
          <a:p>
            <a:pPr marL="0" indent="0">
              <a:buNone/>
            </a:pPr>
            <a:r>
              <a:rPr lang="en-US" sz="1600" b="1" dirty="0">
                <a:solidFill>
                  <a:srgbClr val="1F4E79"/>
                </a:solidFill>
                <a:latin typeface="Microsoft JhengHei" pitchFamily="34" charset="0"/>
                <a:ea typeface="Microsoft JhengHei" pitchFamily="34" charset="-122"/>
                <a:cs typeface="Microsoft JhengHei" pitchFamily="34" charset="-120"/>
              </a:rPr>
              <a:t>教案五大部分　</a:t>
            </a:r>
            <a:r>
              <a:rPr lang="en-US" sz="1300" dirty="0">
                <a:solidFill>
                  <a:srgbClr val="5B6B7F"/>
                </a:solidFill>
                <a:latin typeface="Microsoft JhengHei" pitchFamily="34" charset="0"/>
                <a:ea typeface="Microsoft JhengHei" pitchFamily="34" charset="-122"/>
                <a:cs typeface="Microsoft JhengHei" pitchFamily="34" charset="-120"/>
              </a:rPr>
              <a:t>告示牌→考生指引→評分表→考官指引→SP 指引</a:t>
            </a:r>
            <a:endParaRPr lang="en-US" sz="1600" dirty="0"/>
          </a:p>
        </p:txBody>
      </p:sp>
      <p:sp>
        <p:nvSpPr>
          <p:cNvPr id="15" name="Shape 13"/>
          <p:cNvSpPr/>
          <p:nvPr/>
        </p:nvSpPr>
        <p:spPr>
          <a:xfrm>
            <a:off x="502920" y="2615184"/>
            <a:ext cx="8138160" cy="640080"/>
          </a:xfrm>
          <a:prstGeom prst="rect">
            <a:avLst/>
          </a:prstGeom>
          <a:solidFill>
            <a:srgbClr val="DEEBF7"/>
          </a:solidFill>
          <a:ln/>
        </p:spPr>
        <p:txBody>
          <a:bodyPr/>
          <a:lstStyle/>
          <a:p>
            <a:endParaRPr lang="zh-TW" altLang="en-US"/>
          </a:p>
        </p:txBody>
      </p:sp>
      <p:sp>
        <p:nvSpPr>
          <p:cNvPr id="16" name="Shape 14"/>
          <p:cNvSpPr/>
          <p:nvPr/>
        </p:nvSpPr>
        <p:spPr>
          <a:xfrm>
            <a:off x="502920" y="2615184"/>
            <a:ext cx="64008" cy="640080"/>
          </a:xfrm>
          <a:prstGeom prst="rect">
            <a:avLst/>
          </a:prstGeom>
          <a:solidFill>
            <a:srgbClr val="2E75B6"/>
          </a:solidFill>
          <a:ln/>
        </p:spPr>
        <p:txBody>
          <a:bodyPr/>
          <a:lstStyle/>
          <a:p>
            <a:endParaRPr lang="zh-TW" altLang="en-US"/>
          </a:p>
        </p:txBody>
      </p:sp>
      <p:sp>
        <p:nvSpPr>
          <p:cNvPr id="17" name="Shape 15"/>
          <p:cNvSpPr/>
          <p:nvPr/>
        </p:nvSpPr>
        <p:spPr>
          <a:xfrm>
            <a:off x="713232" y="2734056"/>
            <a:ext cx="402336" cy="402336"/>
          </a:xfrm>
          <a:prstGeom prst="ellipse">
            <a:avLst/>
          </a:prstGeom>
          <a:solidFill>
            <a:srgbClr val="1F4E79"/>
          </a:solidFill>
          <a:ln/>
        </p:spPr>
        <p:txBody>
          <a:bodyPr/>
          <a:lstStyle/>
          <a:p>
            <a:endParaRPr lang="zh-TW" altLang="en-US"/>
          </a:p>
        </p:txBody>
      </p:sp>
      <p:sp>
        <p:nvSpPr>
          <p:cNvPr id="18" name="Text 16"/>
          <p:cNvSpPr/>
          <p:nvPr/>
        </p:nvSpPr>
        <p:spPr>
          <a:xfrm>
            <a:off x="713232" y="2723083"/>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Microsoft JhengHei" pitchFamily="34" charset="0"/>
                <a:ea typeface="Microsoft JhengHei" pitchFamily="34" charset="-122"/>
                <a:cs typeface="Microsoft JhengHei" pitchFamily="34" charset="-120"/>
              </a:rPr>
              <a:t>3</a:t>
            </a:r>
            <a:endParaRPr lang="en-US" sz="1600" dirty="0"/>
          </a:p>
        </p:txBody>
      </p:sp>
      <p:sp>
        <p:nvSpPr>
          <p:cNvPr id="19" name="Text 17"/>
          <p:cNvSpPr/>
          <p:nvPr/>
        </p:nvSpPr>
        <p:spPr>
          <a:xfrm>
            <a:off x="1280160" y="2615184"/>
            <a:ext cx="7223760" cy="640080"/>
          </a:xfrm>
          <a:prstGeom prst="rect">
            <a:avLst/>
          </a:prstGeom>
          <a:noFill/>
          <a:ln/>
        </p:spPr>
        <p:txBody>
          <a:bodyPr wrap="square" lIns="0" tIns="0" rIns="0" bIns="0" rtlCol="0" anchor="ctr"/>
          <a:lstStyle/>
          <a:p>
            <a:pPr marL="0" indent="0">
              <a:buNone/>
            </a:pPr>
            <a:r>
              <a:rPr lang="en-US" sz="1600" b="1" dirty="0">
                <a:solidFill>
                  <a:srgbClr val="1F4E79"/>
                </a:solidFill>
                <a:latin typeface="Microsoft JhengHei" pitchFamily="34" charset="0"/>
                <a:ea typeface="Microsoft JhengHei" pitchFamily="34" charset="-122"/>
                <a:cs typeface="Microsoft JhengHei" pitchFamily="34" charset="-120"/>
              </a:rPr>
              <a:t>評分表設計　</a:t>
            </a:r>
            <a:r>
              <a:rPr lang="en-US" sz="1300" dirty="0">
                <a:solidFill>
                  <a:srgbClr val="5B6B7F"/>
                </a:solidFill>
                <a:latin typeface="Microsoft JhengHei" pitchFamily="34" charset="0"/>
                <a:ea typeface="Microsoft JhengHei" pitchFamily="34" charset="-122"/>
                <a:cs typeface="Microsoft JhengHei" pitchFamily="34" charset="-120"/>
              </a:rPr>
              <a:t>15 項規則、常見錯誤、操作型定義</a:t>
            </a:r>
            <a:endParaRPr lang="en-US" sz="1600" dirty="0"/>
          </a:p>
        </p:txBody>
      </p:sp>
      <p:sp>
        <p:nvSpPr>
          <p:cNvPr id="20" name="Shape 18"/>
          <p:cNvSpPr/>
          <p:nvPr/>
        </p:nvSpPr>
        <p:spPr>
          <a:xfrm>
            <a:off x="502920" y="3364992"/>
            <a:ext cx="8138160" cy="640080"/>
          </a:xfrm>
          <a:prstGeom prst="rect">
            <a:avLst/>
          </a:prstGeom>
          <a:solidFill>
            <a:srgbClr val="DEEBF7"/>
          </a:solidFill>
          <a:ln/>
        </p:spPr>
        <p:txBody>
          <a:bodyPr/>
          <a:lstStyle/>
          <a:p>
            <a:endParaRPr lang="zh-TW" altLang="en-US"/>
          </a:p>
        </p:txBody>
      </p:sp>
      <p:sp>
        <p:nvSpPr>
          <p:cNvPr id="21" name="Shape 19"/>
          <p:cNvSpPr/>
          <p:nvPr/>
        </p:nvSpPr>
        <p:spPr>
          <a:xfrm>
            <a:off x="502920" y="3364992"/>
            <a:ext cx="64008" cy="640080"/>
          </a:xfrm>
          <a:prstGeom prst="rect">
            <a:avLst/>
          </a:prstGeom>
          <a:solidFill>
            <a:srgbClr val="2E75B6"/>
          </a:solidFill>
          <a:ln/>
        </p:spPr>
        <p:txBody>
          <a:bodyPr/>
          <a:lstStyle/>
          <a:p>
            <a:endParaRPr lang="zh-TW" altLang="en-US"/>
          </a:p>
        </p:txBody>
      </p:sp>
      <p:sp>
        <p:nvSpPr>
          <p:cNvPr id="22" name="Shape 20"/>
          <p:cNvSpPr/>
          <p:nvPr/>
        </p:nvSpPr>
        <p:spPr>
          <a:xfrm>
            <a:off x="713232" y="3483864"/>
            <a:ext cx="402336" cy="402336"/>
          </a:xfrm>
          <a:prstGeom prst="ellipse">
            <a:avLst/>
          </a:prstGeom>
          <a:solidFill>
            <a:srgbClr val="1F4E79"/>
          </a:solidFill>
          <a:ln/>
        </p:spPr>
        <p:txBody>
          <a:bodyPr/>
          <a:lstStyle/>
          <a:p>
            <a:endParaRPr lang="zh-TW" altLang="en-US"/>
          </a:p>
        </p:txBody>
      </p:sp>
      <p:sp>
        <p:nvSpPr>
          <p:cNvPr id="23" name="Text 21"/>
          <p:cNvSpPr/>
          <p:nvPr/>
        </p:nvSpPr>
        <p:spPr>
          <a:xfrm>
            <a:off x="713232" y="3472891"/>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Microsoft JhengHei" pitchFamily="34" charset="0"/>
                <a:ea typeface="Microsoft JhengHei" pitchFamily="34" charset="-122"/>
                <a:cs typeface="Microsoft JhengHei" pitchFamily="34" charset="-120"/>
              </a:rPr>
              <a:t>4</a:t>
            </a:r>
            <a:endParaRPr lang="en-US" sz="1600" dirty="0"/>
          </a:p>
        </p:txBody>
      </p:sp>
      <p:sp>
        <p:nvSpPr>
          <p:cNvPr id="24" name="Text 22"/>
          <p:cNvSpPr/>
          <p:nvPr/>
        </p:nvSpPr>
        <p:spPr>
          <a:xfrm>
            <a:off x="1280160" y="3364992"/>
            <a:ext cx="7223760" cy="640080"/>
          </a:xfrm>
          <a:prstGeom prst="rect">
            <a:avLst/>
          </a:prstGeom>
          <a:noFill/>
          <a:ln/>
        </p:spPr>
        <p:txBody>
          <a:bodyPr wrap="square" lIns="0" tIns="0" rIns="0" bIns="0" rtlCol="0" anchor="ctr"/>
          <a:lstStyle/>
          <a:p>
            <a:pPr marL="0" indent="0">
              <a:buNone/>
            </a:pPr>
            <a:r>
              <a:rPr lang="en-US" sz="1600" b="1" dirty="0">
                <a:solidFill>
                  <a:srgbClr val="1F4E79"/>
                </a:solidFill>
                <a:latin typeface="Microsoft JhengHei" pitchFamily="34" charset="0"/>
                <a:ea typeface="Microsoft JhengHei" pitchFamily="34" charset="-122"/>
                <a:cs typeface="Microsoft JhengHei" pitchFamily="34" charset="-120"/>
              </a:rPr>
              <a:t>站型專屬原則　</a:t>
            </a:r>
            <a:r>
              <a:rPr lang="en-US" sz="1300" dirty="0">
                <a:solidFill>
                  <a:srgbClr val="5B6B7F"/>
                </a:solidFill>
                <a:latin typeface="Microsoft JhengHei" pitchFamily="34" charset="0"/>
                <a:ea typeface="Microsoft JhengHei" pitchFamily="34" charset="-122"/>
                <a:cs typeface="Microsoft JhengHei" pitchFamily="34" charset="-120"/>
              </a:rPr>
              <a:t>病史、身體檢查、溝通衛教、病情解釋</a:t>
            </a:r>
            <a:endParaRPr lang="en-US" sz="1600" dirty="0"/>
          </a:p>
        </p:txBody>
      </p:sp>
      <p:sp>
        <p:nvSpPr>
          <p:cNvPr id="25" name="Shape 23"/>
          <p:cNvSpPr/>
          <p:nvPr/>
        </p:nvSpPr>
        <p:spPr>
          <a:xfrm>
            <a:off x="502920" y="4114800"/>
            <a:ext cx="8138160" cy="640080"/>
          </a:xfrm>
          <a:prstGeom prst="rect">
            <a:avLst/>
          </a:prstGeom>
          <a:solidFill>
            <a:srgbClr val="DEEBF7"/>
          </a:solidFill>
          <a:ln/>
        </p:spPr>
        <p:txBody>
          <a:bodyPr/>
          <a:lstStyle/>
          <a:p>
            <a:endParaRPr lang="zh-TW" altLang="en-US"/>
          </a:p>
        </p:txBody>
      </p:sp>
      <p:sp>
        <p:nvSpPr>
          <p:cNvPr id="26" name="Shape 24"/>
          <p:cNvSpPr/>
          <p:nvPr/>
        </p:nvSpPr>
        <p:spPr>
          <a:xfrm>
            <a:off x="502920" y="4114800"/>
            <a:ext cx="64008" cy="640080"/>
          </a:xfrm>
          <a:prstGeom prst="rect">
            <a:avLst/>
          </a:prstGeom>
          <a:solidFill>
            <a:srgbClr val="2E75B6"/>
          </a:solidFill>
          <a:ln/>
        </p:spPr>
        <p:txBody>
          <a:bodyPr/>
          <a:lstStyle/>
          <a:p>
            <a:endParaRPr lang="zh-TW" altLang="en-US"/>
          </a:p>
        </p:txBody>
      </p:sp>
      <p:sp>
        <p:nvSpPr>
          <p:cNvPr id="27" name="Shape 25"/>
          <p:cNvSpPr/>
          <p:nvPr/>
        </p:nvSpPr>
        <p:spPr>
          <a:xfrm>
            <a:off x="713232" y="4233672"/>
            <a:ext cx="402336" cy="402336"/>
          </a:xfrm>
          <a:prstGeom prst="ellipse">
            <a:avLst/>
          </a:prstGeom>
          <a:solidFill>
            <a:srgbClr val="1F4E79"/>
          </a:solidFill>
          <a:ln/>
        </p:spPr>
        <p:txBody>
          <a:bodyPr/>
          <a:lstStyle/>
          <a:p>
            <a:endParaRPr lang="zh-TW" altLang="en-US"/>
          </a:p>
        </p:txBody>
      </p:sp>
      <p:sp>
        <p:nvSpPr>
          <p:cNvPr id="28" name="Text 26"/>
          <p:cNvSpPr/>
          <p:nvPr/>
        </p:nvSpPr>
        <p:spPr>
          <a:xfrm>
            <a:off x="713232" y="4222699"/>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Microsoft JhengHei" pitchFamily="34" charset="0"/>
                <a:ea typeface="Microsoft JhengHei" pitchFamily="34" charset="-122"/>
                <a:cs typeface="Microsoft JhengHei" pitchFamily="34" charset="-120"/>
              </a:rPr>
              <a:t>5</a:t>
            </a:r>
            <a:endParaRPr lang="en-US" sz="1600" dirty="0"/>
          </a:p>
        </p:txBody>
      </p:sp>
      <p:sp>
        <p:nvSpPr>
          <p:cNvPr id="29" name="Text 27"/>
          <p:cNvSpPr/>
          <p:nvPr/>
        </p:nvSpPr>
        <p:spPr>
          <a:xfrm>
            <a:off x="1280160" y="4114800"/>
            <a:ext cx="7223760" cy="640080"/>
          </a:xfrm>
          <a:prstGeom prst="rect">
            <a:avLst/>
          </a:prstGeom>
          <a:noFill/>
          <a:ln/>
        </p:spPr>
        <p:txBody>
          <a:bodyPr wrap="square" lIns="0" tIns="0" rIns="0" bIns="0" rtlCol="0" anchor="ctr"/>
          <a:lstStyle/>
          <a:p>
            <a:pPr marL="0" indent="0">
              <a:buNone/>
            </a:pPr>
            <a:r>
              <a:rPr lang="en-US" sz="1600" b="1" dirty="0">
                <a:solidFill>
                  <a:srgbClr val="1F4E79"/>
                </a:solidFill>
                <a:latin typeface="Microsoft JhengHei" pitchFamily="34" charset="0"/>
                <a:ea typeface="Microsoft JhengHei" pitchFamily="34" charset="-122"/>
                <a:cs typeface="Microsoft JhengHei" pitchFamily="34" charset="-120"/>
              </a:rPr>
              <a:t>品質檢核與 LLM 角色　</a:t>
            </a:r>
            <a:r>
              <a:rPr lang="en-US" sz="1300" dirty="0">
                <a:solidFill>
                  <a:srgbClr val="5B6B7F"/>
                </a:solidFill>
                <a:latin typeface="Microsoft JhengHei" pitchFamily="34" charset="0"/>
                <a:ea typeface="Microsoft JhengHei" pitchFamily="34" charset="-122"/>
                <a:cs typeface="Microsoft JhengHei" pitchFamily="34" charset="-120"/>
              </a:rPr>
              <a:t>檢核閘；LLM 在醫學教育的五個角色與人類對齊</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F705FB5-7EC5-E595-291F-E0D9B82DC351}"/>
              </a:ext>
            </a:extLst>
          </p:cNvPr>
          <p:cNvSpPr>
            <a:spLocks noGrp="1"/>
          </p:cNvSpPr>
          <p:nvPr>
            <p:ph type="title"/>
          </p:nvPr>
        </p:nvSpPr>
        <p:spPr/>
        <p:txBody>
          <a:bodyPr/>
          <a:lstStyle/>
          <a:p>
            <a:pPr algn="l"/>
            <a:endParaRPr lang="zh-TW" altLang="en-US" dirty="0"/>
          </a:p>
        </p:txBody>
      </p:sp>
      <p:sp>
        <p:nvSpPr>
          <p:cNvPr id="3" name="內容版面配置區 2">
            <a:extLst>
              <a:ext uri="{FF2B5EF4-FFF2-40B4-BE49-F238E27FC236}">
                <a16:creationId xmlns:a16="http://schemas.microsoft.com/office/drawing/2014/main" id="{4FEC96EE-3332-E398-9902-A8E9572D3754}"/>
              </a:ext>
            </a:extLst>
          </p:cNvPr>
          <p:cNvSpPr>
            <a:spLocks noGrp="1"/>
          </p:cNvSpPr>
          <p:nvPr>
            <p:ph idx="1"/>
          </p:nvPr>
        </p:nvSpPr>
        <p:spPr/>
        <p:txBody>
          <a:bodyPr>
            <a:normAutofit fontScale="25000" lnSpcReduction="20000"/>
          </a:bodyPr>
          <a:lstStyle/>
          <a:p>
            <a:pPr marL="0" indent="0" algn="l">
              <a:buNone/>
            </a:pPr>
            <a:endParaRPr lang="en-US" altLang="zh-TW" sz="2700" dirty="0">
              <a:latin typeface="微軟正黑體" panose="020B0604030504040204" pitchFamily="34" charset="-120"/>
              <a:ea typeface="微軟正黑體" panose="020B0604030504040204" pitchFamily="34" charset="-120"/>
            </a:endParaRPr>
          </a:p>
          <a:p>
            <a:pPr marL="0" indent="0" algn="l">
              <a:buNone/>
            </a:pPr>
            <a:endParaRPr lang="en-US" altLang="zh-TW" sz="2700" dirty="0">
              <a:latin typeface="微軟正黑體" panose="020B0604030504040204" pitchFamily="34" charset="-120"/>
              <a:ea typeface="微軟正黑體" panose="020B0604030504040204" pitchFamily="34" charset="-120"/>
            </a:endParaRPr>
          </a:p>
          <a:p>
            <a:pPr marL="0" indent="0" algn="l">
              <a:buNone/>
            </a:pPr>
            <a:endParaRPr lang="en-US" altLang="zh-TW" sz="2700" dirty="0">
              <a:latin typeface="微軟正黑體" panose="020B0604030504040204" pitchFamily="34" charset="-120"/>
              <a:ea typeface="微軟正黑體" panose="020B0604030504040204" pitchFamily="34" charset="-120"/>
            </a:endParaRPr>
          </a:p>
          <a:p>
            <a:pPr marL="0" indent="0" algn="l">
              <a:buNone/>
            </a:pPr>
            <a:endParaRPr lang="en-US" altLang="zh-TW" sz="2700" dirty="0">
              <a:latin typeface="微軟正黑體" panose="020B0604030504040204" pitchFamily="34" charset="-120"/>
              <a:ea typeface="微軟正黑體" panose="020B0604030504040204" pitchFamily="34" charset="-120"/>
            </a:endParaRPr>
          </a:p>
          <a:p>
            <a:pPr marL="0" indent="0" algn="l">
              <a:buNone/>
            </a:pPr>
            <a:endParaRPr lang="en-US" altLang="zh-TW" sz="2700" dirty="0">
              <a:latin typeface="微軟正黑體" panose="020B0604030504040204" pitchFamily="34" charset="-120"/>
              <a:ea typeface="微軟正黑體" panose="020B0604030504040204" pitchFamily="34" charset="-120"/>
            </a:endParaRPr>
          </a:p>
          <a:p>
            <a:pPr marL="0" indent="0" algn="l">
              <a:buNone/>
            </a:pPr>
            <a:endParaRPr lang="en-US" altLang="zh-TW" sz="2700" dirty="0">
              <a:latin typeface="微軟正黑體" panose="020B0604030504040204" pitchFamily="34" charset="-120"/>
              <a:ea typeface="微軟正黑體" panose="020B0604030504040204" pitchFamily="34" charset="-120"/>
            </a:endParaRPr>
          </a:p>
          <a:p>
            <a:pPr marL="0" indent="0" algn="l">
              <a:buNone/>
            </a:pPr>
            <a:endParaRPr lang="en-US" altLang="zh-TW" sz="2700" dirty="0">
              <a:latin typeface="微軟正黑體" panose="020B0604030504040204" pitchFamily="34" charset="-120"/>
              <a:ea typeface="微軟正黑體" panose="020B0604030504040204" pitchFamily="34" charset="-120"/>
            </a:endParaRPr>
          </a:p>
          <a:p>
            <a:pPr marL="0" indent="0" algn="l">
              <a:buNone/>
            </a:pPr>
            <a:endParaRPr lang="en-US" altLang="zh-TW" sz="2700" dirty="0">
              <a:latin typeface="微軟正黑體" panose="020B0604030504040204" pitchFamily="34" charset="-120"/>
              <a:ea typeface="微軟正黑體" panose="020B0604030504040204" pitchFamily="34" charset="-120"/>
            </a:endParaRPr>
          </a:p>
          <a:p>
            <a:pPr marL="0" indent="0" algn="l">
              <a:buNone/>
            </a:pPr>
            <a:endParaRPr lang="en-US" altLang="zh-TW" sz="2700" dirty="0">
              <a:latin typeface="微軟正黑體" panose="020B0604030504040204" pitchFamily="34" charset="-120"/>
              <a:ea typeface="微軟正黑體" panose="020B0604030504040204" pitchFamily="34" charset="-120"/>
            </a:endParaRPr>
          </a:p>
          <a:p>
            <a:pPr marL="0" indent="0" algn="l">
              <a:buNone/>
            </a:pPr>
            <a:endParaRPr lang="en-US" altLang="zh-TW" sz="2700" dirty="0">
              <a:latin typeface="微軟正黑體" panose="020B0604030504040204" pitchFamily="34" charset="-120"/>
              <a:ea typeface="微軟正黑體" panose="020B0604030504040204" pitchFamily="34" charset="-120"/>
            </a:endParaRPr>
          </a:p>
          <a:p>
            <a:pPr marL="0" indent="0" algn="l">
              <a:buNone/>
            </a:pPr>
            <a:endParaRPr lang="en-US" altLang="zh-TW" sz="2700" dirty="0">
              <a:latin typeface="微軟正黑體" panose="020B0604030504040204" pitchFamily="34" charset="-120"/>
              <a:ea typeface="微軟正黑體" panose="020B0604030504040204" pitchFamily="34" charset="-120"/>
            </a:endParaRPr>
          </a:p>
          <a:p>
            <a:pPr marL="0" indent="0" algn="l">
              <a:buNone/>
            </a:pPr>
            <a:endParaRPr lang="en-US" altLang="zh-TW" sz="2700" dirty="0">
              <a:latin typeface="微軟正黑體" panose="020B0604030504040204" pitchFamily="34" charset="-120"/>
              <a:ea typeface="微軟正黑體" panose="020B0604030504040204" pitchFamily="34" charset="-120"/>
            </a:endParaRPr>
          </a:p>
          <a:p>
            <a:pPr marL="0" indent="0" algn="l">
              <a:buNone/>
            </a:pPr>
            <a:endParaRPr lang="en-US" altLang="zh-TW" sz="2700" dirty="0">
              <a:latin typeface="微軟正黑體" panose="020B0604030504040204" pitchFamily="34" charset="-120"/>
              <a:ea typeface="微軟正黑體" panose="020B0604030504040204" pitchFamily="34" charset="-120"/>
            </a:endParaRPr>
          </a:p>
          <a:p>
            <a:pPr marL="0" indent="0" algn="l">
              <a:buNone/>
            </a:pPr>
            <a:endParaRPr lang="en-US" altLang="zh-TW" sz="2700" dirty="0">
              <a:latin typeface="微軟正黑體" panose="020B0604030504040204" pitchFamily="34" charset="-120"/>
              <a:ea typeface="微軟正黑體" panose="020B0604030504040204" pitchFamily="34" charset="-120"/>
            </a:endParaRPr>
          </a:p>
          <a:p>
            <a:pPr marL="0" indent="0" algn="l">
              <a:buNone/>
            </a:pPr>
            <a:r>
              <a:rPr lang="en-US" altLang="zh-TW" sz="2700" dirty="0">
                <a:latin typeface="Microsoft JhengHei" panose="020B0604030504040204" pitchFamily="34" charset="-120"/>
                <a:ea typeface="Microsoft JhengHei" panose="020B0604030504040204" pitchFamily="34" charset="-120"/>
                <a:cs typeface="Microsoft JhengHei"/>
              </a:rPr>
              <a:t>   CBME</a:t>
            </a:r>
          </a:p>
          <a:p>
            <a:pPr marL="0" indent="0" algn="l">
              <a:buNone/>
            </a:pPr>
            <a:r>
              <a:rPr lang="en-US" altLang="zh-TW" sz="2700" dirty="0">
                <a:latin typeface="Microsoft JhengHei" panose="020B0604030504040204" pitchFamily="34" charset="-120"/>
                <a:ea typeface="Microsoft JhengHei" panose="020B0604030504040204" pitchFamily="34" charset="-120"/>
                <a:cs typeface="Microsoft JhengHei"/>
              </a:rPr>
              <a:t>(Competence-based Medical Education)</a:t>
            </a:r>
          </a:p>
          <a:p>
            <a:pPr marL="0" indent="0" algn="l">
              <a:buNone/>
            </a:pPr>
            <a:endParaRPr lang="en-US" altLang="zh-TW" sz="2700" dirty="0">
              <a:latin typeface="微軟正黑體" panose="020B0604030504040204" pitchFamily="34" charset="-120"/>
              <a:ea typeface="微軟正黑體" panose="020B0604030504040204" pitchFamily="34" charset="-120"/>
            </a:endParaRPr>
          </a:p>
          <a:p>
            <a:pPr marL="0" indent="0" algn="l">
              <a:buNone/>
            </a:pPr>
            <a:endParaRPr lang="en-US" altLang="zh-TW" sz="2700" dirty="0">
              <a:latin typeface="微軟正黑體" panose="020B0604030504040204" pitchFamily="34" charset="-120"/>
              <a:ea typeface="微軟正黑體" panose="020B0604030504040204" pitchFamily="34" charset="-120"/>
            </a:endParaRPr>
          </a:p>
          <a:p>
            <a:pPr marL="0" indent="0" algn="l">
              <a:buNone/>
            </a:pPr>
            <a:r>
              <a:rPr lang="zh-TW" altLang="en-US" sz="3600" dirty="0">
                <a:latin typeface="Microsoft JhengHei" panose="020B0604030504040204" pitchFamily="34" charset="-120"/>
                <a:ea typeface="Microsoft JhengHei" panose="020B0604030504040204" pitchFamily="34" charset="-120"/>
                <a:cs typeface="Microsoft JhengHei"/>
              </a:rPr>
              <a:t>以終為始</a:t>
            </a:r>
          </a:p>
        </p:txBody>
      </p:sp>
    </p:spTree>
    <p:extLst>
      <p:ext uri="{BB962C8B-B14F-4D97-AF65-F5344CB8AC3E}">
        <p14:creationId xmlns:p14="http://schemas.microsoft.com/office/powerpoint/2010/main" val="1629244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A0BAE4D-1CE3-C3F6-B413-0AB7FE322785}"/>
              </a:ext>
            </a:extLst>
          </p:cNvPr>
          <p:cNvSpPr>
            <a:spLocks noGrp="1"/>
          </p:cNvSpPr>
          <p:nvPr>
            <p:ph type="title"/>
          </p:nvPr>
        </p:nvSpPr>
        <p:spPr/>
        <p:txBody>
          <a:bodyPr/>
          <a:lstStyle/>
          <a:p>
            <a:pPr algn="l"/>
            <a:r>
              <a:rPr lang="zh-TW" altLang="en-US" dirty="0" b="1" sz="2800">
                <a:solidFill>
                  <a:srgbClr val="1F4E79"/>
                </a:solidFill>
                <a:latin typeface="Microsoft JhengHei" panose="020B0604030504040204" pitchFamily="34" charset="-120"/>
                <a:ea typeface="Microsoft JhengHei" panose="020B0604030504040204" pitchFamily="34" charset="-120"/>
                <a:cs typeface="Microsoft JhengHei"/>
              </a:rPr>
              <a:t>為什麼要評估學員</a:t>
            </a:r>
            <a:r>
              <a:rPr lang="en-US" altLang="zh-TW" dirty="0" b="1" sz="2800">
                <a:solidFill>
                  <a:srgbClr val="1F4E79"/>
                </a:solidFill>
                <a:latin typeface="Microsoft JhengHei" panose="020B0604030504040204" pitchFamily="34" charset="-120"/>
                <a:ea typeface="Microsoft JhengHei" panose="020B0604030504040204" pitchFamily="34" charset="-120"/>
                <a:cs typeface="Microsoft JhengHei"/>
              </a:rPr>
              <a:t>?</a:t>
            </a:r>
            <a:endParaRPr lang="zh-TW" altLang="en-US" dirty="0">
              <a:latin typeface="微軟正黑體" panose="020B0604030504040204" pitchFamily="34" charset="-120"/>
              <a:ea typeface="微軟正黑體" panose="020B0604030504040204" pitchFamily="34" charset="-120"/>
            </a:endParaRPr>
          </a:p>
        </p:txBody>
      </p:sp>
      <p:sp>
        <p:nvSpPr>
          <p:cNvPr id="3" name="內容版面配置區 2">
            <a:extLst>
              <a:ext uri="{FF2B5EF4-FFF2-40B4-BE49-F238E27FC236}">
                <a16:creationId xmlns:a16="http://schemas.microsoft.com/office/drawing/2014/main" id="{06E1B0CB-82FB-5951-160C-E721FDBEBD44}"/>
              </a:ext>
            </a:extLst>
          </p:cNvPr>
          <p:cNvSpPr>
            <a:spLocks noGrp="1"/>
          </p:cNvSpPr>
          <p:nvPr>
            <p:ph idx="1"/>
          </p:nvPr>
        </p:nvSpPr>
        <p:spPr/>
        <p:txBody>
          <a:bodyPr>
            <a:noAutofit/>
          </a:bodyPr>
          <a:lstStyle/>
          <a:p>
            <a:pPr algn="l"/>
            <a:r>
              <a:rPr lang="zh-TW" altLang="en-US" sz="2400" b="1" dirty="0">
                <a:latin typeface="Microsoft JhengHei" panose="020B0604030504040204" pitchFamily="34" charset="-120"/>
                <a:ea typeface="Microsoft JhengHei" panose="020B0604030504040204" pitchFamily="34" charset="-120"/>
                <a:cs typeface="Microsoft JhengHei"/>
              </a:rPr>
              <a:t>評估就是為瞭解學習的成效</a:t>
            </a:r>
          </a:p>
          <a:p>
            <a:pPr algn="l"/>
            <a:r>
              <a:rPr lang="zh-TW" altLang="en-US" sz="2400" b="1" dirty="0">
                <a:latin typeface="Microsoft JhengHei" panose="020B0604030504040204" pitchFamily="34" charset="-120"/>
                <a:ea typeface="Microsoft JhengHei" panose="020B0604030504040204" pitchFamily="34" charset="-120"/>
                <a:cs typeface="Microsoft JhengHei"/>
              </a:rPr>
              <a:t>有評量</a:t>
            </a:r>
          </a:p>
          <a:p>
            <a:pPr lvl="1" algn="l"/>
            <a:r>
              <a:rPr lang="zh-TW" altLang="en-US" sz="2100" b="1" dirty="0">
                <a:latin typeface="Microsoft JhengHei" panose="020B0604030504040204" pitchFamily="34" charset="-120"/>
                <a:ea typeface="Microsoft JhengHei" panose="020B0604030504040204" pitchFamily="34" charset="-120"/>
                <a:cs typeface="Microsoft JhengHei"/>
              </a:rPr>
              <a:t>才知道離目標有多遠</a:t>
            </a:r>
          </a:p>
          <a:p>
            <a:pPr lvl="1" algn="l"/>
            <a:r>
              <a:rPr lang="zh-TW" altLang="en-US" sz="2100" b="1" dirty="0">
                <a:latin typeface="Microsoft JhengHei" panose="020B0604030504040204" pitchFamily="34" charset="-120"/>
                <a:ea typeface="Microsoft JhengHei" panose="020B0604030504040204" pitchFamily="34" charset="-120"/>
                <a:cs typeface="Microsoft JhengHei"/>
              </a:rPr>
              <a:t>才知道是不是在作白功</a:t>
            </a:r>
            <a:endParaRPr lang="en-US" altLang="zh-TW" sz="2100" b="1" dirty="0">
              <a:latin typeface="微軟正黑體" panose="020B0604030504040204" pitchFamily="34" charset="-120"/>
              <a:ea typeface="微軟正黑體" panose="020B0604030504040204" pitchFamily="34" charset="-120"/>
            </a:endParaRPr>
          </a:p>
          <a:p>
            <a:pPr marL="0" indent="0" algn="l">
              <a:buNone/>
            </a:pPr>
            <a:endParaRPr lang="en-US" altLang="zh-TW" sz="2400" b="1" dirty="0">
              <a:latin typeface="微軟正黑體" panose="020B0604030504040204" pitchFamily="34" charset="-120"/>
              <a:ea typeface="微軟正黑體" panose="020B0604030504040204" pitchFamily="34" charset="-120"/>
            </a:endParaRPr>
          </a:p>
          <a:p>
            <a:pPr marL="0" indent="0" algn="l">
              <a:buNone/>
            </a:pPr>
            <a:endParaRPr lang="en-US" altLang="zh-TW" sz="2400" b="1" dirty="0">
              <a:latin typeface="微軟正黑體" panose="020B0604030504040204" pitchFamily="34" charset="-120"/>
              <a:ea typeface="微軟正黑體" panose="020B0604030504040204" pitchFamily="34" charset="-120"/>
            </a:endParaRPr>
          </a:p>
          <a:p>
            <a:pPr marL="0" indent="0" algn="l">
              <a:buNone/>
            </a:pPr>
            <a:r>
              <a:rPr lang="zh-TW" altLang="en-US" sz="2400" b="1" dirty="0">
                <a:latin typeface="Microsoft JhengHei" panose="020B0604030504040204" pitchFamily="34" charset="-120"/>
                <a:ea typeface="Microsoft JhengHei" panose="020B0604030504040204" pitchFamily="34" charset="-120"/>
                <a:cs typeface="Microsoft JhengHei"/>
              </a:rPr>
              <a:t>                                      台中榮民總醫院教學部</a:t>
            </a:r>
          </a:p>
          <a:p>
            <a:pPr marL="0" indent="0" algn="l">
              <a:buNone/>
            </a:pPr>
            <a:r>
              <a:rPr lang="zh-TW" altLang="en-US" sz="2400" b="1" dirty="0">
                <a:latin typeface="Microsoft JhengHei" panose="020B0604030504040204" pitchFamily="34" charset="-120"/>
                <a:ea typeface="Microsoft JhengHei" panose="020B0604030504040204" pitchFamily="34" charset="-120"/>
                <a:cs typeface="Microsoft JhengHei"/>
              </a:rPr>
              <a:t>                                      謝祖怡主任</a:t>
            </a:r>
            <a:endParaRPr lang="zh-TW" altLang="en-US" sz="24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8544545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B121157-FE5A-2A8B-E309-E39DFB3FA3DE}"/>
              </a:ext>
            </a:extLst>
          </p:cNvPr>
          <p:cNvSpPr>
            <a:spLocks noGrp="1"/>
          </p:cNvSpPr>
          <p:nvPr>
            <p:ph type="title"/>
          </p:nvPr>
        </p:nvSpPr>
        <p:spPr/>
        <p:txBody>
          <a:bodyPr/>
          <a:lstStyle/>
          <a:p>
            <a:pPr algn="l"/>
            <a:r>
              <a:rPr lang="zh-TW" altLang="en-US" dirty="0" b="1" sz="2800">
                <a:solidFill>
                  <a:srgbClr val="1F4E79"/>
                </a:solidFill>
                <a:latin typeface="Microsoft JhengHei"/>
                <a:ea typeface="Microsoft JhengHei"/>
                <a:cs typeface="Microsoft JhengHei"/>
              </a:rPr>
              <a:t>學習者為中心</a:t>
            </a:r>
          </a:p>
        </p:txBody>
      </p:sp>
      <p:sp>
        <p:nvSpPr>
          <p:cNvPr id="3" name="內容版面配置區 2">
            <a:extLst>
              <a:ext uri="{FF2B5EF4-FFF2-40B4-BE49-F238E27FC236}">
                <a16:creationId xmlns:a16="http://schemas.microsoft.com/office/drawing/2014/main" id="{53D3690C-7D10-1037-587F-AAFC46F97AD6}"/>
              </a:ext>
            </a:extLst>
          </p:cNvPr>
          <p:cNvSpPr>
            <a:spLocks noGrp="1"/>
          </p:cNvSpPr>
          <p:nvPr>
            <p:ph idx="1"/>
          </p:nvPr>
        </p:nvSpPr>
        <p:spPr/>
        <p:txBody>
          <a:bodyPr/>
          <a:lstStyle/>
          <a:p>
            <a:pPr algn="l"/>
            <a:r>
              <a:rPr lang="zh-TW" altLang="en-US" dirty="0">
                <a:latin typeface="Microsoft JhengHei"/>
                <a:ea typeface="Microsoft JhengHei"/>
                <a:cs typeface="Microsoft JhengHei"/>
              </a:rPr>
              <a:t>敘事醫學</a:t>
            </a:r>
            <a:endParaRPr lang="en-US" altLang="zh-TW" dirty="0"/>
          </a:p>
          <a:p>
            <a:pPr algn="l"/>
            <a:r>
              <a:rPr lang="zh-TW" altLang="en-US" dirty="0">
                <a:latin typeface="Microsoft JhengHei"/>
                <a:ea typeface="Microsoft JhengHei"/>
                <a:cs typeface="Microsoft JhengHei"/>
              </a:rPr>
              <a:t>跨領域合作</a:t>
            </a:r>
            <a:endParaRPr lang="en-US" altLang="zh-TW" dirty="0"/>
          </a:p>
          <a:p>
            <a:pPr algn="l"/>
            <a:r>
              <a:rPr lang="en-US" altLang="zh-TW" dirty="0">
                <a:latin typeface="Microsoft JhengHei"/>
                <a:ea typeface="Microsoft JhengHei"/>
                <a:cs typeface="Microsoft JhengHei"/>
              </a:rPr>
              <a:t>Rubric</a:t>
            </a:r>
            <a:r>
              <a:rPr lang="zh-TW" altLang="en-US" dirty="0">
                <a:latin typeface="Microsoft JhengHei"/>
                <a:ea typeface="Microsoft JhengHei"/>
                <a:cs typeface="Microsoft JhengHei"/>
              </a:rPr>
              <a:t>（評分規準表）</a:t>
            </a:r>
            <a:r>
              <a:rPr lang="en-US" altLang="zh-TW" dirty="0">
                <a:latin typeface="Microsoft JhengHei"/>
                <a:ea typeface="Microsoft JhengHei"/>
                <a:cs typeface="Microsoft JhengHei"/>
              </a:rPr>
              <a:t>:</a:t>
            </a:r>
            <a:r>
              <a:rPr lang="zh-TW" altLang="en-US" b="1" dirty="0">
                <a:latin typeface="Microsoft JhengHei"/>
                <a:ea typeface="Microsoft JhengHei"/>
                <a:cs typeface="Microsoft JhengHei"/>
              </a:rPr>
              <a:t>明確的分層標準</a:t>
            </a:r>
            <a:r>
              <a:rPr lang="zh-TW" altLang="en-US" dirty="0">
                <a:latin typeface="Microsoft JhengHei"/>
                <a:ea typeface="Microsoft JhengHei"/>
                <a:cs typeface="Microsoft JhengHei"/>
              </a:rPr>
              <a:t>。</a:t>
            </a:r>
          </a:p>
        </p:txBody>
      </p:sp>
    </p:spTree>
    <p:extLst>
      <p:ext uri="{BB962C8B-B14F-4D97-AF65-F5344CB8AC3E}">
        <p14:creationId xmlns:p14="http://schemas.microsoft.com/office/powerpoint/2010/main" val="1287850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E3558D-3B18-D63C-E1FB-D7770A3CA205}"/>
              </a:ext>
            </a:extLst>
          </p:cNvPr>
          <p:cNvSpPr>
            <a:spLocks noGrp="1"/>
          </p:cNvSpPr>
          <p:nvPr>
            <p:ph type="title"/>
          </p:nvPr>
        </p:nvSpPr>
        <p:spPr>
          <a:xfrm>
            <a:off x="459487" y="273844"/>
            <a:ext cx="3971261" cy="1547856"/>
          </a:xfrm>
        </p:spPr>
        <p:txBody>
          <a:bodyPr anchor="b">
            <a:normAutofit/>
          </a:bodyPr>
          <a:lstStyle/>
          <a:p>
            <a:pPr algn="l"/>
            <a:r>
              <a:rPr lang="zh-TW" altLang="en-US" sz="2800" b="1">
                <a:solidFill>
                  <a:srgbClr val="1F4E79"/>
                </a:solidFill>
                <a:latin typeface="Microsoft JhengHei"/>
                <a:ea typeface="Microsoft JhengHei"/>
                <a:cs typeface="Microsoft JhengHei"/>
              </a:rPr>
              <a:t>模擬手術</a:t>
            </a:r>
          </a:p>
        </p:txBody>
      </p:sp>
      <p:sp>
        <p:nvSpPr>
          <p:cNvPr id="3" name="內容版面配置區 2">
            <a:extLst>
              <a:ext uri="{FF2B5EF4-FFF2-40B4-BE49-F238E27FC236}">
                <a16:creationId xmlns:a16="http://schemas.microsoft.com/office/drawing/2014/main" id="{6AC4B260-1CBF-C546-49A3-B1377587FDA8}"/>
              </a:ext>
            </a:extLst>
          </p:cNvPr>
          <p:cNvSpPr>
            <a:spLocks noGrp="1"/>
          </p:cNvSpPr>
          <p:nvPr>
            <p:ph idx="1"/>
          </p:nvPr>
        </p:nvSpPr>
        <p:spPr>
          <a:xfrm>
            <a:off x="459487" y="2181004"/>
            <a:ext cx="3971261" cy="2451718"/>
          </a:xfrm>
        </p:spPr>
        <p:txBody>
          <a:bodyPr>
            <a:normAutofit/>
          </a:bodyPr>
          <a:lstStyle/>
          <a:p>
            <a:pPr algn="l"/>
            <a:r>
              <a:rPr lang="en-US" altLang="zh-TW" sz="1650">
                <a:latin typeface="Microsoft JhengHei"/>
                <a:ea typeface="Microsoft JhengHei"/>
                <a:cs typeface="Microsoft JhengHei"/>
              </a:rPr>
              <a:t>VR</a:t>
            </a:r>
            <a:r>
              <a:rPr lang="zh-TW" altLang="en-US" sz="1650">
                <a:latin typeface="Microsoft JhengHei"/>
                <a:ea typeface="Microsoft JhengHei"/>
                <a:cs typeface="Microsoft JhengHei"/>
              </a:rPr>
              <a:t> </a:t>
            </a:r>
            <a:r>
              <a:rPr lang="en-US" altLang="zh-TW" sz="1650">
                <a:latin typeface="Microsoft JhengHei"/>
                <a:ea typeface="Microsoft JhengHei"/>
                <a:cs typeface="Microsoft JhengHei"/>
              </a:rPr>
              <a:t>simulation</a:t>
            </a:r>
          </a:p>
          <a:p>
            <a:pPr lvl="1" algn="l"/>
            <a:r>
              <a:rPr lang="en-US" altLang="zh-TW" sz="1650">
                <a:latin typeface="Microsoft JhengHei"/>
                <a:ea typeface="Microsoft JhengHei"/>
                <a:cs typeface="Microsoft JhengHei"/>
              </a:rPr>
              <a:t>Laparoscopic</a:t>
            </a:r>
          </a:p>
          <a:p>
            <a:pPr lvl="1" algn="l"/>
            <a:r>
              <a:rPr lang="en-US" altLang="zh-TW" sz="1650">
                <a:latin typeface="Microsoft JhengHei"/>
                <a:ea typeface="Microsoft JhengHei"/>
                <a:cs typeface="Microsoft JhengHei"/>
              </a:rPr>
              <a:t>Robotic</a:t>
            </a:r>
          </a:p>
          <a:p>
            <a:pPr algn="l"/>
            <a:r>
              <a:rPr lang="en-US" altLang="zh-TW" sz="1650">
                <a:latin typeface="Microsoft JhengHei"/>
                <a:ea typeface="Microsoft JhengHei"/>
                <a:cs typeface="Microsoft JhengHei"/>
              </a:rPr>
              <a:t>Animal Lab simulation</a:t>
            </a:r>
          </a:p>
          <a:p>
            <a:pPr algn="l"/>
            <a:r>
              <a:rPr lang="en-US" altLang="zh-TW" sz="1650">
                <a:latin typeface="Microsoft JhengHei"/>
                <a:ea typeface="Microsoft JhengHei"/>
                <a:cs typeface="Microsoft JhengHei"/>
              </a:rPr>
              <a:t>Cadaveric lab simulation</a:t>
            </a:r>
            <a:endParaRPr lang="zh-TW" altLang="en-US" sz="1650"/>
          </a:p>
        </p:txBody>
      </p:sp>
      <p:pic>
        <p:nvPicPr>
          <p:cNvPr id="6" name="圖片 5">
            <a:extLst>
              <a:ext uri="{FF2B5EF4-FFF2-40B4-BE49-F238E27FC236}">
                <a16:creationId xmlns:a16="http://schemas.microsoft.com/office/drawing/2014/main" id="{77730ECE-0A57-6502-4517-4C089DF44505}"/>
              </a:ext>
            </a:extLst>
          </p:cNvPr>
          <p:cNvPicPr>
            <a:picLocks noChangeAspect="1"/>
          </p:cNvPicPr>
          <p:nvPr/>
        </p:nvPicPr>
        <p:blipFill>
          <a:blip r:embed="rId2">
            <a:extLst>
              <a:ext uri="{28A0092B-C50C-407E-A947-70E740481C1C}">
                <a14:useLocalDpi xmlns:a14="http://schemas.microsoft.com/office/drawing/2010/main" val="0"/>
              </a:ext>
            </a:extLst>
          </a:blip>
          <a:srcRect r="2346" b="-1"/>
          <a:stretch>
            <a:fillRect/>
          </a:stretch>
        </p:blipFill>
        <p:spPr>
          <a:xfrm>
            <a:off x="4797298" y="340998"/>
            <a:ext cx="1952704" cy="2024947"/>
          </a:xfrm>
          <a:prstGeom prst="rect">
            <a:avLst/>
          </a:prstGeom>
        </p:spPr>
      </p:pic>
      <p:pic>
        <p:nvPicPr>
          <p:cNvPr id="4" name="Picture 3" descr="一張含有 房間, 場景, 醫院病房, 醫療設備 的圖片&#10;&#10;自動產生的描述">
            <a:extLst>
              <a:ext uri="{FF2B5EF4-FFF2-40B4-BE49-F238E27FC236}">
                <a16:creationId xmlns:a16="http://schemas.microsoft.com/office/drawing/2014/main" id="{E89C5AA9-DB12-4B06-7F12-00B8F87CEB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7675" r="3" b="3"/>
          <a:stretch>
            <a:fillRect/>
          </a:stretch>
        </p:blipFill>
        <p:spPr bwMode="auto">
          <a:xfrm>
            <a:off x="6918246" y="340996"/>
            <a:ext cx="1952704" cy="2024949"/>
          </a:xfrm>
          <a:prstGeom prst="rect">
            <a:avLst/>
          </a:prstGeom>
          <a:noFill/>
          <a:extLst>
            <a:ext uri="{909E8E84-426E-40DD-AFC4-6F175D3DCCD1}">
              <a14:hiddenFill xmlns:a14="http://schemas.microsoft.com/office/drawing/2010/main">
                <a:solidFill>
                  <a:schemeClr val="accent1"/>
                </a:solidFill>
              </a14:hiddenFill>
            </a:ext>
          </a:extLst>
        </p:spPr>
      </p:pic>
      <p:pic>
        <p:nvPicPr>
          <p:cNvPr id="5" name="圖片 4" descr="一張含有 醫療設備, 醫療, 保健, 室內 的圖片&#10;&#10;自動產生的描述">
            <a:extLst>
              <a:ext uri="{FF2B5EF4-FFF2-40B4-BE49-F238E27FC236}">
                <a16:creationId xmlns:a16="http://schemas.microsoft.com/office/drawing/2014/main" id="{41F8DF92-962F-E454-7A7C-27DC6030C834}"/>
              </a:ext>
            </a:extLst>
          </p:cNvPr>
          <p:cNvPicPr>
            <a:picLocks noChangeAspect="1"/>
          </p:cNvPicPr>
          <p:nvPr/>
        </p:nvPicPr>
        <p:blipFill>
          <a:blip r:embed="rId4" cstate="print">
            <a:extLst>
              <a:ext uri="{28A0092B-C50C-407E-A947-70E740481C1C}">
                <a14:useLocalDpi xmlns:a14="http://schemas.microsoft.com/office/drawing/2010/main" val="0"/>
              </a:ext>
            </a:extLst>
          </a:blip>
          <a:srcRect l="7071" r="-2" b="-2"/>
          <a:stretch>
            <a:fillRect/>
          </a:stretch>
        </p:blipFill>
        <p:spPr>
          <a:xfrm>
            <a:off x="4797298" y="2576540"/>
            <a:ext cx="4073652" cy="2049337"/>
          </a:xfrm>
          <a:prstGeom prst="rect">
            <a:avLst/>
          </a:prstGeom>
        </p:spPr>
      </p:pic>
    </p:spTree>
    <p:extLst>
      <p:ext uri="{BB962C8B-B14F-4D97-AF65-F5344CB8AC3E}">
        <p14:creationId xmlns:p14="http://schemas.microsoft.com/office/powerpoint/2010/main" val="29877221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31FD2D3-8095-31AA-53DD-7753B777E00A}"/>
              </a:ext>
            </a:extLst>
          </p:cNvPr>
          <p:cNvSpPr>
            <a:spLocks noGrp="1"/>
          </p:cNvSpPr>
          <p:nvPr>
            <p:ph type="title"/>
          </p:nvPr>
        </p:nvSpPr>
        <p:spPr/>
        <p:txBody>
          <a:bodyPr/>
          <a:lstStyle/>
          <a:p>
            <a:pPr algn="l"/>
            <a:r>
              <a:rPr lang="zh-TW" altLang="en-US" dirty="0" b="1" sz="2800">
                <a:solidFill>
                  <a:srgbClr val="1F4E79"/>
                </a:solidFill>
                <a:latin typeface="Microsoft JhengHei"/>
                <a:ea typeface="Microsoft JhengHei"/>
                <a:cs typeface="Microsoft JhengHei"/>
              </a:rPr>
              <a:t>學習評量</a:t>
            </a:r>
          </a:p>
        </p:txBody>
      </p:sp>
      <p:sp>
        <p:nvSpPr>
          <p:cNvPr id="3" name="內容版面配置區 2">
            <a:extLst>
              <a:ext uri="{FF2B5EF4-FFF2-40B4-BE49-F238E27FC236}">
                <a16:creationId xmlns:a16="http://schemas.microsoft.com/office/drawing/2014/main" id="{F62CA040-90D2-30E1-170B-CC866E87FD4D}"/>
              </a:ext>
            </a:extLst>
          </p:cNvPr>
          <p:cNvSpPr>
            <a:spLocks noGrp="1"/>
          </p:cNvSpPr>
          <p:nvPr>
            <p:ph idx="1"/>
          </p:nvPr>
        </p:nvSpPr>
        <p:spPr/>
        <p:txBody>
          <a:bodyPr>
            <a:normAutofit fontScale="25000" lnSpcReduction="20000"/>
          </a:bodyPr>
          <a:lstStyle/>
          <a:p>
            <a:pPr algn="l"/>
            <a:r>
              <a:rPr lang="zh-TW" altLang="en-US" sz="3000" dirty="0">
                <a:latin typeface="Microsoft JhengHei" panose="020B0604030504040204" pitchFamily="34" charset="-120"/>
                <a:ea typeface="Microsoft JhengHei" panose="020B0604030504040204" pitchFamily="34" charset="-120"/>
                <a:cs typeface="Microsoft JhengHei"/>
              </a:rPr>
              <a:t>紙筆測驗</a:t>
            </a:r>
            <a:r>
              <a:rPr lang="en-US" altLang="zh-TW" sz="3000" dirty="0">
                <a:latin typeface="Microsoft JhengHei" panose="020B0604030504040204" pitchFamily="34" charset="-120"/>
                <a:ea typeface="Microsoft JhengHei" panose="020B0604030504040204" pitchFamily="34" charset="-120"/>
                <a:cs typeface="Microsoft JhengHei"/>
              </a:rPr>
              <a:t>(</a:t>
            </a:r>
            <a:r>
              <a:rPr lang="zh-TW" altLang="en-US" sz="3000" dirty="0">
                <a:latin typeface="Microsoft JhengHei" panose="020B0604030504040204" pitchFamily="34" charset="-120"/>
                <a:ea typeface="Microsoft JhengHei" panose="020B0604030504040204" pitchFamily="34" charset="-120"/>
                <a:cs typeface="Microsoft JhengHei"/>
              </a:rPr>
              <a:t>真實能力</a:t>
            </a:r>
            <a:r>
              <a:rPr lang="en-US" altLang="zh-TW" sz="3000" dirty="0">
                <a:latin typeface="Microsoft JhengHei" panose="020B0604030504040204" pitchFamily="34" charset="-120"/>
                <a:ea typeface="Microsoft JhengHei" panose="020B0604030504040204" pitchFamily="34" charset="-120"/>
                <a:cs typeface="Microsoft JhengHei"/>
              </a:rPr>
              <a:t>?)</a:t>
            </a:r>
          </a:p>
          <a:p>
            <a:pPr algn="l"/>
            <a:endParaRPr lang="en-US" altLang="zh-TW" sz="3000" dirty="0">
              <a:latin typeface="微軟正黑體" panose="020B0604030504040204" pitchFamily="34" charset="-120"/>
              <a:ea typeface="微軟正黑體" panose="020B0604030504040204" pitchFamily="34" charset="-120"/>
            </a:endParaRPr>
          </a:p>
          <a:p>
            <a:pPr algn="l"/>
            <a:r>
              <a:rPr lang="zh-TW" altLang="en-US" sz="3000" dirty="0">
                <a:latin typeface="Microsoft JhengHei" panose="020B0604030504040204" pitchFamily="34" charset="-120"/>
                <a:ea typeface="Microsoft JhengHei" panose="020B0604030504040204" pitchFamily="34" charset="-120"/>
                <a:cs typeface="Microsoft JhengHei"/>
              </a:rPr>
              <a:t>臨床能力與行為表現的評估</a:t>
            </a:r>
            <a:endParaRPr lang="en-US" altLang="zh-TW" sz="3000" dirty="0">
              <a:latin typeface="微軟正黑體" panose="020B0604030504040204" pitchFamily="34" charset="-120"/>
              <a:ea typeface="微軟正黑體" panose="020B0604030504040204" pitchFamily="34" charset="-120"/>
            </a:endParaRPr>
          </a:p>
          <a:p>
            <a:pPr marL="0" indent="0" algn="l">
              <a:buNone/>
            </a:pPr>
            <a:r>
              <a:rPr lang="zh-TW" altLang="en-US" sz="3000" dirty="0">
                <a:latin typeface="Microsoft JhengHei" panose="020B0604030504040204" pitchFamily="34" charset="-120"/>
                <a:ea typeface="Microsoft JhengHei" panose="020B0604030504040204" pitchFamily="34" charset="-120"/>
                <a:cs typeface="Microsoft JhengHei"/>
              </a:rPr>
              <a:t>   </a:t>
            </a:r>
            <a:r>
              <a:rPr lang="en-US" altLang="zh-TW" sz="3000" dirty="0">
                <a:latin typeface="Microsoft JhengHei" panose="020B0604030504040204" pitchFamily="34" charset="-120"/>
                <a:ea typeface="Microsoft JhengHei" panose="020B0604030504040204" pitchFamily="34" charset="-120"/>
                <a:cs typeface="Microsoft JhengHei"/>
              </a:rPr>
              <a:t>(performance</a:t>
            </a:r>
            <a:r>
              <a:rPr lang="zh-TW" altLang="en-US" sz="3000" dirty="0">
                <a:latin typeface="Microsoft JhengHei" panose="020B0604030504040204" pitchFamily="34" charset="-120"/>
                <a:ea typeface="Microsoft JhengHei" panose="020B0604030504040204" pitchFamily="34" charset="-120"/>
                <a:cs typeface="Microsoft JhengHei"/>
              </a:rPr>
              <a:t> </a:t>
            </a:r>
            <a:r>
              <a:rPr lang="en-US" altLang="zh-TW" sz="3000" dirty="0">
                <a:latin typeface="Microsoft JhengHei" panose="020B0604030504040204" pitchFamily="34" charset="-120"/>
                <a:ea typeface="Microsoft JhengHei" panose="020B0604030504040204" pitchFamily="34" charset="-120"/>
                <a:cs typeface="Microsoft JhengHei"/>
              </a:rPr>
              <a:t>based assessment )</a:t>
            </a:r>
          </a:p>
          <a:p>
            <a:pPr algn="l"/>
            <a:endParaRPr lang="en-US" altLang="zh-TW" sz="3000" dirty="0">
              <a:latin typeface="微軟正黑體" panose="020B0604030504040204" pitchFamily="34" charset="-120"/>
              <a:ea typeface="微軟正黑體" panose="020B0604030504040204" pitchFamily="34" charset="-120"/>
            </a:endParaRPr>
          </a:p>
          <a:p>
            <a:pPr algn="l"/>
            <a:r>
              <a:rPr lang="zh-TW" altLang="en-US" sz="3000" dirty="0">
                <a:latin typeface="Microsoft JhengHei" panose="020B0604030504040204" pitchFamily="34" charset="-120"/>
                <a:ea typeface="Microsoft JhengHei" panose="020B0604030504040204" pitchFamily="34" charset="-120"/>
                <a:cs typeface="Microsoft JhengHei"/>
              </a:rPr>
              <a:t>教、考，還有同理和關懷</a:t>
            </a:r>
            <a:endParaRPr lang="en-US" altLang="zh-TW" sz="3000" dirty="0">
              <a:latin typeface="微軟正黑體" panose="020B0604030504040204" pitchFamily="34" charset="-120"/>
              <a:ea typeface="微軟正黑體" panose="020B0604030504040204" pitchFamily="34" charset="-120"/>
            </a:endParaRPr>
          </a:p>
          <a:p>
            <a:pPr marL="0" indent="0" algn="l">
              <a:buNone/>
            </a:pPr>
            <a:r>
              <a:rPr lang="zh-TW" altLang="en-US" sz="3000" dirty="0">
                <a:latin typeface="Microsoft JhengHei" panose="020B0604030504040204" pitchFamily="34" charset="-120"/>
                <a:ea typeface="Microsoft JhengHei" panose="020B0604030504040204" pitchFamily="34" charset="-120"/>
                <a:cs typeface="Microsoft JhengHei"/>
              </a:rPr>
              <a:t>   </a:t>
            </a:r>
            <a:r>
              <a:rPr lang="en-US" altLang="zh-TW" sz="3000" dirty="0">
                <a:latin typeface="Microsoft JhengHei" panose="020B0604030504040204" pitchFamily="34" charset="-120"/>
                <a:ea typeface="Microsoft JhengHei" panose="020B0604030504040204" pitchFamily="34" charset="-120"/>
                <a:cs typeface="Microsoft JhengHei"/>
              </a:rPr>
              <a:t>-&gt;</a:t>
            </a:r>
            <a:r>
              <a:rPr lang="zh-TW" altLang="en-US" sz="3000" dirty="0">
                <a:latin typeface="Microsoft JhengHei" panose="020B0604030504040204" pitchFamily="34" charset="-120"/>
                <a:ea typeface="Microsoft JhengHei" panose="020B0604030504040204" pitchFamily="34" charset="-120"/>
                <a:cs typeface="Microsoft JhengHei"/>
              </a:rPr>
              <a:t>無法由紙筆測驗得知</a:t>
            </a:r>
          </a:p>
        </p:txBody>
      </p:sp>
    </p:spTree>
    <p:extLst>
      <p:ext uri="{BB962C8B-B14F-4D97-AF65-F5344CB8AC3E}">
        <p14:creationId xmlns:p14="http://schemas.microsoft.com/office/powerpoint/2010/main" val="2903199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8BC8306-99F5-306F-2AA0-68EA8ABE6062}"/>
              </a:ext>
            </a:extLst>
          </p:cNvPr>
          <p:cNvSpPr>
            <a:spLocks noGrp="1"/>
          </p:cNvSpPr>
          <p:nvPr>
            <p:ph type="title"/>
          </p:nvPr>
        </p:nvSpPr>
        <p:spPr/>
        <p:txBody>
          <a:bodyPr/>
          <a:lstStyle/>
          <a:p>
            <a:pPr algn="l"/>
            <a:r>
              <a:rPr lang="zh-TW" altLang="en-US" dirty="0" b="1" sz="2800">
                <a:solidFill>
                  <a:srgbClr val="1F4E79"/>
                </a:solidFill>
                <a:latin typeface="Microsoft JhengHei"/>
                <a:ea typeface="Microsoft JhengHei"/>
                <a:cs typeface="Microsoft JhengHei"/>
              </a:rPr>
              <a:t>模擬病人考題</a:t>
            </a:r>
          </a:p>
        </p:txBody>
      </p:sp>
      <p:sp>
        <p:nvSpPr>
          <p:cNvPr id="3" name="內容版面配置區 2">
            <a:extLst>
              <a:ext uri="{FF2B5EF4-FFF2-40B4-BE49-F238E27FC236}">
                <a16:creationId xmlns:a16="http://schemas.microsoft.com/office/drawing/2014/main" id="{DA25A7B5-3B3A-2042-8BA2-F1A634AF5478}"/>
              </a:ext>
            </a:extLst>
          </p:cNvPr>
          <p:cNvSpPr>
            <a:spLocks noGrp="1"/>
          </p:cNvSpPr>
          <p:nvPr>
            <p:ph idx="1"/>
          </p:nvPr>
        </p:nvSpPr>
        <p:spPr/>
        <p:txBody>
          <a:bodyPr>
            <a:normAutofit fontScale="25000" lnSpcReduction="20000"/>
          </a:bodyPr>
          <a:lstStyle/>
          <a:p>
            <a:pPr algn="l"/>
            <a:r>
              <a:rPr lang="zh-TW" altLang="en-US" sz="2700" dirty="0">
                <a:solidFill>
                  <a:srgbClr val="000000"/>
                </a:solidFill>
                <a:latin typeface="Microsoft JhengHei"/>
                <a:ea typeface="Microsoft JhengHei"/>
                <a:cs typeface="Microsoft JhengHei"/>
              </a:rPr>
              <a:t>評估學員在理論知識之外的多方面臨床能力</a:t>
            </a:r>
            <a:endParaRPr lang="en-US" altLang="zh-TW" sz="2700" dirty="0">
              <a:solidFill>
                <a:srgbClr val="000000"/>
              </a:solidFill>
              <a:latin typeface="Google Sans Text"/>
            </a:endParaRPr>
          </a:p>
          <a:p>
            <a:pPr algn="l"/>
            <a:endParaRPr lang="en-US" altLang="zh-TW" sz="2700" dirty="0">
              <a:solidFill>
                <a:srgbClr val="000000"/>
              </a:solidFill>
              <a:latin typeface="Google Sans Text"/>
            </a:endParaRPr>
          </a:p>
          <a:p>
            <a:pPr algn="l"/>
            <a:r>
              <a:rPr lang="zh-TW" altLang="en-US" sz="2700" dirty="0">
                <a:solidFill>
                  <a:srgbClr val="000000"/>
                </a:solidFill>
                <a:latin typeface="Microsoft JhengHei"/>
                <a:ea typeface="Microsoft JhengHei"/>
                <a:cs typeface="Microsoft JhengHei"/>
              </a:rPr>
              <a:t> 病史詢問、身體檢查、溝通技巧、操作技能、臨床推理及專業素養</a:t>
            </a:r>
            <a:endParaRPr lang="zh-TW" altLang="en-US" sz="2700" dirty="0"/>
          </a:p>
        </p:txBody>
      </p:sp>
    </p:spTree>
    <p:extLst>
      <p:ext uri="{BB962C8B-B14F-4D97-AF65-F5344CB8AC3E}">
        <p14:creationId xmlns:p14="http://schemas.microsoft.com/office/powerpoint/2010/main" val="11317411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641080" y="4828032"/>
            <a:ext cx="365760" cy="274320"/>
          </a:xfrm>
          <a:prstGeom prst="rect">
            <a:avLst/>
          </a:prstGeom>
          <a:noFill/>
          <a:ln/>
        </p:spPr>
        <p:txBody>
          <a:bodyPr wrap="square" lIns="0" tIns="0" rIns="0" bIns="0" rtlCol="0" anchor="ctr"/>
          <a:lstStyle/>
          <a:p>
            <a:pPr marL="0" indent="0" algn="r">
              <a:buNone/>
            </a:pPr>
            <a:r>
              <a:rPr lang="en-US" sz="1000" dirty="0">
                <a:solidFill>
                  <a:srgbClr val="5B6B7F"/>
                </a:solidFill>
                <a:latin typeface="Microsoft JhengHei" pitchFamily="34" charset="0"/>
                <a:ea typeface="Microsoft JhengHei" pitchFamily="34" charset="-122"/>
                <a:cs typeface="Microsoft JhengHei" pitchFamily="34" charset="-120"/>
              </a:rPr>
              <a:t>3</a:t>
            </a:r>
            <a:endParaRPr lang="en-US" sz="1000" dirty="0"/>
          </a:p>
        </p:txBody>
      </p:sp>
      <p:sp>
        <p:nvSpPr>
          <p:cNvPr id="3" name="Text 1"/>
          <p:cNvSpPr/>
          <p:nvPr/>
        </p:nvSpPr>
        <p:spPr>
          <a:xfrm>
            <a:off x="502920" y="201168"/>
            <a:ext cx="8046720" cy="274320"/>
          </a:xfrm>
          <a:prstGeom prst="rect">
            <a:avLst/>
          </a:prstGeom>
          <a:noFill/>
          <a:ln/>
        </p:spPr>
        <p:txBody>
          <a:bodyPr wrap="square" lIns="0" tIns="0" rIns="0" bIns="0" rtlCol="0" anchor="ctr"/>
          <a:lstStyle/>
          <a:p>
            <a:pPr marL="0" indent="0">
              <a:buNone/>
            </a:pPr>
            <a:r>
              <a:rPr lang="en-US" sz="1200" b="1" kern="0" spc="200" dirty="0">
                <a:solidFill>
                  <a:srgbClr val="2E75B6"/>
                </a:solidFill>
                <a:latin typeface="Microsoft JhengHei" pitchFamily="34" charset="0"/>
                <a:ea typeface="Microsoft JhengHei" pitchFamily="34" charset="-122"/>
                <a:cs typeface="Microsoft JhengHei" pitchFamily="34" charset="-120"/>
              </a:rPr>
              <a:t>FOUNDATION</a:t>
            </a:r>
            <a:endParaRPr lang="en-US" sz="1200" dirty="0"/>
          </a:p>
        </p:txBody>
      </p:sp>
      <p:sp>
        <p:nvSpPr>
          <p:cNvPr id="4" name="Text 2"/>
          <p:cNvSpPr/>
          <p:nvPr/>
        </p:nvSpPr>
        <p:spPr>
          <a:xfrm>
            <a:off x="502920" y="457200"/>
            <a:ext cx="8138160" cy="566928"/>
          </a:xfrm>
          <a:prstGeom prst="rect">
            <a:avLst/>
          </a:prstGeom>
          <a:noFill/>
          <a:ln/>
        </p:spPr>
        <p:txBody>
          <a:bodyPr wrap="square" lIns="0" tIns="0" rIns="0" bIns="0" rtlCol="0" anchor="ctr"/>
          <a:lstStyle/>
          <a:p>
            <a:pPr marL="0" indent="0">
              <a:buNone/>
            </a:pPr>
            <a:r>
              <a:rPr lang="en-US" sz="2700" b="1" dirty="0">
                <a:solidFill>
                  <a:srgbClr val="1F4E79"/>
                </a:solidFill>
                <a:latin typeface="Microsoft JhengHei" pitchFamily="34" charset="0"/>
                <a:ea typeface="Microsoft JhengHei" pitchFamily="34" charset="-122"/>
                <a:cs typeface="Microsoft JhengHei" pitchFamily="34" charset="-120"/>
              </a:rPr>
              <a:t>OSCE 四個字母，四個出題要求</a:t>
            </a:r>
            <a:endParaRPr lang="en-US" sz="2700" dirty="0"/>
          </a:p>
        </p:txBody>
      </p:sp>
      <p:sp>
        <p:nvSpPr>
          <p:cNvPr id="5" name="Shape 3"/>
          <p:cNvSpPr/>
          <p:nvPr/>
        </p:nvSpPr>
        <p:spPr>
          <a:xfrm>
            <a:off x="502920" y="1188720"/>
            <a:ext cx="4023360" cy="1600200"/>
          </a:xfrm>
          <a:prstGeom prst="rect">
            <a:avLst/>
          </a:prstGeom>
          <a:solidFill>
            <a:srgbClr val="DEEBF7"/>
          </a:solidFill>
          <a:ln/>
        </p:spPr>
        <p:txBody>
          <a:bodyPr/>
          <a:lstStyle/>
          <a:p>
            <a:endParaRPr lang="zh-TW" altLang="en-US"/>
          </a:p>
        </p:txBody>
      </p:sp>
      <p:sp>
        <p:nvSpPr>
          <p:cNvPr id="6" name="Shape 4"/>
          <p:cNvSpPr/>
          <p:nvPr/>
        </p:nvSpPr>
        <p:spPr>
          <a:xfrm>
            <a:off x="502920" y="1188720"/>
            <a:ext cx="64008" cy="1600200"/>
          </a:xfrm>
          <a:prstGeom prst="rect">
            <a:avLst/>
          </a:prstGeom>
          <a:solidFill>
            <a:srgbClr val="2E75B6"/>
          </a:solidFill>
          <a:ln/>
        </p:spPr>
        <p:txBody>
          <a:bodyPr/>
          <a:lstStyle/>
          <a:p>
            <a:endParaRPr lang="zh-TW" altLang="en-US"/>
          </a:p>
        </p:txBody>
      </p:sp>
      <p:sp>
        <p:nvSpPr>
          <p:cNvPr id="7" name="Text 5"/>
          <p:cNvSpPr/>
          <p:nvPr/>
        </p:nvSpPr>
        <p:spPr>
          <a:xfrm>
            <a:off x="667512" y="1335024"/>
            <a:ext cx="822960" cy="822960"/>
          </a:xfrm>
          <a:prstGeom prst="rect">
            <a:avLst/>
          </a:prstGeom>
          <a:noFill/>
          <a:ln/>
        </p:spPr>
        <p:txBody>
          <a:bodyPr wrap="square" lIns="0" tIns="0" rIns="0" bIns="0" rtlCol="0" anchor="ctr"/>
          <a:lstStyle/>
          <a:p>
            <a:pPr marL="0" indent="0">
              <a:buNone/>
            </a:pPr>
            <a:r>
              <a:rPr lang="en-US" sz="4400" b="1" dirty="0">
                <a:solidFill>
                  <a:srgbClr val="2E75B6"/>
                </a:solidFill>
                <a:latin typeface="Microsoft JhengHei" pitchFamily="34" charset="0"/>
                <a:ea typeface="Microsoft JhengHei" pitchFamily="34" charset="-122"/>
                <a:cs typeface="Microsoft JhengHei" pitchFamily="34" charset="-120"/>
              </a:rPr>
              <a:t>O</a:t>
            </a:r>
            <a:endParaRPr lang="en-US" sz="4400" dirty="0"/>
          </a:p>
        </p:txBody>
      </p:sp>
      <p:sp>
        <p:nvSpPr>
          <p:cNvPr id="8" name="Text 6"/>
          <p:cNvSpPr/>
          <p:nvPr/>
        </p:nvSpPr>
        <p:spPr>
          <a:xfrm>
            <a:off x="1508760" y="1316736"/>
            <a:ext cx="2880360" cy="1371600"/>
          </a:xfrm>
          <a:prstGeom prst="rect">
            <a:avLst/>
          </a:prstGeom>
          <a:noFill/>
          <a:ln/>
        </p:spPr>
        <p:txBody>
          <a:bodyPr wrap="square" lIns="0" tIns="0" rIns="0" bIns="0" rtlCol="0" anchor="ctr"/>
          <a:lstStyle/>
          <a:p>
            <a:pPr marL="0" indent="0">
              <a:lnSpc>
                <a:spcPct val="110000"/>
              </a:lnSpc>
              <a:buNone/>
            </a:pPr>
            <a:r>
              <a:rPr lang="en-US" sz="1500" b="1" dirty="0">
                <a:solidFill>
                  <a:srgbClr val="1F4E79"/>
                </a:solidFill>
                <a:latin typeface="Microsoft JhengHei" pitchFamily="34" charset="0"/>
                <a:ea typeface="Microsoft JhengHei" pitchFamily="34" charset="-122"/>
                <a:cs typeface="Microsoft JhengHei" pitchFamily="34" charset="-120"/>
              </a:rPr>
              <a:t>Objective 客觀</a:t>
            </a:r>
            <a:endParaRPr lang="en-US" sz="1500" dirty="0"/>
          </a:p>
          <a:p>
            <a:pPr marL="0" indent="0">
              <a:lnSpc>
                <a:spcPct val="110000"/>
              </a:lnSpc>
              <a:buNone/>
            </a:pPr>
            <a:r>
              <a:rPr lang="en-US" sz="1200" dirty="0">
                <a:solidFill>
                  <a:srgbClr val="1F2937"/>
                </a:solidFill>
                <a:latin typeface="Microsoft JhengHei" pitchFamily="34" charset="0"/>
                <a:ea typeface="Microsoft JhengHei" pitchFamily="34" charset="-122"/>
                <a:cs typeface="Microsoft JhengHei" pitchFamily="34" charset="-120"/>
              </a:rPr>
              <a:t>以具詳細操作型定義的標準化檢核表評分，得分標準明確</a:t>
            </a:r>
            <a:endParaRPr lang="en-US" sz="1500" dirty="0"/>
          </a:p>
        </p:txBody>
      </p:sp>
      <p:sp>
        <p:nvSpPr>
          <p:cNvPr id="9" name="Shape 7"/>
          <p:cNvSpPr/>
          <p:nvPr/>
        </p:nvSpPr>
        <p:spPr>
          <a:xfrm>
            <a:off x="4709160" y="1188720"/>
            <a:ext cx="4023360" cy="1600200"/>
          </a:xfrm>
          <a:prstGeom prst="rect">
            <a:avLst/>
          </a:prstGeom>
          <a:solidFill>
            <a:srgbClr val="DEEBF7"/>
          </a:solidFill>
          <a:ln/>
        </p:spPr>
        <p:txBody>
          <a:bodyPr/>
          <a:lstStyle/>
          <a:p>
            <a:endParaRPr lang="zh-TW" altLang="en-US"/>
          </a:p>
        </p:txBody>
      </p:sp>
      <p:sp>
        <p:nvSpPr>
          <p:cNvPr id="10" name="Shape 8"/>
          <p:cNvSpPr/>
          <p:nvPr/>
        </p:nvSpPr>
        <p:spPr>
          <a:xfrm>
            <a:off x="4709160" y="1188720"/>
            <a:ext cx="64008" cy="1600200"/>
          </a:xfrm>
          <a:prstGeom prst="rect">
            <a:avLst/>
          </a:prstGeom>
          <a:solidFill>
            <a:srgbClr val="2E75B6"/>
          </a:solidFill>
          <a:ln/>
        </p:spPr>
        <p:txBody>
          <a:bodyPr/>
          <a:lstStyle/>
          <a:p>
            <a:endParaRPr lang="zh-TW" altLang="en-US"/>
          </a:p>
        </p:txBody>
      </p:sp>
      <p:sp>
        <p:nvSpPr>
          <p:cNvPr id="11" name="Text 9"/>
          <p:cNvSpPr/>
          <p:nvPr/>
        </p:nvSpPr>
        <p:spPr>
          <a:xfrm>
            <a:off x="4873752" y="1335024"/>
            <a:ext cx="822960" cy="822960"/>
          </a:xfrm>
          <a:prstGeom prst="rect">
            <a:avLst/>
          </a:prstGeom>
          <a:noFill/>
          <a:ln/>
        </p:spPr>
        <p:txBody>
          <a:bodyPr wrap="square" lIns="0" tIns="0" rIns="0" bIns="0" rtlCol="0" anchor="ctr"/>
          <a:lstStyle/>
          <a:p>
            <a:pPr marL="0" indent="0">
              <a:buNone/>
            </a:pPr>
            <a:r>
              <a:rPr lang="en-US" sz="4400" b="1" dirty="0">
                <a:solidFill>
                  <a:srgbClr val="2E75B6"/>
                </a:solidFill>
                <a:latin typeface="Microsoft JhengHei" pitchFamily="34" charset="0"/>
                <a:ea typeface="Microsoft JhengHei" pitchFamily="34" charset="-122"/>
                <a:cs typeface="Microsoft JhengHei" pitchFamily="34" charset="-120"/>
              </a:rPr>
              <a:t>S</a:t>
            </a:r>
            <a:endParaRPr lang="en-US" sz="4400" dirty="0"/>
          </a:p>
        </p:txBody>
      </p:sp>
      <p:sp>
        <p:nvSpPr>
          <p:cNvPr id="12" name="Text 10"/>
          <p:cNvSpPr/>
          <p:nvPr/>
        </p:nvSpPr>
        <p:spPr>
          <a:xfrm>
            <a:off x="5715000" y="1316736"/>
            <a:ext cx="2880360" cy="1371600"/>
          </a:xfrm>
          <a:prstGeom prst="rect">
            <a:avLst/>
          </a:prstGeom>
          <a:noFill/>
          <a:ln/>
        </p:spPr>
        <p:txBody>
          <a:bodyPr wrap="square" lIns="0" tIns="0" rIns="0" bIns="0" rtlCol="0" anchor="ctr"/>
          <a:lstStyle/>
          <a:p>
            <a:pPr marL="0" indent="0">
              <a:lnSpc>
                <a:spcPct val="110000"/>
              </a:lnSpc>
              <a:buNone/>
            </a:pPr>
            <a:r>
              <a:rPr lang="en-US" sz="1500" b="1" dirty="0">
                <a:solidFill>
                  <a:srgbClr val="1F4E79"/>
                </a:solidFill>
                <a:latin typeface="Microsoft JhengHei" pitchFamily="34" charset="0"/>
                <a:ea typeface="Microsoft JhengHei" pitchFamily="34" charset="-122"/>
                <a:cs typeface="Microsoft JhengHei" pitchFamily="34" charset="-120"/>
              </a:rPr>
              <a:t>Structured 結構</a:t>
            </a:r>
            <a:endParaRPr lang="en-US" sz="1500" dirty="0"/>
          </a:p>
          <a:p>
            <a:pPr marL="0" indent="0">
              <a:lnSpc>
                <a:spcPct val="110000"/>
              </a:lnSpc>
              <a:buNone/>
            </a:pPr>
            <a:r>
              <a:rPr lang="en-US" sz="1200" dirty="0">
                <a:solidFill>
                  <a:srgbClr val="1F2937"/>
                </a:solidFill>
                <a:latin typeface="Microsoft JhengHei" pitchFamily="34" charset="0"/>
                <a:ea typeface="Microsoft JhengHei" pitchFamily="34" charset="-122"/>
                <a:cs typeface="Microsoft JhengHei" pitchFamily="34" charset="-120"/>
              </a:rPr>
              <a:t>每位考生面對相同訊息、相同任務——不能「一個問題各自解讀」</a:t>
            </a:r>
            <a:endParaRPr lang="en-US" sz="1500" dirty="0"/>
          </a:p>
        </p:txBody>
      </p:sp>
      <p:sp>
        <p:nvSpPr>
          <p:cNvPr id="13" name="Shape 11"/>
          <p:cNvSpPr/>
          <p:nvPr/>
        </p:nvSpPr>
        <p:spPr>
          <a:xfrm>
            <a:off x="502920" y="2971800"/>
            <a:ext cx="4023360" cy="1600200"/>
          </a:xfrm>
          <a:prstGeom prst="rect">
            <a:avLst/>
          </a:prstGeom>
          <a:solidFill>
            <a:srgbClr val="DEEBF7"/>
          </a:solidFill>
          <a:ln/>
        </p:spPr>
        <p:txBody>
          <a:bodyPr/>
          <a:lstStyle/>
          <a:p>
            <a:endParaRPr lang="zh-TW" altLang="en-US"/>
          </a:p>
        </p:txBody>
      </p:sp>
      <p:sp>
        <p:nvSpPr>
          <p:cNvPr id="14" name="Shape 12"/>
          <p:cNvSpPr/>
          <p:nvPr/>
        </p:nvSpPr>
        <p:spPr>
          <a:xfrm>
            <a:off x="502920" y="2971800"/>
            <a:ext cx="64008" cy="1600200"/>
          </a:xfrm>
          <a:prstGeom prst="rect">
            <a:avLst/>
          </a:prstGeom>
          <a:solidFill>
            <a:srgbClr val="2E75B6"/>
          </a:solidFill>
          <a:ln/>
        </p:spPr>
        <p:txBody>
          <a:bodyPr/>
          <a:lstStyle/>
          <a:p>
            <a:endParaRPr lang="zh-TW" altLang="en-US"/>
          </a:p>
        </p:txBody>
      </p:sp>
      <p:sp>
        <p:nvSpPr>
          <p:cNvPr id="15" name="Text 13"/>
          <p:cNvSpPr/>
          <p:nvPr/>
        </p:nvSpPr>
        <p:spPr>
          <a:xfrm>
            <a:off x="667512" y="3118104"/>
            <a:ext cx="822960" cy="822960"/>
          </a:xfrm>
          <a:prstGeom prst="rect">
            <a:avLst/>
          </a:prstGeom>
          <a:noFill/>
          <a:ln/>
        </p:spPr>
        <p:txBody>
          <a:bodyPr wrap="square" lIns="0" tIns="0" rIns="0" bIns="0" rtlCol="0" anchor="ctr"/>
          <a:lstStyle/>
          <a:p>
            <a:pPr marL="0" indent="0">
              <a:buNone/>
            </a:pPr>
            <a:r>
              <a:rPr lang="en-US" sz="4400" b="1" dirty="0">
                <a:solidFill>
                  <a:srgbClr val="2E75B6"/>
                </a:solidFill>
                <a:latin typeface="Microsoft JhengHei" pitchFamily="34" charset="0"/>
                <a:ea typeface="Microsoft JhengHei" pitchFamily="34" charset="-122"/>
                <a:cs typeface="Microsoft JhengHei" pitchFamily="34" charset="-120"/>
              </a:rPr>
              <a:t>C</a:t>
            </a:r>
            <a:endParaRPr lang="en-US" sz="4400" dirty="0"/>
          </a:p>
        </p:txBody>
      </p:sp>
      <p:sp>
        <p:nvSpPr>
          <p:cNvPr id="16" name="Text 14"/>
          <p:cNvSpPr/>
          <p:nvPr/>
        </p:nvSpPr>
        <p:spPr>
          <a:xfrm>
            <a:off x="1508760" y="3099816"/>
            <a:ext cx="2880360" cy="1371600"/>
          </a:xfrm>
          <a:prstGeom prst="rect">
            <a:avLst/>
          </a:prstGeom>
          <a:noFill/>
          <a:ln/>
        </p:spPr>
        <p:txBody>
          <a:bodyPr wrap="square" lIns="0" tIns="0" rIns="0" bIns="0" rtlCol="0" anchor="ctr"/>
          <a:lstStyle/>
          <a:p>
            <a:pPr marL="0" indent="0">
              <a:lnSpc>
                <a:spcPct val="110000"/>
              </a:lnSpc>
              <a:buNone/>
            </a:pPr>
            <a:r>
              <a:rPr lang="en-US" sz="1500" b="1" dirty="0">
                <a:solidFill>
                  <a:srgbClr val="1F4E79"/>
                </a:solidFill>
                <a:latin typeface="Microsoft JhengHei" pitchFamily="34" charset="0"/>
                <a:ea typeface="Microsoft JhengHei" pitchFamily="34" charset="-122"/>
                <a:cs typeface="Microsoft JhengHei" pitchFamily="34" charset="-120"/>
              </a:rPr>
              <a:t>Clinical 臨床</a:t>
            </a:r>
            <a:endParaRPr lang="en-US" sz="1500" dirty="0"/>
          </a:p>
          <a:p>
            <a:pPr marL="0" indent="0">
              <a:lnSpc>
                <a:spcPct val="110000"/>
              </a:lnSpc>
              <a:buNone/>
            </a:pPr>
            <a:r>
              <a:rPr lang="en-US" sz="1200" dirty="0">
                <a:solidFill>
                  <a:srgbClr val="1F2937"/>
                </a:solidFill>
                <a:latin typeface="Microsoft JhengHei" pitchFamily="34" charset="0"/>
                <a:ea typeface="Microsoft JhengHei" pitchFamily="34" charset="-122"/>
                <a:cs typeface="Microsoft JhengHei" pitchFamily="34" charset="-120"/>
              </a:rPr>
              <a:t>命題源自真實臨床場景，反映臨床處置能力；從日常實務出題</a:t>
            </a:r>
            <a:endParaRPr lang="en-US" sz="1500" dirty="0"/>
          </a:p>
        </p:txBody>
      </p:sp>
      <p:sp>
        <p:nvSpPr>
          <p:cNvPr id="17" name="Shape 15"/>
          <p:cNvSpPr/>
          <p:nvPr/>
        </p:nvSpPr>
        <p:spPr>
          <a:xfrm>
            <a:off x="4709160" y="2971800"/>
            <a:ext cx="4023360" cy="1600200"/>
          </a:xfrm>
          <a:prstGeom prst="rect">
            <a:avLst/>
          </a:prstGeom>
          <a:solidFill>
            <a:srgbClr val="DEEBF7"/>
          </a:solidFill>
          <a:ln/>
        </p:spPr>
        <p:txBody>
          <a:bodyPr/>
          <a:lstStyle/>
          <a:p>
            <a:endParaRPr lang="zh-TW" altLang="en-US"/>
          </a:p>
        </p:txBody>
      </p:sp>
      <p:sp>
        <p:nvSpPr>
          <p:cNvPr id="18" name="Shape 16"/>
          <p:cNvSpPr/>
          <p:nvPr/>
        </p:nvSpPr>
        <p:spPr>
          <a:xfrm>
            <a:off x="4709160" y="2971800"/>
            <a:ext cx="64008" cy="1600200"/>
          </a:xfrm>
          <a:prstGeom prst="rect">
            <a:avLst/>
          </a:prstGeom>
          <a:solidFill>
            <a:srgbClr val="2E75B6"/>
          </a:solidFill>
          <a:ln/>
        </p:spPr>
        <p:txBody>
          <a:bodyPr/>
          <a:lstStyle/>
          <a:p>
            <a:endParaRPr lang="zh-TW" altLang="en-US"/>
          </a:p>
        </p:txBody>
      </p:sp>
      <p:sp>
        <p:nvSpPr>
          <p:cNvPr id="19" name="Text 17"/>
          <p:cNvSpPr/>
          <p:nvPr/>
        </p:nvSpPr>
        <p:spPr>
          <a:xfrm>
            <a:off x="4873752" y="3118104"/>
            <a:ext cx="822960" cy="822960"/>
          </a:xfrm>
          <a:prstGeom prst="rect">
            <a:avLst/>
          </a:prstGeom>
          <a:noFill/>
          <a:ln/>
        </p:spPr>
        <p:txBody>
          <a:bodyPr wrap="square" lIns="0" tIns="0" rIns="0" bIns="0" rtlCol="0" anchor="ctr"/>
          <a:lstStyle/>
          <a:p>
            <a:pPr marL="0" indent="0">
              <a:buNone/>
            </a:pPr>
            <a:r>
              <a:rPr lang="en-US" sz="4400" b="1" dirty="0">
                <a:solidFill>
                  <a:srgbClr val="2E75B6"/>
                </a:solidFill>
                <a:latin typeface="Microsoft JhengHei" pitchFamily="34" charset="0"/>
                <a:ea typeface="Microsoft JhengHei" pitchFamily="34" charset="-122"/>
                <a:cs typeface="Microsoft JhengHei" pitchFamily="34" charset="-120"/>
              </a:rPr>
              <a:t>E</a:t>
            </a:r>
            <a:endParaRPr lang="en-US" sz="4400" dirty="0"/>
          </a:p>
        </p:txBody>
      </p:sp>
      <p:sp>
        <p:nvSpPr>
          <p:cNvPr id="20" name="Text 18"/>
          <p:cNvSpPr/>
          <p:nvPr/>
        </p:nvSpPr>
        <p:spPr>
          <a:xfrm>
            <a:off x="5715000" y="3099816"/>
            <a:ext cx="2880360" cy="1371600"/>
          </a:xfrm>
          <a:prstGeom prst="rect">
            <a:avLst/>
          </a:prstGeom>
          <a:noFill/>
          <a:ln/>
        </p:spPr>
        <p:txBody>
          <a:bodyPr wrap="square" lIns="0" tIns="0" rIns="0" bIns="0" rtlCol="0" anchor="ctr"/>
          <a:lstStyle/>
          <a:p>
            <a:pPr marL="0" indent="0">
              <a:lnSpc>
                <a:spcPct val="110000"/>
              </a:lnSpc>
              <a:buNone/>
            </a:pPr>
            <a:r>
              <a:rPr lang="en-US" sz="1500" b="1" dirty="0">
                <a:solidFill>
                  <a:srgbClr val="1F4E79"/>
                </a:solidFill>
                <a:latin typeface="Microsoft JhengHei" pitchFamily="34" charset="0"/>
                <a:ea typeface="Microsoft JhengHei" pitchFamily="34" charset="-122"/>
                <a:cs typeface="Microsoft JhengHei" pitchFamily="34" charset="-120"/>
              </a:rPr>
              <a:t>Examination 測驗</a:t>
            </a:r>
            <a:endParaRPr lang="en-US" sz="1500" dirty="0"/>
          </a:p>
          <a:p>
            <a:pPr marL="0" indent="0">
              <a:lnSpc>
                <a:spcPct val="110000"/>
              </a:lnSpc>
              <a:buNone/>
            </a:pPr>
            <a:r>
              <a:rPr lang="en-US" sz="1200" dirty="0">
                <a:solidFill>
                  <a:srgbClr val="1F2937"/>
                </a:solidFill>
                <a:latin typeface="Microsoft JhengHei" pitchFamily="34" charset="0"/>
                <a:ea typeface="Microsoft JhengHei" pitchFamily="34" charset="-122"/>
                <a:cs typeface="Microsoft JhengHei" pitchFamily="34" charset="-120"/>
              </a:rPr>
              <a:t>考試引導教學：形成性或總結性回饋，雙向影響課程與學習</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9A3EC0B-6D93-85B5-30B1-96A0331BD153}"/>
              </a:ext>
            </a:extLst>
          </p:cNvPr>
          <p:cNvSpPr>
            <a:spLocks noGrp="1"/>
          </p:cNvSpPr>
          <p:nvPr>
            <p:ph type="title"/>
          </p:nvPr>
        </p:nvSpPr>
        <p:spPr>
          <a:xfrm>
            <a:off x="473202" y="371995"/>
            <a:ext cx="3146355" cy="4229123"/>
          </a:xfrm>
          <a:noFill/>
        </p:spPr>
        <p:txBody>
          <a:bodyPr anchor="ctr">
            <a:normAutofit/>
          </a:bodyPr>
          <a:lstStyle/>
          <a:p>
            <a:pPr algn="l"/>
            <a:r>
              <a:rPr lang="en-US" altLang="zh-TW" sz="2800" dirty="0" b="1">
                <a:solidFill>
                  <a:srgbClr val="1F4E79"/>
                </a:solidFill>
                <a:latin typeface="Microsoft JhengHei"/>
                <a:ea typeface="Microsoft JhengHei"/>
                <a:cs typeface="Microsoft JhengHei"/>
              </a:rPr>
              <a:t>OSCE</a:t>
            </a:r>
            <a:endParaRPr lang="zh-TW" altLang="en-US" sz="7200" dirty="0"/>
          </a:p>
        </p:txBody>
      </p:sp>
      <p:graphicFrame>
        <p:nvGraphicFramePr>
          <p:cNvPr id="5" name="內容版面配置區 2">
            <a:extLst>
              <a:ext uri="{FF2B5EF4-FFF2-40B4-BE49-F238E27FC236}">
                <a16:creationId xmlns:a16="http://schemas.microsoft.com/office/drawing/2014/main" id="{36120FF0-51F8-0833-9201-1EBA443C998C}"/>
              </a:ext>
            </a:extLst>
          </p:cNvPr>
          <p:cNvGraphicFramePr>
            <a:graphicFrameLocks noGrp="1"/>
          </p:cNvGraphicFramePr>
          <p:nvPr>
            <p:ph idx="1"/>
          </p:nvPr>
        </p:nvGraphicFramePr>
        <p:xfrm>
          <a:off x="3686960" y="649939"/>
          <a:ext cx="4690292" cy="37921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341359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0F12451-4D8A-E3A5-9DC1-D522D15FB001}"/>
              </a:ext>
            </a:extLst>
          </p:cNvPr>
          <p:cNvSpPr>
            <a:spLocks noGrp="1"/>
          </p:cNvSpPr>
          <p:nvPr>
            <p:ph type="title"/>
          </p:nvPr>
        </p:nvSpPr>
        <p:spPr/>
        <p:txBody>
          <a:bodyPr/>
          <a:lstStyle/>
          <a:p>
            <a:pPr algn="l"/>
            <a:r>
              <a:rPr lang="en-US" altLang="zh-TW" dirty="0" b="1" sz="2800">
                <a:solidFill>
                  <a:srgbClr val="1F4E79"/>
                </a:solidFill>
                <a:latin typeface="Microsoft JhengHei"/>
                <a:ea typeface="Microsoft JhengHei"/>
                <a:cs typeface="Microsoft JhengHei"/>
              </a:rPr>
              <a:t>OSCE</a:t>
            </a:r>
            <a:r>
              <a:rPr lang="zh-TW" altLang="en-US" dirty="0" b="1" sz="2800">
                <a:solidFill>
                  <a:srgbClr val="1F4E79"/>
                </a:solidFill>
                <a:latin typeface="Microsoft JhengHei"/>
                <a:ea typeface="Microsoft JhengHei"/>
                <a:cs typeface="Microsoft JhengHei"/>
              </a:rPr>
              <a:t>在臨床教學中的角色</a:t>
            </a:r>
          </a:p>
        </p:txBody>
      </p:sp>
      <p:sp>
        <p:nvSpPr>
          <p:cNvPr id="3" name="內容版面配置區 2">
            <a:extLst>
              <a:ext uri="{FF2B5EF4-FFF2-40B4-BE49-F238E27FC236}">
                <a16:creationId xmlns:a16="http://schemas.microsoft.com/office/drawing/2014/main" id="{6E41203F-28E8-64EF-0DC6-74ADF7888F2B}"/>
              </a:ext>
            </a:extLst>
          </p:cNvPr>
          <p:cNvSpPr>
            <a:spLocks noGrp="1"/>
          </p:cNvSpPr>
          <p:nvPr>
            <p:ph idx="1"/>
          </p:nvPr>
        </p:nvSpPr>
        <p:spPr/>
        <p:txBody>
          <a:bodyPr/>
          <a:lstStyle/>
          <a:p>
            <a:pPr algn="l"/>
            <a:r>
              <a:rPr lang="zh-TW" altLang="en-US" dirty="0">
                <a:latin typeface="Microsoft JhengHei" panose="020B0604030504040204" pitchFamily="34" charset="-120"/>
                <a:ea typeface="Microsoft JhengHei" panose="020B0604030504040204" pitchFamily="34" charset="-120"/>
                <a:cs typeface="Microsoft JhengHei"/>
              </a:rPr>
              <a:t>一種評量方式</a:t>
            </a:r>
            <a:r>
              <a:rPr lang="en-US" altLang="zh-TW" dirty="0">
                <a:latin typeface="Microsoft JhengHei" panose="020B0604030504040204" pitchFamily="34" charset="-120"/>
                <a:ea typeface="Microsoft JhengHei" panose="020B0604030504040204" pitchFamily="34" charset="-120"/>
                <a:cs typeface="Microsoft JhengHei"/>
              </a:rPr>
              <a:t>:</a:t>
            </a:r>
            <a:r>
              <a:rPr lang="zh-TW" altLang="en-US" dirty="0">
                <a:latin typeface="Microsoft JhengHei" panose="020B0604030504040204" pitchFamily="34" charset="-120"/>
                <a:ea typeface="Microsoft JhengHei" panose="020B0604030504040204" pitchFamily="34" charset="-120"/>
                <a:cs typeface="Microsoft JhengHei"/>
              </a:rPr>
              <a:t>那有沒有其他評量</a:t>
            </a:r>
            <a:r>
              <a:rPr lang="en-US" altLang="zh-TW" dirty="0">
                <a:latin typeface="Microsoft JhengHei" panose="020B0604030504040204" pitchFamily="34" charset="-120"/>
                <a:ea typeface="Microsoft JhengHei" panose="020B0604030504040204" pitchFamily="34" charset="-120"/>
                <a:cs typeface="Microsoft JhengHei"/>
              </a:rPr>
              <a:t>?</a:t>
            </a:r>
          </a:p>
          <a:p>
            <a:pPr algn="l"/>
            <a:endParaRPr lang="en-US" altLang="zh-TW" dirty="0">
              <a:latin typeface="微軟正黑體" panose="020B0604030504040204" pitchFamily="34" charset="-120"/>
              <a:ea typeface="微軟正黑體" panose="020B0604030504040204" pitchFamily="34" charset="-120"/>
            </a:endParaRPr>
          </a:p>
          <a:p>
            <a:pPr algn="l"/>
            <a:r>
              <a:rPr lang="zh-TW" altLang="en-US" dirty="0">
                <a:latin typeface="Microsoft JhengHei" panose="020B0604030504040204" pitchFamily="34" charset="-120"/>
                <a:ea typeface="Microsoft JhengHei" panose="020B0604030504040204" pitchFamily="34" charset="-120"/>
                <a:cs typeface="Microsoft JhengHei"/>
              </a:rPr>
              <a:t>有病人</a:t>
            </a:r>
            <a:r>
              <a:rPr lang="en-US" altLang="zh-TW" dirty="0">
                <a:latin typeface="Microsoft JhengHei" panose="020B0604030504040204" pitchFamily="34" charset="-120"/>
                <a:ea typeface="Microsoft JhengHei" panose="020B0604030504040204" pitchFamily="34" charset="-120"/>
                <a:cs typeface="Microsoft JhengHei"/>
              </a:rPr>
              <a:t>(</a:t>
            </a:r>
            <a:r>
              <a:rPr lang="zh-TW" altLang="en-US" dirty="0">
                <a:latin typeface="Microsoft JhengHei" panose="020B0604030504040204" pitchFamily="34" charset="-120"/>
                <a:ea typeface="Microsoft JhengHei" panose="020B0604030504040204" pitchFamily="34" charset="-120"/>
                <a:cs typeface="Microsoft JhengHei"/>
              </a:rPr>
              <a:t>或模具</a:t>
            </a:r>
            <a:r>
              <a:rPr lang="en-US" altLang="zh-TW" dirty="0">
                <a:latin typeface="Microsoft JhengHei" panose="020B0604030504040204" pitchFamily="34" charset="-120"/>
                <a:ea typeface="Microsoft JhengHei" panose="020B0604030504040204" pitchFamily="34" charset="-120"/>
                <a:cs typeface="Microsoft JhengHei"/>
              </a:rPr>
              <a:t>)</a:t>
            </a:r>
            <a:r>
              <a:rPr lang="zh-TW" altLang="en-US" dirty="0">
                <a:latin typeface="Microsoft JhengHei" panose="020B0604030504040204" pitchFamily="34" charset="-120"/>
                <a:ea typeface="Microsoft JhengHei" panose="020B0604030504040204" pitchFamily="34" charset="-120"/>
                <a:cs typeface="Microsoft JhengHei"/>
              </a:rPr>
              <a:t>、標準化</a:t>
            </a:r>
            <a:endParaRPr lang="en-US" altLang="zh-TW" dirty="0">
              <a:latin typeface="微軟正黑體" panose="020B0604030504040204" pitchFamily="34" charset="-120"/>
              <a:ea typeface="微軟正黑體" panose="020B0604030504040204" pitchFamily="34" charset="-120"/>
            </a:endParaRPr>
          </a:p>
          <a:p>
            <a:pPr algn="l"/>
            <a:endParaRPr lang="en-US" altLang="zh-TW" dirty="0">
              <a:latin typeface="微軟正黑體" panose="020B0604030504040204" pitchFamily="34" charset="-120"/>
              <a:ea typeface="微軟正黑體" panose="020B0604030504040204" pitchFamily="34" charset="-120"/>
            </a:endParaRPr>
          </a:p>
          <a:p>
            <a:pPr algn="l"/>
            <a:r>
              <a:rPr lang="zh-TW" altLang="en-US" dirty="0">
                <a:latin typeface="Microsoft JhengHei" panose="020B0604030504040204" pitchFamily="34" charset="-120"/>
                <a:ea typeface="Microsoft JhengHei" panose="020B0604030504040204" pitchFamily="34" charset="-120"/>
                <a:cs typeface="Microsoft JhengHei"/>
              </a:rPr>
              <a:t>臨床</a:t>
            </a:r>
            <a:r>
              <a:rPr lang="en-US" altLang="zh-TW" dirty="0">
                <a:latin typeface="Microsoft JhengHei" panose="020B0604030504040204" pitchFamily="34" charset="-120"/>
                <a:ea typeface="Microsoft JhengHei" panose="020B0604030504040204" pitchFamily="34" charset="-120"/>
                <a:cs typeface="Microsoft JhengHei"/>
              </a:rPr>
              <a:t>/</a:t>
            </a:r>
            <a:r>
              <a:rPr lang="zh-TW" altLang="en-US" dirty="0">
                <a:latin typeface="Microsoft JhengHei" panose="020B0604030504040204" pitchFamily="34" charset="-120"/>
                <a:ea typeface="Microsoft JhengHei" panose="020B0604030504040204" pitchFamily="34" charset="-120"/>
                <a:cs typeface="Microsoft JhengHei"/>
              </a:rPr>
              <a:t>技能操作</a:t>
            </a:r>
            <a:endParaRPr lang="en-US" altLang="zh-TW" dirty="0">
              <a:latin typeface="微軟正黑體" panose="020B0604030504040204" pitchFamily="34" charset="-120"/>
              <a:ea typeface="微軟正黑體" panose="020B0604030504040204" pitchFamily="34" charset="-120"/>
            </a:endParaRPr>
          </a:p>
          <a:p>
            <a:pPr algn="l"/>
            <a:endParaRPr lang="en-US" altLang="zh-TW" dirty="0">
              <a:latin typeface="微軟正黑體" panose="020B0604030504040204" pitchFamily="34" charset="-120"/>
              <a:ea typeface="微軟正黑體" panose="020B0604030504040204" pitchFamily="34" charset="-120"/>
            </a:endParaRPr>
          </a:p>
          <a:p>
            <a:pPr algn="l"/>
            <a:r>
              <a:rPr lang="zh-TW" altLang="en-US" dirty="0">
                <a:latin typeface="Microsoft JhengHei" panose="020B0604030504040204" pitchFamily="34" charset="-120"/>
                <a:ea typeface="Microsoft JhengHei" panose="020B0604030504040204" pitchFamily="34" charset="-120"/>
                <a:cs typeface="Microsoft JhengHei"/>
              </a:rPr>
              <a:t>容許犯錯</a:t>
            </a:r>
            <a:r>
              <a:rPr lang="en-US" altLang="zh-TW" dirty="0">
                <a:latin typeface="Microsoft JhengHei" panose="020B0604030504040204" pitchFamily="34" charset="-120"/>
                <a:ea typeface="Microsoft JhengHei" panose="020B0604030504040204" pitchFamily="34" charset="-120"/>
                <a:cs typeface="Microsoft JhengHei"/>
              </a:rPr>
              <a:t>(</a:t>
            </a:r>
            <a:r>
              <a:rPr lang="zh-TW" altLang="en-US" dirty="0">
                <a:latin typeface="Microsoft JhengHei" panose="020B0604030504040204" pitchFamily="34" charset="-120"/>
                <a:ea typeface="Microsoft JhengHei" panose="020B0604030504040204" pitchFamily="34" charset="-120"/>
                <a:cs typeface="Microsoft JhengHei"/>
              </a:rPr>
              <a:t>形成式教學</a:t>
            </a:r>
            <a:r>
              <a:rPr lang="en-US" altLang="zh-TW" dirty="0">
                <a:latin typeface="Microsoft JhengHei" panose="020B0604030504040204" pitchFamily="34" charset="-120"/>
                <a:ea typeface="Microsoft JhengHei" panose="020B0604030504040204" pitchFamily="34" charset="-120"/>
                <a:cs typeface="Microsoft JhengHei"/>
              </a:rPr>
              <a:t>)</a:t>
            </a:r>
            <a:endParaRPr lang="zh-TW" altLang="en-US"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4027549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C363A2E-3A2A-6D49-BE85-6370D4840A70}"/>
              </a:ext>
            </a:extLst>
          </p:cNvPr>
          <p:cNvSpPr>
            <a:spLocks noGrp="1"/>
          </p:cNvSpPr>
          <p:nvPr>
            <p:ph type="title"/>
          </p:nvPr>
        </p:nvSpPr>
        <p:spPr/>
        <p:txBody>
          <a:bodyPr/>
          <a:lstStyle/>
          <a:p>
            <a:pPr algn="l"/>
            <a:r>
              <a:rPr lang="zh-TW" altLang="en-US" dirty="0" b="1" sz="2800">
                <a:solidFill>
                  <a:srgbClr val="1F4E79"/>
                </a:solidFill>
                <a:latin typeface="Microsoft JhengHei"/>
                <a:ea typeface="Microsoft JhengHei"/>
                <a:cs typeface="Microsoft JhengHei"/>
              </a:rPr>
              <a:t>一場考試有幾個人參與</a:t>
            </a:r>
          </a:p>
        </p:txBody>
      </p:sp>
      <p:sp>
        <p:nvSpPr>
          <p:cNvPr id="3" name="內容版面配置區 2">
            <a:extLst>
              <a:ext uri="{FF2B5EF4-FFF2-40B4-BE49-F238E27FC236}">
                <a16:creationId xmlns:a16="http://schemas.microsoft.com/office/drawing/2014/main" id="{D915D810-4EED-0626-8F4B-42F6D90E31C0}"/>
              </a:ext>
            </a:extLst>
          </p:cNvPr>
          <p:cNvSpPr>
            <a:spLocks noGrp="1"/>
          </p:cNvSpPr>
          <p:nvPr>
            <p:ph idx="1"/>
          </p:nvPr>
        </p:nvSpPr>
        <p:spPr/>
        <p:txBody>
          <a:bodyPr/>
          <a:lstStyle/>
          <a:p>
            <a:pPr algn="l"/>
            <a:r>
              <a:rPr lang="zh-TW" altLang="en-US" dirty="0">
                <a:latin typeface="Microsoft JhengHei" panose="020B0604030504040204" pitchFamily="34" charset="-120"/>
                <a:ea typeface="Microsoft JhengHei" panose="020B0604030504040204" pitchFamily="34" charset="-120"/>
                <a:cs typeface="Microsoft JhengHei"/>
              </a:rPr>
              <a:t>考生</a:t>
            </a:r>
            <a:endParaRPr lang="en-US" altLang="zh-TW" dirty="0">
              <a:latin typeface="微軟正黑體" panose="020B0604030504040204" pitchFamily="34" charset="-120"/>
              <a:ea typeface="微軟正黑體" panose="020B0604030504040204" pitchFamily="34" charset="-120"/>
            </a:endParaRPr>
          </a:p>
          <a:p>
            <a:pPr algn="l"/>
            <a:r>
              <a:rPr lang="zh-TW" altLang="en-US" dirty="0">
                <a:latin typeface="Microsoft JhengHei" panose="020B0604030504040204" pitchFamily="34" charset="-120"/>
                <a:ea typeface="Microsoft JhengHei" panose="020B0604030504040204" pitchFamily="34" charset="-120"/>
                <a:cs typeface="Microsoft JhengHei"/>
              </a:rPr>
              <a:t>標準化病人</a:t>
            </a:r>
            <a:endParaRPr lang="en-US" altLang="zh-TW" dirty="0">
              <a:latin typeface="微軟正黑體" panose="020B0604030504040204" pitchFamily="34" charset="-120"/>
              <a:ea typeface="微軟正黑體" panose="020B0604030504040204" pitchFamily="34" charset="-120"/>
            </a:endParaRPr>
          </a:p>
          <a:p>
            <a:pPr algn="l"/>
            <a:r>
              <a:rPr lang="zh-TW" altLang="en-US" dirty="0">
                <a:latin typeface="Microsoft JhengHei" panose="020B0604030504040204" pitchFamily="34" charset="-120"/>
                <a:ea typeface="Microsoft JhengHei" panose="020B0604030504040204" pitchFamily="34" charset="-120"/>
                <a:cs typeface="Microsoft JhengHei"/>
              </a:rPr>
              <a:t>考官</a:t>
            </a:r>
            <a:endParaRPr lang="en-US" altLang="zh-TW" dirty="0">
              <a:latin typeface="微軟正黑體" panose="020B0604030504040204" pitchFamily="34" charset="-120"/>
              <a:ea typeface="微軟正黑體" panose="020B0604030504040204" pitchFamily="34" charset="-120"/>
            </a:endParaRPr>
          </a:p>
          <a:p>
            <a:pPr algn="l"/>
            <a:r>
              <a:rPr lang="zh-TW" altLang="en-US" dirty="0">
                <a:latin typeface="Microsoft JhengHei" panose="020B0604030504040204" pitchFamily="34" charset="-120"/>
                <a:ea typeface="Microsoft JhengHei" panose="020B0604030504040204" pitchFamily="34" charset="-120"/>
                <a:cs typeface="Microsoft JhengHei"/>
              </a:rPr>
              <a:t>考題</a:t>
            </a:r>
            <a:r>
              <a:rPr lang="en-US" altLang="zh-TW" dirty="0">
                <a:latin typeface="Microsoft JhengHei" panose="020B0604030504040204" pitchFamily="34" charset="-120"/>
                <a:ea typeface="Microsoft JhengHei" panose="020B0604030504040204" pitchFamily="34" charset="-120"/>
                <a:cs typeface="Microsoft JhengHei"/>
              </a:rPr>
              <a:t>(</a:t>
            </a:r>
            <a:r>
              <a:rPr lang="zh-TW" altLang="en-US" dirty="0">
                <a:latin typeface="Microsoft JhengHei" panose="020B0604030504040204" pitchFamily="34" charset="-120"/>
                <a:ea typeface="Microsoft JhengHei" panose="020B0604030504040204" pitchFamily="34" charset="-120"/>
                <a:cs typeface="Microsoft JhengHei"/>
              </a:rPr>
              <a:t>出題者</a:t>
            </a:r>
            <a:r>
              <a:rPr lang="en-US" altLang="zh-TW" dirty="0">
                <a:latin typeface="Microsoft JhengHei" panose="020B0604030504040204" pitchFamily="34" charset="-120"/>
                <a:ea typeface="Microsoft JhengHei" panose="020B0604030504040204" pitchFamily="34" charset="-120"/>
                <a:cs typeface="Microsoft JhengHei"/>
              </a:rPr>
              <a:t>)</a:t>
            </a:r>
          </a:p>
          <a:p>
            <a:pPr algn="l"/>
            <a:endParaRPr lang="en-US" altLang="zh-TW" dirty="0">
              <a:latin typeface="微軟正黑體" panose="020B0604030504040204" pitchFamily="34" charset="-120"/>
              <a:ea typeface="微軟正黑體" panose="020B0604030504040204" pitchFamily="34" charset="-120"/>
            </a:endParaRPr>
          </a:p>
          <a:p>
            <a:pPr algn="l"/>
            <a:r>
              <a:rPr lang="zh-TW" altLang="en-US" dirty="0">
                <a:latin typeface="Microsoft JhengHei" panose="020B0604030504040204" pitchFamily="34" charset="-120"/>
                <a:ea typeface="Microsoft JhengHei" panose="020B0604030504040204" pitchFamily="34" charset="-120"/>
                <a:cs typeface="Microsoft JhengHei"/>
              </a:rPr>
              <a:t>工作人員</a:t>
            </a:r>
          </a:p>
        </p:txBody>
      </p:sp>
      <p:sp>
        <p:nvSpPr>
          <p:cNvPr id="4" name="橢圓 3">
            <a:extLst>
              <a:ext uri="{FF2B5EF4-FFF2-40B4-BE49-F238E27FC236}">
                <a16:creationId xmlns:a16="http://schemas.microsoft.com/office/drawing/2014/main" id="{E62FB945-E5A1-27B9-3493-3EBE5328B05E}"/>
              </a:ext>
            </a:extLst>
          </p:cNvPr>
          <p:cNvSpPr/>
          <p:nvPr/>
        </p:nvSpPr>
        <p:spPr>
          <a:xfrm>
            <a:off x="3187521" y="1830410"/>
            <a:ext cx="1159099" cy="1101144"/>
          </a:xfrm>
          <a:prstGeom prst="ellipse">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zh-TW" altLang="en-US" sz="1350" dirty="0">
              <a:highlight>
                <a:srgbClr val="008000"/>
              </a:highlight>
            </a:endParaRPr>
          </a:p>
        </p:txBody>
      </p:sp>
      <p:sp>
        <p:nvSpPr>
          <p:cNvPr id="5" name="橢圓 4">
            <a:extLst>
              <a:ext uri="{FF2B5EF4-FFF2-40B4-BE49-F238E27FC236}">
                <a16:creationId xmlns:a16="http://schemas.microsoft.com/office/drawing/2014/main" id="{95DE2BF5-7451-9214-A901-D9D27CBF81CE}"/>
              </a:ext>
            </a:extLst>
          </p:cNvPr>
          <p:cNvSpPr/>
          <p:nvPr/>
        </p:nvSpPr>
        <p:spPr>
          <a:xfrm>
            <a:off x="4721717" y="3577106"/>
            <a:ext cx="1159099" cy="110114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zh-TW" altLang="en-US" sz="1350" dirty="0">
              <a:highlight>
                <a:srgbClr val="FF0000"/>
              </a:highlight>
            </a:endParaRPr>
          </a:p>
        </p:txBody>
      </p:sp>
      <p:sp>
        <p:nvSpPr>
          <p:cNvPr id="6" name="橢圓 5">
            <a:extLst>
              <a:ext uri="{FF2B5EF4-FFF2-40B4-BE49-F238E27FC236}">
                <a16:creationId xmlns:a16="http://schemas.microsoft.com/office/drawing/2014/main" id="{39CD29CC-D474-F4B0-BB82-400B6D874BE1}"/>
              </a:ext>
            </a:extLst>
          </p:cNvPr>
          <p:cNvSpPr/>
          <p:nvPr/>
        </p:nvSpPr>
        <p:spPr>
          <a:xfrm>
            <a:off x="5608750" y="1470606"/>
            <a:ext cx="1159099" cy="1101144"/>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zh-TW" altLang="en-US" sz="1350"/>
          </a:p>
        </p:txBody>
      </p:sp>
      <p:cxnSp>
        <p:nvCxnSpPr>
          <p:cNvPr id="9" name="直線接點 8">
            <a:extLst>
              <a:ext uri="{FF2B5EF4-FFF2-40B4-BE49-F238E27FC236}">
                <a16:creationId xmlns:a16="http://schemas.microsoft.com/office/drawing/2014/main" id="{D531F7DE-ACCD-B321-CCBE-350DEDB6D084}"/>
              </a:ext>
            </a:extLst>
          </p:cNvPr>
          <p:cNvCxnSpPr>
            <a:cxnSpLocks/>
          </p:cNvCxnSpPr>
          <p:nvPr/>
        </p:nvCxnSpPr>
        <p:spPr>
          <a:xfrm flipV="1">
            <a:off x="4298324" y="1950597"/>
            <a:ext cx="1310426" cy="168004"/>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直線接點 11">
            <a:extLst>
              <a:ext uri="{FF2B5EF4-FFF2-40B4-BE49-F238E27FC236}">
                <a16:creationId xmlns:a16="http://schemas.microsoft.com/office/drawing/2014/main" id="{7CA2B6F3-86AA-0E0E-1BB2-D6E301954679}"/>
              </a:ext>
            </a:extLst>
          </p:cNvPr>
          <p:cNvCxnSpPr/>
          <p:nvPr/>
        </p:nvCxnSpPr>
        <p:spPr>
          <a:xfrm>
            <a:off x="3998891" y="2894526"/>
            <a:ext cx="798491" cy="940159"/>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直線接點 13">
            <a:extLst>
              <a:ext uri="{FF2B5EF4-FFF2-40B4-BE49-F238E27FC236}">
                <a16:creationId xmlns:a16="http://schemas.microsoft.com/office/drawing/2014/main" id="{324EB991-BA68-3C48-2AD2-32B220D6D0A0}"/>
              </a:ext>
            </a:extLst>
          </p:cNvPr>
          <p:cNvCxnSpPr>
            <a:cxnSpLocks/>
          </p:cNvCxnSpPr>
          <p:nvPr/>
        </p:nvCxnSpPr>
        <p:spPr>
          <a:xfrm flipV="1">
            <a:off x="5608750" y="2571750"/>
            <a:ext cx="457199" cy="1084241"/>
          </a:xfrm>
          <a:prstGeom prst="line">
            <a:avLst/>
          </a:prstGeom>
        </p:spPr>
        <p:style>
          <a:lnRef idx="2">
            <a:schemeClr val="accent1"/>
          </a:lnRef>
          <a:fillRef idx="0">
            <a:schemeClr val="accent1"/>
          </a:fillRef>
          <a:effectRef idx="1">
            <a:schemeClr val="accent1"/>
          </a:effectRef>
          <a:fontRef idx="minor">
            <a:schemeClr val="tx1"/>
          </a:fontRef>
        </p:style>
      </p:cxnSp>
      <p:sp>
        <p:nvSpPr>
          <p:cNvPr id="18" name="文字方塊 17">
            <a:extLst>
              <a:ext uri="{FF2B5EF4-FFF2-40B4-BE49-F238E27FC236}">
                <a16:creationId xmlns:a16="http://schemas.microsoft.com/office/drawing/2014/main" id="{44775298-E44D-86C5-EFF0-F7750D98A49B}"/>
              </a:ext>
            </a:extLst>
          </p:cNvPr>
          <p:cNvSpPr txBox="1"/>
          <p:nvPr/>
        </p:nvSpPr>
        <p:spPr>
          <a:xfrm>
            <a:off x="3496614" y="2211945"/>
            <a:ext cx="603698" cy="300082"/>
          </a:xfrm>
          <a:prstGeom prst="rect">
            <a:avLst/>
          </a:prstGeom>
          <a:noFill/>
        </p:spPr>
        <p:txBody>
          <a:bodyPr wrap="square" rtlCol="0">
            <a:spAutoFit/>
          </a:bodyPr>
          <a:lstStyle/>
          <a:p>
            <a:pPr algn="l"/>
            <a:r>
              <a:rPr lang="zh-TW" altLang="en-US" sz="1350" dirty="0">
                <a:latin typeface="Microsoft JhengHei"/>
                <a:ea typeface="Microsoft JhengHei"/>
                <a:cs typeface="Microsoft JhengHei"/>
              </a:rPr>
              <a:t>考生</a:t>
            </a:r>
            <a:endParaRPr lang="en-US" altLang="zh-TW" sz="1350" dirty="0"/>
          </a:p>
        </p:txBody>
      </p:sp>
      <p:sp>
        <p:nvSpPr>
          <p:cNvPr id="20" name="文字方塊 19">
            <a:extLst>
              <a:ext uri="{FF2B5EF4-FFF2-40B4-BE49-F238E27FC236}">
                <a16:creationId xmlns:a16="http://schemas.microsoft.com/office/drawing/2014/main" id="{5BF40886-938B-EB46-7E30-3543F440E26D}"/>
              </a:ext>
            </a:extLst>
          </p:cNvPr>
          <p:cNvSpPr txBox="1"/>
          <p:nvPr/>
        </p:nvSpPr>
        <p:spPr>
          <a:xfrm>
            <a:off x="5703732" y="1859386"/>
            <a:ext cx="1015821" cy="507831"/>
          </a:xfrm>
          <a:prstGeom prst="rect">
            <a:avLst/>
          </a:prstGeom>
          <a:noFill/>
        </p:spPr>
        <p:txBody>
          <a:bodyPr wrap="square" rtlCol="0">
            <a:spAutoFit/>
          </a:bodyPr>
          <a:lstStyle/>
          <a:p>
            <a:pPr algn="l"/>
            <a:r>
              <a:rPr lang="zh-TW" altLang="en-US" sz="1350" dirty="0">
                <a:latin typeface="Microsoft JhengHei"/>
                <a:ea typeface="Microsoft JhengHei"/>
                <a:cs typeface="Microsoft JhengHei"/>
              </a:rPr>
              <a:t>標準化病人</a:t>
            </a:r>
            <a:endParaRPr lang="en-US" altLang="zh-TW" sz="1350" dirty="0"/>
          </a:p>
        </p:txBody>
      </p:sp>
      <p:sp>
        <p:nvSpPr>
          <p:cNvPr id="21" name="文字方塊 20">
            <a:extLst>
              <a:ext uri="{FF2B5EF4-FFF2-40B4-BE49-F238E27FC236}">
                <a16:creationId xmlns:a16="http://schemas.microsoft.com/office/drawing/2014/main" id="{5A047C0C-53CB-E7C9-A5D8-B742149FDAB7}"/>
              </a:ext>
            </a:extLst>
          </p:cNvPr>
          <p:cNvSpPr txBox="1"/>
          <p:nvPr/>
        </p:nvSpPr>
        <p:spPr>
          <a:xfrm>
            <a:off x="5022760" y="3984402"/>
            <a:ext cx="658433" cy="507831"/>
          </a:xfrm>
          <a:prstGeom prst="rect">
            <a:avLst/>
          </a:prstGeom>
          <a:noFill/>
        </p:spPr>
        <p:txBody>
          <a:bodyPr wrap="square" rtlCol="0">
            <a:spAutoFit/>
          </a:bodyPr>
          <a:lstStyle/>
          <a:p>
            <a:pPr algn="l"/>
            <a:r>
              <a:rPr lang="zh-TW" altLang="en-US" sz="1350" dirty="0">
                <a:latin typeface="Microsoft JhengHei"/>
                <a:ea typeface="Microsoft JhengHei"/>
                <a:cs typeface="Microsoft JhengHei"/>
              </a:rPr>
              <a:t>考官</a:t>
            </a:r>
            <a:endParaRPr lang="en-US" altLang="zh-TW" sz="1350" dirty="0"/>
          </a:p>
          <a:p>
            <a:pPr algn="l"/>
            <a:endParaRPr lang="zh-TW" altLang="en-US" sz="1350" dirty="0"/>
          </a:p>
        </p:txBody>
      </p:sp>
      <p:grpSp>
        <p:nvGrpSpPr>
          <p:cNvPr id="8" name="群組 7">
            <a:extLst>
              <a:ext uri="{FF2B5EF4-FFF2-40B4-BE49-F238E27FC236}">
                <a16:creationId xmlns:a16="http://schemas.microsoft.com/office/drawing/2014/main" id="{36B8BA83-9618-4B48-0174-DCF86473801A}"/>
              </a:ext>
            </a:extLst>
          </p:cNvPr>
          <p:cNvGrpSpPr/>
          <p:nvPr/>
        </p:nvGrpSpPr>
        <p:grpSpPr>
          <a:xfrm>
            <a:off x="7665345" y="1507718"/>
            <a:ext cx="1159099" cy="1101144"/>
            <a:chOff x="9808335" y="4310129"/>
            <a:chExt cx="1545465" cy="1468192"/>
          </a:xfrm>
        </p:grpSpPr>
        <p:sp>
          <p:nvSpPr>
            <p:cNvPr id="7" name="橢圓 6">
              <a:extLst>
                <a:ext uri="{FF2B5EF4-FFF2-40B4-BE49-F238E27FC236}">
                  <a16:creationId xmlns:a16="http://schemas.microsoft.com/office/drawing/2014/main" id="{004927A3-0E0E-4DBD-7F34-F5ED7B4473B2}"/>
                </a:ext>
              </a:extLst>
            </p:cNvPr>
            <p:cNvSpPr/>
            <p:nvPr/>
          </p:nvSpPr>
          <p:spPr>
            <a:xfrm>
              <a:off x="9808335" y="4310129"/>
              <a:ext cx="1545465" cy="1468192"/>
            </a:xfrm>
            <a:prstGeom prst="ellips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zh-TW" altLang="en-US" sz="1350"/>
            </a:p>
          </p:txBody>
        </p:sp>
        <p:sp>
          <p:nvSpPr>
            <p:cNvPr id="22" name="文字方塊 21">
              <a:extLst>
                <a:ext uri="{FF2B5EF4-FFF2-40B4-BE49-F238E27FC236}">
                  <a16:creationId xmlns:a16="http://schemas.microsoft.com/office/drawing/2014/main" id="{4EBF3AA8-99E1-EEED-CDEE-9DFC423448C8}"/>
                </a:ext>
              </a:extLst>
            </p:cNvPr>
            <p:cNvSpPr txBox="1"/>
            <p:nvPr/>
          </p:nvSpPr>
          <p:spPr>
            <a:xfrm>
              <a:off x="9890975" y="4851400"/>
              <a:ext cx="1462825" cy="677108"/>
            </a:xfrm>
            <a:prstGeom prst="rect">
              <a:avLst/>
            </a:prstGeom>
            <a:noFill/>
          </p:spPr>
          <p:txBody>
            <a:bodyPr wrap="square" rtlCol="0">
              <a:spAutoFit/>
            </a:bodyPr>
            <a:lstStyle/>
            <a:p>
              <a:pPr algn="l"/>
              <a:r>
                <a:rPr lang="zh-TW" altLang="en-US" sz="1350" dirty="0">
                  <a:latin typeface="Microsoft JhengHei"/>
                  <a:ea typeface="Microsoft JhengHei"/>
                  <a:cs typeface="Microsoft JhengHei"/>
                </a:rPr>
                <a:t>考題</a:t>
              </a:r>
              <a:r>
                <a:rPr lang="en-US" altLang="zh-TW" sz="1350" dirty="0">
                  <a:latin typeface="Microsoft JhengHei"/>
                  <a:ea typeface="Microsoft JhengHei"/>
                  <a:cs typeface="Microsoft JhengHei"/>
                </a:rPr>
                <a:t>(</a:t>
              </a:r>
              <a:r>
                <a:rPr lang="zh-TW" altLang="en-US" sz="1350" dirty="0">
                  <a:latin typeface="Microsoft JhengHei"/>
                  <a:ea typeface="Microsoft JhengHei"/>
                  <a:cs typeface="Microsoft JhengHei"/>
                </a:rPr>
                <a:t>出題者</a:t>
              </a:r>
              <a:r>
                <a:rPr lang="en-US" altLang="zh-TW" sz="1350" dirty="0">
                  <a:latin typeface="Microsoft JhengHei"/>
                  <a:ea typeface="Microsoft JhengHei"/>
                  <a:cs typeface="Microsoft JhengHei"/>
                </a:rPr>
                <a:t>)</a:t>
              </a:r>
              <a:endParaRPr lang="zh-TW" altLang="en-US" sz="1350" dirty="0"/>
            </a:p>
            <a:p>
              <a:pPr algn="l"/>
              <a:endParaRPr lang="zh-TW" altLang="en-US" sz="1350" dirty="0"/>
            </a:p>
          </p:txBody>
        </p:sp>
      </p:grpSp>
      <p:sp>
        <p:nvSpPr>
          <p:cNvPr id="23" name="文字方塊 22">
            <a:extLst>
              <a:ext uri="{FF2B5EF4-FFF2-40B4-BE49-F238E27FC236}">
                <a16:creationId xmlns:a16="http://schemas.microsoft.com/office/drawing/2014/main" id="{BF2ADD5D-07EE-40CE-CA33-B99F777B19DA}"/>
              </a:ext>
            </a:extLst>
          </p:cNvPr>
          <p:cNvSpPr txBox="1"/>
          <p:nvPr/>
        </p:nvSpPr>
        <p:spPr>
          <a:xfrm>
            <a:off x="6577885" y="1369219"/>
            <a:ext cx="492617" cy="507831"/>
          </a:xfrm>
          <a:prstGeom prst="rect">
            <a:avLst/>
          </a:prstGeom>
          <a:noFill/>
        </p:spPr>
        <p:txBody>
          <a:bodyPr wrap="square" rtlCol="0">
            <a:spAutoFit/>
          </a:bodyPr>
          <a:lstStyle/>
          <a:p>
            <a:pPr algn="l"/>
            <a:r>
              <a:rPr lang="zh-TW" altLang="en-US" sz="1350" dirty="0">
                <a:latin typeface="Microsoft JhengHei"/>
                <a:ea typeface="Microsoft JhengHei"/>
                <a:cs typeface="Microsoft JhengHei"/>
              </a:rPr>
              <a:t>劇本</a:t>
            </a:r>
          </a:p>
        </p:txBody>
      </p:sp>
      <p:sp>
        <p:nvSpPr>
          <p:cNvPr id="25" name="文字方塊 24">
            <a:extLst>
              <a:ext uri="{FF2B5EF4-FFF2-40B4-BE49-F238E27FC236}">
                <a16:creationId xmlns:a16="http://schemas.microsoft.com/office/drawing/2014/main" id="{3570C5E8-1E8C-61B3-2A6B-9B863A2D6059}"/>
              </a:ext>
            </a:extLst>
          </p:cNvPr>
          <p:cNvSpPr txBox="1"/>
          <p:nvPr/>
        </p:nvSpPr>
        <p:spPr>
          <a:xfrm>
            <a:off x="3317920" y="4182414"/>
            <a:ext cx="1104365" cy="300082"/>
          </a:xfrm>
          <a:prstGeom prst="rect">
            <a:avLst/>
          </a:prstGeom>
          <a:noFill/>
        </p:spPr>
        <p:txBody>
          <a:bodyPr wrap="square" rtlCol="0">
            <a:spAutoFit/>
          </a:bodyPr>
          <a:lstStyle/>
          <a:p>
            <a:pPr algn="l"/>
            <a:r>
              <a:rPr lang="zh-TW" altLang="en-US" sz="1350" dirty="0">
                <a:latin typeface="Microsoft JhengHei"/>
                <a:ea typeface="Microsoft JhengHei"/>
                <a:cs typeface="Microsoft JhengHei"/>
              </a:rPr>
              <a:t>標準評分表</a:t>
            </a:r>
          </a:p>
        </p:txBody>
      </p:sp>
    </p:spTree>
    <p:extLst>
      <p:ext uri="{BB962C8B-B14F-4D97-AF65-F5344CB8AC3E}">
        <p14:creationId xmlns:p14="http://schemas.microsoft.com/office/powerpoint/2010/main" val="32951878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D59F370-CE59-388E-C86D-0453701C8315}"/>
              </a:ext>
            </a:extLst>
          </p:cNvPr>
          <p:cNvSpPr>
            <a:spLocks noGrp="1"/>
          </p:cNvSpPr>
          <p:nvPr>
            <p:ph type="title"/>
          </p:nvPr>
        </p:nvSpPr>
        <p:spPr>
          <a:xfrm>
            <a:off x="473202" y="371995"/>
            <a:ext cx="3146355" cy="4229123"/>
          </a:xfrm>
          <a:noFill/>
        </p:spPr>
        <p:txBody>
          <a:bodyPr anchor="ctr">
            <a:normAutofit/>
          </a:bodyPr>
          <a:lstStyle/>
          <a:p>
            <a:pPr algn="l"/>
            <a:r>
              <a:rPr lang="en-US" altLang="zh-TW" sz="2800" b="1">
                <a:solidFill>
                  <a:srgbClr val="1F4E79"/>
                </a:solidFill>
                <a:latin typeface="Microsoft JhengHei"/>
                <a:ea typeface="Microsoft JhengHei"/>
                <a:cs typeface="Microsoft JhengHei"/>
              </a:rPr>
              <a:t>OSCE</a:t>
            </a:r>
            <a:r>
              <a:rPr lang="zh-TW" altLang="en-US" sz="2800" b="1">
                <a:solidFill>
                  <a:srgbClr val="1F4E79"/>
                </a:solidFill>
                <a:latin typeface="Microsoft JhengHei"/>
                <a:ea typeface="Microsoft JhengHei"/>
                <a:cs typeface="Microsoft JhengHei"/>
              </a:rPr>
              <a:t>的好處</a:t>
            </a:r>
          </a:p>
        </p:txBody>
      </p:sp>
      <p:graphicFrame>
        <p:nvGraphicFramePr>
          <p:cNvPr id="5" name="內容版面配置區 2">
            <a:extLst>
              <a:ext uri="{FF2B5EF4-FFF2-40B4-BE49-F238E27FC236}">
                <a16:creationId xmlns:a16="http://schemas.microsoft.com/office/drawing/2014/main" id="{B9896A88-020A-9036-EF13-ADEAC8A87FBF}"/>
              </a:ext>
            </a:extLst>
          </p:cNvPr>
          <p:cNvGraphicFramePr>
            <a:graphicFrameLocks noGrp="1"/>
          </p:cNvGraphicFramePr>
          <p:nvPr>
            <p:ph idx="1"/>
          </p:nvPr>
        </p:nvGraphicFramePr>
        <p:xfrm>
          <a:off x="3686960" y="649939"/>
          <a:ext cx="4690292" cy="37921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95492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641080" y="4828032"/>
            <a:ext cx="365760" cy="274320"/>
          </a:xfrm>
          <a:prstGeom prst="rect">
            <a:avLst/>
          </a:prstGeom>
          <a:noFill/>
          <a:ln/>
        </p:spPr>
        <p:txBody>
          <a:bodyPr wrap="square" lIns="0" tIns="0" rIns="0" bIns="0" rtlCol="0" anchor="ctr"/>
          <a:lstStyle/>
          <a:p>
            <a:pPr marL="0" indent="0" algn="r">
              <a:buNone/>
            </a:pPr>
            <a:r>
              <a:rPr lang="en-US" sz="1000" dirty="0">
                <a:solidFill>
                  <a:srgbClr val="5B6B7F"/>
                </a:solidFill>
                <a:latin typeface="Microsoft JhengHei" pitchFamily="34" charset="0"/>
                <a:ea typeface="Microsoft JhengHei" pitchFamily="34" charset="-122"/>
                <a:cs typeface="Microsoft JhengHei" pitchFamily="34" charset="-120"/>
              </a:rPr>
              <a:t>4</a:t>
            </a:r>
            <a:endParaRPr lang="en-US" sz="1000" dirty="0"/>
          </a:p>
        </p:txBody>
      </p:sp>
      <p:sp>
        <p:nvSpPr>
          <p:cNvPr id="3" name="Text 1"/>
          <p:cNvSpPr/>
          <p:nvPr/>
        </p:nvSpPr>
        <p:spPr>
          <a:xfrm>
            <a:off x="502920" y="201168"/>
            <a:ext cx="8046720" cy="274320"/>
          </a:xfrm>
          <a:prstGeom prst="rect">
            <a:avLst/>
          </a:prstGeom>
          <a:noFill/>
          <a:ln/>
        </p:spPr>
        <p:txBody>
          <a:bodyPr wrap="square" lIns="0" tIns="0" rIns="0" bIns="0" rtlCol="0" anchor="ctr"/>
          <a:lstStyle/>
          <a:p>
            <a:pPr marL="0" indent="0">
              <a:buNone/>
            </a:pPr>
            <a:r>
              <a:rPr lang="en-US" sz="1200" b="1" kern="0" spc="200" dirty="0">
                <a:solidFill>
                  <a:srgbClr val="2E75B6"/>
                </a:solidFill>
                <a:latin typeface="Microsoft JhengHei" pitchFamily="34" charset="0"/>
                <a:ea typeface="Microsoft JhengHei" pitchFamily="34" charset="-122"/>
                <a:cs typeface="Microsoft JhengHei" pitchFamily="34" charset="-120"/>
              </a:rPr>
              <a:t>PRINCIPLES</a:t>
            </a:r>
            <a:endParaRPr lang="en-US" sz="1200" dirty="0"/>
          </a:p>
        </p:txBody>
      </p:sp>
      <p:sp>
        <p:nvSpPr>
          <p:cNvPr id="4" name="Text 2"/>
          <p:cNvSpPr/>
          <p:nvPr/>
        </p:nvSpPr>
        <p:spPr>
          <a:xfrm>
            <a:off x="502920" y="457200"/>
            <a:ext cx="8138160" cy="566928"/>
          </a:xfrm>
          <a:prstGeom prst="rect">
            <a:avLst/>
          </a:prstGeom>
          <a:noFill/>
          <a:ln/>
        </p:spPr>
        <p:txBody>
          <a:bodyPr wrap="square" lIns="0" tIns="0" rIns="0" bIns="0" rtlCol="0" anchor="ctr"/>
          <a:lstStyle/>
          <a:p>
            <a:pPr marL="0" indent="0">
              <a:buNone/>
            </a:pPr>
            <a:r>
              <a:rPr lang="en-US" sz="2700" b="1" dirty="0">
                <a:solidFill>
                  <a:srgbClr val="1F4E79"/>
                </a:solidFill>
                <a:latin typeface="Microsoft JhengHei" pitchFamily="34" charset="0"/>
                <a:ea typeface="Microsoft JhengHei" pitchFamily="34" charset="-122"/>
                <a:cs typeface="Microsoft JhengHei" pitchFamily="34" charset="-120"/>
              </a:rPr>
              <a:t>出題第一原則</a:t>
            </a:r>
            <a:endParaRPr lang="en-US" sz="2700" dirty="0"/>
          </a:p>
        </p:txBody>
      </p:sp>
      <p:sp>
        <p:nvSpPr>
          <p:cNvPr id="5" name="Shape 3"/>
          <p:cNvSpPr/>
          <p:nvPr/>
        </p:nvSpPr>
        <p:spPr>
          <a:xfrm>
            <a:off x="502920" y="1170432"/>
            <a:ext cx="4023360" cy="1078992"/>
          </a:xfrm>
          <a:prstGeom prst="rect">
            <a:avLst/>
          </a:prstGeom>
          <a:solidFill>
            <a:srgbClr val="DEEBF7"/>
          </a:solidFill>
          <a:ln/>
        </p:spPr>
        <p:txBody>
          <a:bodyPr/>
          <a:lstStyle/>
          <a:p>
            <a:endParaRPr lang="zh-TW" altLang="en-US"/>
          </a:p>
        </p:txBody>
      </p:sp>
      <p:sp>
        <p:nvSpPr>
          <p:cNvPr id="6" name="Shape 4"/>
          <p:cNvSpPr/>
          <p:nvPr/>
        </p:nvSpPr>
        <p:spPr>
          <a:xfrm>
            <a:off x="502920" y="1170432"/>
            <a:ext cx="64008" cy="1078992"/>
          </a:xfrm>
          <a:prstGeom prst="rect">
            <a:avLst/>
          </a:prstGeom>
          <a:solidFill>
            <a:srgbClr val="2E75B6"/>
          </a:solidFill>
          <a:ln/>
        </p:spPr>
        <p:txBody>
          <a:bodyPr/>
          <a:lstStyle/>
          <a:p>
            <a:endParaRPr lang="zh-TW" altLang="en-US"/>
          </a:p>
        </p:txBody>
      </p:sp>
      <p:sp>
        <p:nvSpPr>
          <p:cNvPr id="7" name="Text 5"/>
          <p:cNvSpPr/>
          <p:nvPr/>
        </p:nvSpPr>
        <p:spPr>
          <a:xfrm>
            <a:off x="704088" y="1261872"/>
            <a:ext cx="3703320" cy="914400"/>
          </a:xfrm>
          <a:prstGeom prst="rect">
            <a:avLst/>
          </a:prstGeom>
          <a:noFill/>
          <a:ln/>
        </p:spPr>
        <p:txBody>
          <a:bodyPr wrap="square" lIns="0" tIns="0" rIns="0" bIns="0" rtlCol="0" anchor="ctr"/>
          <a:lstStyle/>
          <a:p>
            <a:pPr marL="0" indent="0">
              <a:lnSpc>
                <a:spcPct val="108000"/>
              </a:lnSpc>
              <a:buNone/>
            </a:pPr>
            <a:r>
              <a:rPr lang="en-US" sz="1500" b="1" dirty="0">
                <a:solidFill>
                  <a:srgbClr val="1F4E79"/>
                </a:solidFill>
                <a:latin typeface="Microsoft JhengHei" pitchFamily="34" charset="0"/>
                <a:ea typeface="Microsoft JhengHei" pitchFamily="34" charset="-122"/>
                <a:cs typeface="Microsoft JhengHei" pitchFamily="34" charset="-120"/>
              </a:rPr>
              <a:t>表現本位</a:t>
            </a:r>
            <a:endParaRPr lang="en-US" sz="1500" dirty="0"/>
          </a:p>
          <a:p>
            <a:pPr marL="0" indent="0">
              <a:lnSpc>
                <a:spcPct val="108000"/>
              </a:lnSpc>
              <a:buNone/>
            </a:pPr>
            <a:r>
              <a:rPr lang="en-US" sz="1150" dirty="0">
                <a:solidFill>
                  <a:srgbClr val="1F2937"/>
                </a:solidFill>
                <a:latin typeface="Microsoft JhengHei" pitchFamily="34" charset="0"/>
                <a:ea typeface="Microsoft JhengHei" pitchFamily="34" charset="-122"/>
                <a:cs typeface="Microsoft JhengHei" pitchFamily="34" charset="-120"/>
              </a:rPr>
              <a:t>測量學員在情境中「能做什麼」，而非只是「知道什麼」</a:t>
            </a:r>
            <a:endParaRPr lang="en-US" sz="1500" dirty="0"/>
          </a:p>
        </p:txBody>
      </p:sp>
      <p:sp>
        <p:nvSpPr>
          <p:cNvPr id="8" name="Shape 6"/>
          <p:cNvSpPr/>
          <p:nvPr/>
        </p:nvSpPr>
        <p:spPr>
          <a:xfrm>
            <a:off x="4709160" y="1170432"/>
            <a:ext cx="4023360" cy="1078992"/>
          </a:xfrm>
          <a:prstGeom prst="rect">
            <a:avLst/>
          </a:prstGeom>
          <a:solidFill>
            <a:srgbClr val="DEEBF7"/>
          </a:solidFill>
          <a:ln/>
        </p:spPr>
        <p:txBody>
          <a:bodyPr/>
          <a:lstStyle/>
          <a:p>
            <a:endParaRPr lang="zh-TW" altLang="en-US"/>
          </a:p>
        </p:txBody>
      </p:sp>
      <p:sp>
        <p:nvSpPr>
          <p:cNvPr id="9" name="Shape 7"/>
          <p:cNvSpPr/>
          <p:nvPr/>
        </p:nvSpPr>
        <p:spPr>
          <a:xfrm>
            <a:off x="4709160" y="1170432"/>
            <a:ext cx="64008" cy="1078992"/>
          </a:xfrm>
          <a:prstGeom prst="rect">
            <a:avLst/>
          </a:prstGeom>
          <a:solidFill>
            <a:srgbClr val="2E75B6"/>
          </a:solidFill>
          <a:ln/>
        </p:spPr>
        <p:txBody>
          <a:bodyPr/>
          <a:lstStyle/>
          <a:p>
            <a:endParaRPr lang="zh-TW" altLang="en-US"/>
          </a:p>
        </p:txBody>
      </p:sp>
      <p:sp>
        <p:nvSpPr>
          <p:cNvPr id="10" name="Text 8"/>
          <p:cNvSpPr/>
          <p:nvPr/>
        </p:nvSpPr>
        <p:spPr>
          <a:xfrm>
            <a:off x="4910328" y="1261872"/>
            <a:ext cx="3703320" cy="914400"/>
          </a:xfrm>
          <a:prstGeom prst="rect">
            <a:avLst/>
          </a:prstGeom>
          <a:noFill/>
          <a:ln/>
        </p:spPr>
        <p:txBody>
          <a:bodyPr wrap="square" lIns="0" tIns="0" rIns="0" bIns="0" rtlCol="0" anchor="ctr"/>
          <a:lstStyle/>
          <a:p>
            <a:pPr marL="0" indent="0">
              <a:lnSpc>
                <a:spcPct val="108000"/>
              </a:lnSpc>
              <a:buNone/>
            </a:pPr>
            <a:r>
              <a:rPr lang="en-US" sz="1500" b="1" dirty="0">
                <a:solidFill>
                  <a:srgbClr val="1F4E79"/>
                </a:solidFill>
                <a:latin typeface="Microsoft JhengHei" pitchFamily="34" charset="0"/>
                <a:ea typeface="Microsoft JhengHei" pitchFamily="34" charset="-122"/>
                <a:cs typeface="Microsoft JhengHei" pitchFamily="34" charset="-120"/>
              </a:rPr>
              <a:t>對齊學員程度</a:t>
            </a:r>
            <a:endParaRPr lang="en-US" sz="1500" dirty="0"/>
          </a:p>
          <a:p>
            <a:pPr marL="0" indent="0">
              <a:lnSpc>
                <a:spcPct val="108000"/>
              </a:lnSpc>
              <a:buNone/>
            </a:pPr>
            <a:r>
              <a:rPr lang="en-US" sz="1150" dirty="0">
                <a:solidFill>
                  <a:srgbClr val="1F2937"/>
                </a:solidFill>
                <a:latin typeface="Microsoft JhengHei" pitchFamily="34" charset="0"/>
                <a:ea typeface="Microsoft JhengHei" pitchFamily="34" charset="-122"/>
                <a:cs typeface="Microsoft JhengHei" pitchFamily="34" charset="-120"/>
              </a:rPr>
              <a:t>情境不超出該層級（clerk／PGY／國考）能合理處理的範圍</a:t>
            </a:r>
            <a:endParaRPr lang="en-US" sz="1500" dirty="0"/>
          </a:p>
        </p:txBody>
      </p:sp>
      <p:sp>
        <p:nvSpPr>
          <p:cNvPr id="11" name="Shape 9"/>
          <p:cNvSpPr/>
          <p:nvPr/>
        </p:nvSpPr>
        <p:spPr>
          <a:xfrm>
            <a:off x="502920" y="2414016"/>
            <a:ext cx="4023360" cy="1078992"/>
          </a:xfrm>
          <a:prstGeom prst="rect">
            <a:avLst/>
          </a:prstGeom>
          <a:solidFill>
            <a:srgbClr val="DEEBF7"/>
          </a:solidFill>
          <a:ln/>
        </p:spPr>
        <p:txBody>
          <a:bodyPr/>
          <a:lstStyle/>
          <a:p>
            <a:endParaRPr lang="zh-TW" altLang="en-US"/>
          </a:p>
        </p:txBody>
      </p:sp>
      <p:sp>
        <p:nvSpPr>
          <p:cNvPr id="12" name="Shape 10"/>
          <p:cNvSpPr/>
          <p:nvPr/>
        </p:nvSpPr>
        <p:spPr>
          <a:xfrm>
            <a:off x="502920" y="2414016"/>
            <a:ext cx="64008" cy="1078992"/>
          </a:xfrm>
          <a:prstGeom prst="rect">
            <a:avLst/>
          </a:prstGeom>
          <a:solidFill>
            <a:srgbClr val="2E75B6"/>
          </a:solidFill>
          <a:ln/>
        </p:spPr>
        <p:txBody>
          <a:bodyPr/>
          <a:lstStyle/>
          <a:p>
            <a:endParaRPr lang="zh-TW" altLang="en-US"/>
          </a:p>
        </p:txBody>
      </p:sp>
      <p:sp>
        <p:nvSpPr>
          <p:cNvPr id="13" name="Text 11"/>
          <p:cNvSpPr/>
          <p:nvPr/>
        </p:nvSpPr>
        <p:spPr>
          <a:xfrm>
            <a:off x="704088" y="2505456"/>
            <a:ext cx="3703320" cy="914400"/>
          </a:xfrm>
          <a:prstGeom prst="rect">
            <a:avLst/>
          </a:prstGeom>
          <a:noFill/>
          <a:ln/>
        </p:spPr>
        <p:txBody>
          <a:bodyPr wrap="square" lIns="0" tIns="0" rIns="0" bIns="0" rtlCol="0" anchor="ctr"/>
          <a:lstStyle/>
          <a:p>
            <a:pPr marL="0" indent="0">
              <a:lnSpc>
                <a:spcPct val="108000"/>
              </a:lnSpc>
              <a:buNone/>
            </a:pPr>
            <a:r>
              <a:rPr lang="en-US" sz="1500" b="1" dirty="0">
                <a:solidFill>
                  <a:srgbClr val="1F4E79"/>
                </a:solidFill>
                <a:latin typeface="Microsoft JhengHei" pitchFamily="34" charset="0"/>
                <a:ea typeface="Microsoft JhengHei" pitchFamily="34" charset="-122"/>
                <a:cs typeface="Microsoft JhengHei" pitchFamily="34" charset="-120"/>
              </a:rPr>
              <a:t>8 分鐘可完成</a:t>
            </a:r>
            <a:endParaRPr lang="en-US" sz="1500" dirty="0"/>
          </a:p>
          <a:p>
            <a:pPr marL="0" indent="0">
              <a:lnSpc>
                <a:spcPct val="108000"/>
              </a:lnSpc>
              <a:buNone/>
            </a:pPr>
            <a:r>
              <a:rPr lang="en-US" sz="1150" dirty="0">
                <a:solidFill>
                  <a:srgbClr val="1F2937"/>
                </a:solidFill>
                <a:latin typeface="Microsoft JhengHei" pitchFamily="34" charset="0"/>
                <a:ea typeface="Microsoft JhengHei" pitchFamily="34" charset="-122"/>
                <a:cs typeface="Microsoft JhengHei" pitchFamily="34" charset="-120"/>
              </a:rPr>
              <a:t>避免劇本過長、資料過多、或需要完整診斷處置流程的任務</a:t>
            </a:r>
            <a:endParaRPr lang="en-US" sz="1500" dirty="0"/>
          </a:p>
        </p:txBody>
      </p:sp>
      <p:sp>
        <p:nvSpPr>
          <p:cNvPr id="14" name="Shape 12"/>
          <p:cNvSpPr/>
          <p:nvPr/>
        </p:nvSpPr>
        <p:spPr>
          <a:xfrm>
            <a:off x="4709160" y="2414016"/>
            <a:ext cx="4023360" cy="1078992"/>
          </a:xfrm>
          <a:prstGeom prst="rect">
            <a:avLst/>
          </a:prstGeom>
          <a:solidFill>
            <a:srgbClr val="DEEBF7"/>
          </a:solidFill>
          <a:ln/>
        </p:spPr>
        <p:txBody>
          <a:bodyPr/>
          <a:lstStyle/>
          <a:p>
            <a:endParaRPr lang="zh-TW" altLang="en-US"/>
          </a:p>
        </p:txBody>
      </p:sp>
      <p:sp>
        <p:nvSpPr>
          <p:cNvPr id="15" name="Shape 13"/>
          <p:cNvSpPr/>
          <p:nvPr/>
        </p:nvSpPr>
        <p:spPr>
          <a:xfrm>
            <a:off x="4709160" y="2414016"/>
            <a:ext cx="64008" cy="1078992"/>
          </a:xfrm>
          <a:prstGeom prst="rect">
            <a:avLst/>
          </a:prstGeom>
          <a:solidFill>
            <a:srgbClr val="2E75B6"/>
          </a:solidFill>
          <a:ln/>
        </p:spPr>
        <p:txBody>
          <a:bodyPr/>
          <a:lstStyle/>
          <a:p>
            <a:endParaRPr lang="zh-TW" altLang="en-US"/>
          </a:p>
        </p:txBody>
      </p:sp>
      <p:sp>
        <p:nvSpPr>
          <p:cNvPr id="16" name="Text 14"/>
          <p:cNvSpPr/>
          <p:nvPr/>
        </p:nvSpPr>
        <p:spPr>
          <a:xfrm>
            <a:off x="4910328" y="2505456"/>
            <a:ext cx="3703320" cy="914400"/>
          </a:xfrm>
          <a:prstGeom prst="rect">
            <a:avLst/>
          </a:prstGeom>
          <a:noFill/>
          <a:ln/>
        </p:spPr>
        <p:txBody>
          <a:bodyPr wrap="square" lIns="0" tIns="0" rIns="0" bIns="0" rtlCol="0" anchor="ctr"/>
          <a:lstStyle/>
          <a:p>
            <a:pPr marL="0" indent="0">
              <a:lnSpc>
                <a:spcPct val="108000"/>
              </a:lnSpc>
              <a:buNone/>
            </a:pPr>
            <a:r>
              <a:rPr lang="en-US" sz="1500" b="1" dirty="0">
                <a:solidFill>
                  <a:srgbClr val="1F4E79"/>
                </a:solidFill>
                <a:latin typeface="Microsoft JhengHei" pitchFamily="34" charset="0"/>
                <a:ea typeface="Microsoft JhengHei" pitchFamily="34" charset="-122"/>
                <a:cs typeface="Microsoft JhengHei" pitchFamily="34" charset="-120"/>
              </a:rPr>
              <a:t>站型乾淨</a:t>
            </a:r>
            <a:endParaRPr lang="en-US" sz="1500" dirty="0"/>
          </a:p>
          <a:p>
            <a:pPr marL="0" indent="0">
              <a:lnSpc>
                <a:spcPct val="108000"/>
              </a:lnSpc>
              <a:buNone/>
            </a:pPr>
            <a:r>
              <a:rPr lang="en-US" sz="1150" dirty="0">
                <a:solidFill>
                  <a:srgbClr val="1F2937"/>
                </a:solidFill>
                <a:latin typeface="Microsoft JhengHei" pitchFamily="34" charset="0"/>
                <a:ea typeface="Microsoft JhengHei" pitchFamily="34" charset="-122"/>
                <a:cs typeface="Microsoft JhengHei" pitchFamily="34" charset="-120"/>
              </a:rPr>
              <a:t>除非評量設計刻意如此，不混合不相容的站型</a:t>
            </a:r>
            <a:endParaRPr lang="en-US" sz="1500" dirty="0"/>
          </a:p>
        </p:txBody>
      </p:sp>
      <p:sp>
        <p:nvSpPr>
          <p:cNvPr id="17" name="Shape 15"/>
          <p:cNvSpPr/>
          <p:nvPr/>
        </p:nvSpPr>
        <p:spPr>
          <a:xfrm>
            <a:off x="502920" y="3657600"/>
            <a:ext cx="4023360" cy="1078992"/>
          </a:xfrm>
          <a:prstGeom prst="rect">
            <a:avLst/>
          </a:prstGeom>
          <a:solidFill>
            <a:srgbClr val="DEEBF7"/>
          </a:solidFill>
          <a:ln/>
        </p:spPr>
        <p:txBody>
          <a:bodyPr/>
          <a:lstStyle/>
          <a:p>
            <a:endParaRPr lang="zh-TW" altLang="en-US"/>
          </a:p>
        </p:txBody>
      </p:sp>
      <p:sp>
        <p:nvSpPr>
          <p:cNvPr id="18" name="Shape 16"/>
          <p:cNvSpPr/>
          <p:nvPr/>
        </p:nvSpPr>
        <p:spPr>
          <a:xfrm>
            <a:off x="502920" y="3657600"/>
            <a:ext cx="64008" cy="1078992"/>
          </a:xfrm>
          <a:prstGeom prst="rect">
            <a:avLst/>
          </a:prstGeom>
          <a:solidFill>
            <a:srgbClr val="2E75B6"/>
          </a:solidFill>
          <a:ln/>
        </p:spPr>
        <p:txBody>
          <a:bodyPr/>
          <a:lstStyle/>
          <a:p>
            <a:endParaRPr lang="zh-TW" altLang="en-US"/>
          </a:p>
        </p:txBody>
      </p:sp>
      <p:sp>
        <p:nvSpPr>
          <p:cNvPr id="19" name="Text 17"/>
          <p:cNvSpPr/>
          <p:nvPr/>
        </p:nvSpPr>
        <p:spPr>
          <a:xfrm>
            <a:off x="704088" y="3749040"/>
            <a:ext cx="3703320" cy="914400"/>
          </a:xfrm>
          <a:prstGeom prst="rect">
            <a:avLst/>
          </a:prstGeom>
          <a:noFill/>
          <a:ln/>
        </p:spPr>
        <p:txBody>
          <a:bodyPr wrap="square" lIns="0" tIns="0" rIns="0" bIns="0" rtlCol="0" anchor="ctr"/>
          <a:lstStyle/>
          <a:p>
            <a:pPr marL="0" indent="0">
              <a:lnSpc>
                <a:spcPct val="108000"/>
              </a:lnSpc>
              <a:buNone/>
            </a:pPr>
            <a:r>
              <a:rPr lang="en-US" sz="1500" b="1" dirty="0">
                <a:solidFill>
                  <a:srgbClr val="1F4E79"/>
                </a:solidFill>
                <a:latin typeface="Microsoft JhengHei" pitchFamily="34" charset="0"/>
                <a:ea typeface="Microsoft JhengHei" pitchFamily="34" charset="-122"/>
                <a:cs typeface="Microsoft JhengHei" pitchFamily="34" charset="-120"/>
              </a:rPr>
              <a:t>評分可觀察</a:t>
            </a:r>
            <a:endParaRPr lang="en-US" sz="1500" dirty="0"/>
          </a:p>
          <a:p>
            <a:pPr marL="0" indent="0">
              <a:lnSpc>
                <a:spcPct val="108000"/>
              </a:lnSpc>
              <a:buNone/>
            </a:pPr>
            <a:r>
              <a:rPr lang="en-US" sz="1150" dirty="0">
                <a:solidFill>
                  <a:srgbClr val="1F2937"/>
                </a:solidFill>
                <a:latin typeface="Microsoft JhengHei" pitchFamily="34" charset="0"/>
                <a:ea typeface="Microsoft JhengHei" pitchFamily="34" charset="-122"/>
                <a:cs typeface="Microsoft JhengHei" pitchFamily="34" charset="-120"/>
              </a:rPr>
              <a:t>每個項目都是考官／SP 能可靠判斷的具體行為或回應</a:t>
            </a:r>
            <a:endParaRPr lang="en-US" sz="1500" dirty="0"/>
          </a:p>
        </p:txBody>
      </p:sp>
      <p:sp>
        <p:nvSpPr>
          <p:cNvPr id="20" name="Shape 18"/>
          <p:cNvSpPr/>
          <p:nvPr/>
        </p:nvSpPr>
        <p:spPr>
          <a:xfrm>
            <a:off x="4709160" y="3657600"/>
            <a:ext cx="4023360" cy="1078992"/>
          </a:xfrm>
          <a:prstGeom prst="rect">
            <a:avLst/>
          </a:prstGeom>
          <a:solidFill>
            <a:srgbClr val="DEEBF7"/>
          </a:solidFill>
          <a:ln/>
        </p:spPr>
        <p:txBody>
          <a:bodyPr/>
          <a:lstStyle/>
          <a:p>
            <a:endParaRPr lang="zh-TW" altLang="en-US"/>
          </a:p>
        </p:txBody>
      </p:sp>
      <p:sp>
        <p:nvSpPr>
          <p:cNvPr id="21" name="Shape 19"/>
          <p:cNvSpPr/>
          <p:nvPr/>
        </p:nvSpPr>
        <p:spPr>
          <a:xfrm>
            <a:off x="4709160" y="3657600"/>
            <a:ext cx="64008" cy="1078992"/>
          </a:xfrm>
          <a:prstGeom prst="rect">
            <a:avLst/>
          </a:prstGeom>
          <a:solidFill>
            <a:srgbClr val="2E75B6"/>
          </a:solidFill>
          <a:ln/>
        </p:spPr>
        <p:txBody>
          <a:bodyPr/>
          <a:lstStyle/>
          <a:p>
            <a:endParaRPr lang="zh-TW" altLang="en-US"/>
          </a:p>
        </p:txBody>
      </p:sp>
      <p:sp>
        <p:nvSpPr>
          <p:cNvPr id="22" name="Text 20"/>
          <p:cNvSpPr/>
          <p:nvPr/>
        </p:nvSpPr>
        <p:spPr>
          <a:xfrm>
            <a:off x="4910328" y="3749040"/>
            <a:ext cx="3703320" cy="914400"/>
          </a:xfrm>
          <a:prstGeom prst="rect">
            <a:avLst/>
          </a:prstGeom>
          <a:noFill/>
          <a:ln/>
        </p:spPr>
        <p:txBody>
          <a:bodyPr wrap="square" lIns="0" tIns="0" rIns="0" bIns="0" rtlCol="0" anchor="ctr"/>
          <a:lstStyle/>
          <a:p>
            <a:pPr marL="0" indent="0">
              <a:lnSpc>
                <a:spcPct val="108000"/>
              </a:lnSpc>
              <a:buNone/>
            </a:pPr>
            <a:r>
              <a:rPr lang="en-US" sz="1500" b="1" dirty="0">
                <a:solidFill>
                  <a:srgbClr val="1F4E79"/>
                </a:solidFill>
                <a:latin typeface="Microsoft JhengHei" pitchFamily="34" charset="0"/>
                <a:ea typeface="Microsoft JhengHei" pitchFamily="34" charset="-122"/>
                <a:cs typeface="Microsoft JhengHei" pitchFamily="34" charset="-120"/>
              </a:rPr>
              <a:t>試題保密</a:t>
            </a:r>
            <a:endParaRPr lang="en-US" sz="1500" dirty="0"/>
          </a:p>
          <a:p>
            <a:pPr marL="0" indent="0">
              <a:lnSpc>
                <a:spcPct val="108000"/>
              </a:lnSpc>
              <a:buNone/>
            </a:pPr>
            <a:r>
              <a:rPr lang="en-US" sz="1150" dirty="0">
                <a:solidFill>
                  <a:srgbClr val="1F2937"/>
                </a:solidFill>
                <a:latin typeface="Microsoft JhengHei" pitchFamily="34" charset="0"/>
                <a:ea typeface="Microsoft JhengHei" pitchFamily="34" charset="-122"/>
                <a:cs typeface="Microsoft JhengHei" pitchFamily="34" charset="-120"/>
              </a:rPr>
              <a:t>不放真實病人識別資料或機構敏感細節</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641080" y="4828032"/>
            <a:ext cx="365760" cy="274320"/>
          </a:xfrm>
          <a:prstGeom prst="rect">
            <a:avLst/>
          </a:prstGeom>
          <a:noFill/>
          <a:ln/>
        </p:spPr>
        <p:txBody>
          <a:bodyPr wrap="square" lIns="0" tIns="0" rIns="0" bIns="0" rtlCol="0" anchor="ctr"/>
          <a:lstStyle/>
          <a:p>
            <a:pPr marL="0" indent="0" algn="r">
              <a:buNone/>
            </a:pPr>
            <a:r>
              <a:rPr lang="en-US" sz="1000" dirty="0">
                <a:solidFill>
                  <a:srgbClr val="5B6B7F"/>
                </a:solidFill>
                <a:latin typeface="Microsoft JhengHei" pitchFamily="34" charset="0"/>
                <a:ea typeface="Microsoft JhengHei" pitchFamily="34" charset="-122"/>
                <a:cs typeface="Microsoft JhengHei" pitchFamily="34" charset="-120"/>
              </a:rPr>
              <a:t>5</a:t>
            </a:r>
            <a:endParaRPr lang="en-US" sz="1000" dirty="0"/>
          </a:p>
        </p:txBody>
      </p:sp>
      <p:sp>
        <p:nvSpPr>
          <p:cNvPr id="3" name="Text 1"/>
          <p:cNvSpPr/>
          <p:nvPr/>
        </p:nvSpPr>
        <p:spPr>
          <a:xfrm>
            <a:off x="502920" y="201168"/>
            <a:ext cx="8046720" cy="274320"/>
          </a:xfrm>
          <a:prstGeom prst="rect">
            <a:avLst/>
          </a:prstGeom>
          <a:noFill/>
          <a:ln/>
        </p:spPr>
        <p:txBody>
          <a:bodyPr wrap="square" lIns="0" tIns="0" rIns="0" bIns="0" rtlCol="0" anchor="ctr"/>
          <a:lstStyle/>
          <a:p>
            <a:pPr marL="0" indent="0">
              <a:buNone/>
            </a:pPr>
            <a:r>
              <a:rPr lang="en-US" sz="1200" b="1" kern="0" spc="200" dirty="0">
                <a:solidFill>
                  <a:srgbClr val="2E75B6"/>
                </a:solidFill>
                <a:latin typeface="Microsoft JhengHei" pitchFamily="34" charset="0"/>
                <a:ea typeface="Microsoft JhengHei" pitchFamily="34" charset="-122"/>
                <a:cs typeface="Microsoft JhengHei" pitchFamily="34" charset="-120"/>
              </a:rPr>
              <a:t>WHY IT'S HARD</a:t>
            </a:r>
            <a:endParaRPr lang="en-US" sz="1200" dirty="0"/>
          </a:p>
        </p:txBody>
      </p:sp>
      <p:sp>
        <p:nvSpPr>
          <p:cNvPr id="4" name="Text 2"/>
          <p:cNvSpPr/>
          <p:nvPr/>
        </p:nvSpPr>
        <p:spPr>
          <a:xfrm>
            <a:off x="502920" y="457200"/>
            <a:ext cx="8138160" cy="566928"/>
          </a:xfrm>
          <a:prstGeom prst="rect">
            <a:avLst/>
          </a:prstGeom>
          <a:noFill/>
          <a:ln/>
        </p:spPr>
        <p:txBody>
          <a:bodyPr wrap="square" lIns="0" tIns="0" rIns="0" bIns="0" rtlCol="0" anchor="ctr"/>
          <a:lstStyle/>
          <a:p>
            <a:pPr marL="0" indent="0">
              <a:buNone/>
            </a:pPr>
            <a:r>
              <a:rPr lang="en-US" sz="2700" b="1" dirty="0">
                <a:solidFill>
                  <a:srgbClr val="1F4E79"/>
                </a:solidFill>
                <a:latin typeface="Microsoft JhengHei" pitchFamily="34" charset="0"/>
                <a:ea typeface="Microsoft JhengHei" pitchFamily="34" charset="-122"/>
                <a:cs typeface="Microsoft JhengHei" pitchFamily="34" charset="-120"/>
              </a:rPr>
              <a:t>考題的困境</a:t>
            </a:r>
            <a:endParaRPr lang="en-US" sz="2700" dirty="0"/>
          </a:p>
        </p:txBody>
      </p:sp>
      <p:sp>
        <p:nvSpPr>
          <p:cNvPr id="5" name="Shape 3"/>
          <p:cNvSpPr/>
          <p:nvPr/>
        </p:nvSpPr>
        <p:spPr>
          <a:xfrm>
            <a:off x="502920" y="1188720"/>
            <a:ext cx="4023360" cy="1115568"/>
          </a:xfrm>
          <a:prstGeom prst="rect">
            <a:avLst/>
          </a:prstGeom>
          <a:solidFill>
            <a:srgbClr val="DEEBF7"/>
          </a:solidFill>
          <a:ln/>
        </p:spPr>
        <p:txBody>
          <a:bodyPr/>
          <a:lstStyle/>
          <a:p>
            <a:endParaRPr lang="zh-TW" altLang="en-US"/>
          </a:p>
        </p:txBody>
      </p:sp>
      <p:sp>
        <p:nvSpPr>
          <p:cNvPr id="6" name="Shape 4"/>
          <p:cNvSpPr/>
          <p:nvPr/>
        </p:nvSpPr>
        <p:spPr>
          <a:xfrm>
            <a:off x="502920" y="1188720"/>
            <a:ext cx="64008" cy="1115568"/>
          </a:xfrm>
          <a:prstGeom prst="rect">
            <a:avLst/>
          </a:prstGeom>
          <a:solidFill>
            <a:srgbClr val="2E75B6"/>
          </a:solidFill>
          <a:ln/>
        </p:spPr>
        <p:txBody>
          <a:bodyPr/>
          <a:lstStyle/>
          <a:p>
            <a:endParaRPr lang="zh-TW" altLang="en-US"/>
          </a:p>
        </p:txBody>
      </p:sp>
      <p:sp>
        <p:nvSpPr>
          <p:cNvPr id="7" name="Text 5"/>
          <p:cNvSpPr/>
          <p:nvPr/>
        </p:nvSpPr>
        <p:spPr>
          <a:xfrm>
            <a:off x="731520" y="1188720"/>
            <a:ext cx="3657600" cy="1115568"/>
          </a:xfrm>
          <a:prstGeom prst="rect">
            <a:avLst/>
          </a:prstGeom>
          <a:noFill/>
          <a:ln/>
        </p:spPr>
        <p:txBody>
          <a:bodyPr wrap="square" lIns="0" tIns="0" rIns="0" bIns="0" rtlCol="0" anchor="ctr"/>
          <a:lstStyle/>
          <a:p>
            <a:pPr marL="0" indent="0">
              <a:buNone/>
            </a:pPr>
            <a:r>
              <a:rPr lang="en-US" sz="1500" b="1" dirty="0">
                <a:solidFill>
                  <a:srgbClr val="1F4E79"/>
                </a:solidFill>
                <a:latin typeface="Microsoft JhengHei" pitchFamily="34" charset="0"/>
                <a:ea typeface="Microsoft JhengHei" pitchFamily="34" charset="-122"/>
                <a:cs typeface="Microsoft JhengHei" pitchFamily="34" charset="-120"/>
              </a:rPr>
              <a:t>出題一廂情願？</a:t>
            </a:r>
            <a:endParaRPr lang="en-US" sz="1500" dirty="0"/>
          </a:p>
          <a:p>
            <a:pPr marL="0" indent="0">
              <a:buNone/>
            </a:pPr>
            <a:r>
              <a:rPr lang="en-US" sz="1300" dirty="0">
                <a:solidFill>
                  <a:srgbClr val="5B6B7F"/>
                </a:solidFill>
                <a:latin typeface="Microsoft JhengHei" pitchFamily="34" charset="0"/>
                <a:ea typeface="Microsoft JhengHei" pitchFamily="34" charset="-122"/>
                <a:cs typeface="Microsoft JhengHei" pitchFamily="34" charset="-120"/>
              </a:rPr>
              <a:t>考生看到的跟你想的不一樣</a:t>
            </a:r>
            <a:endParaRPr lang="en-US" sz="1500" dirty="0"/>
          </a:p>
        </p:txBody>
      </p:sp>
      <p:sp>
        <p:nvSpPr>
          <p:cNvPr id="8" name="Shape 6"/>
          <p:cNvSpPr/>
          <p:nvPr/>
        </p:nvSpPr>
        <p:spPr>
          <a:xfrm>
            <a:off x="4709160" y="1188720"/>
            <a:ext cx="4023360" cy="1115568"/>
          </a:xfrm>
          <a:prstGeom prst="rect">
            <a:avLst/>
          </a:prstGeom>
          <a:solidFill>
            <a:srgbClr val="DEEBF7"/>
          </a:solidFill>
          <a:ln/>
        </p:spPr>
        <p:txBody>
          <a:bodyPr/>
          <a:lstStyle/>
          <a:p>
            <a:endParaRPr lang="zh-TW" altLang="en-US"/>
          </a:p>
        </p:txBody>
      </p:sp>
      <p:sp>
        <p:nvSpPr>
          <p:cNvPr id="9" name="Shape 7"/>
          <p:cNvSpPr/>
          <p:nvPr/>
        </p:nvSpPr>
        <p:spPr>
          <a:xfrm>
            <a:off x="4709160" y="1188720"/>
            <a:ext cx="64008" cy="1115568"/>
          </a:xfrm>
          <a:prstGeom prst="rect">
            <a:avLst/>
          </a:prstGeom>
          <a:solidFill>
            <a:srgbClr val="2E75B6"/>
          </a:solidFill>
          <a:ln/>
        </p:spPr>
        <p:txBody>
          <a:bodyPr/>
          <a:lstStyle/>
          <a:p>
            <a:endParaRPr lang="zh-TW" altLang="en-US"/>
          </a:p>
        </p:txBody>
      </p:sp>
      <p:sp>
        <p:nvSpPr>
          <p:cNvPr id="10" name="Text 8"/>
          <p:cNvSpPr/>
          <p:nvPr/>
        </p:nvSpPr>
        <p:spPr>
          <a:xfrm>
            <a:off x="4937760" y="1188720"/>
            <a:ext cx="3657600" cy="1115568"/>
          </a:xfrm>
          <a:prstGeom prst="rect">
            <a:avLst/>
          </a:prstGeom>
          <a:noFill/>
          <a:ln/>
        </p:spPr>
        <p:txBody>
          <a:bodyPr wrap="square" lIns="0" tIns="0" rIns="0" bIns="0" rtlCol="0" anchor="ctr"/>
          <a:lstStyle/>
          <a:p>
            <a:pPr marL="0" indent="0">
              <a:buNone/>
            </a:pPr>
            <a:r>
              <a:rPr lang="en-US" sz="1500" b="1" dirty="0">
                <a:solidFill>
                  <a:srgbClr val="1F4E79"/>
                </a:solidFill>
                <a:latin typeface="Microsoft JhengHei" pitchFamily="34" charset="0"/>
                <a:ea typeface="Microsoft JhengHei" pitchFamily="34" charset="-122"/>
                <a:cs typeface="Microsoft JhengHei" pitchFamily="34" charset="-120"/>
              </a:rPr>
              <a:t>八分鐘</a:t>
            </a:r>
            <a:endParaRPr lang="en-US" sz="1500" dirty="0"/>
          </a:p>
          <a:p>
            <a:pPr marL="0" indent="0">
              <a:buNone/>
            </a:pPr>
            <a:r>
              <a:rPr lang="en-US" sz="1300" dirty="0">
                <a:solidFill>
                  <a:srgbClr val="5B6B7F"/>
                </a:solidFill>
                <a:latin typeface="Microsoft JhengHei" pitchFamily="34" charset="0"/>
                <a:ea typeface="Microsoft JhengHei" pitchFamily="34" charset="-122"/>
                <a:cs typeface="Microsoft JhengHei" pitchFamily="34" charset="-120"/>
              </a:rPr>
              <a:t>太短又太長</a:t>
            </a:r>
            <a:endParaRPr lang="en-US" sz="1500" dirty="0"/>
          </a:p>
        </p:txBody>
      </p:sp>
      <p:sp>
        <p:nvSpPr>
          <p:cNvPr id="11" name="Shape 9"/>
          <p:cNvSpPr/>
          <p:nvPr/>
        </p:nvSpPr>
        <p:spPr>
          <a:xfrm>
            <a:off x="502920" y="2487168"/>
            <a:ext cx="4023360" cy="1115568"/>
          </a:xfrm>
          <a:prstGeom prst="rect">
            <a:avLst/>
          </a:prstGeom>
          <a:solidFill>
            <a:srgbClr val="DEEBF7"/>
          </a:solidFill>
          <a:ln/>
        </p:spPr>
        <p:txBody>
          <a:bodyPr/>
          <a:lstStyle/>
          <a:p>
            <a:endParaRPr lang="zh-TW" altLang="en-US"/>
          </a:p>
        </p:txBody>
      </p:sp>
      <p:sp>
        <p:nvSpPr>
          <p:cNvPr id="12" name="Shape 10"/>
          <p:cNvSpPr/>
          <p:nvPr/>
        </p:nvSpPr>
        <p:spPr>
          <a:xfrm>
            <a:off x="502920" y="2487168"/>
            <a:ext cx="64008" cy="1115568"/>
          </a:xfrm>
          <a:prstGeom prst="rect">
            <a:avLst/>
          </a:prstGeom>
          <a:solidFill>
            <a:srgbClr val="2E75B6"/>
          </a:solidFill>
          <a:ln/>
        </p:spPr>
        <p:txBody>
          <a:bodyPr/>
          <a:lstStyle/>
          <a:p>
            <a:endParaRPr lang="zh-TW" altLang="en-US"/>
          </a:p>
        </p:txBody>
      </p:sp>
      <p:sp>
        <p:nvSpPr>
          <p:cNvPr id="13" name="Text 11"/>
          <p:cNvSpPr/>
          <p:nvPr/>
        </p:nvSpPr>
        <p:spPr>
          <a:xfrm>
            <a:off x="731520" y="2487168"/>
            <a:ext cx="3657600" cy="1115568"/>
          </a:xfrm>
          <a:prstGeom prst="rect">
            <a:avLst/>
          </a:prstGeom>
          <a:noFill/>
          <a:ln/>
        </p:spPr>
        <p:txBody>
          <a:bodyPr wrap="square" lIns="0" tIns="0" rIns="0" bIns="0" rtlCol="0" anchor="ctr"/>
          <a:lstStyle/>
          <a:p>
            <a:pPr marL="0" indent="0">
              <a:buNone/>
            </a:pPr>
            <a:r>
              <a:rPr lang="en-US" sz="1500" b="1" dirty="0">
                <a:solidFill>
                  <a:srgbClr val="1F4E79"/>
                </a:solidFill>
                <a:latin typeface="Microsoft JhengHei" pitchFamily="34" charset="0"/>
                <a:ea typeface="Microsoft JhengHei" pitchFamily="34" charset="-122"/>
                <a:cs typeface="Microsoft JhengHei" pitchFamily="34" charset="-120"/>
              </a:rPr>
              <a:t>劇本要合理</a:t>
            </a:r>
            <a:endParaRPr lang="en-US" sz="1500" dirty="0"/>
          </a:p>
          <a:p>
            <a:pPr marL="0" indent="0">
              <a:buNone/>
            </a:pPr>
            <a:r>
              <a:rPr lang="en-US" sz="1300" dirty="0">
                <a:solidFill>
                  <a:srgbClr val="5B6B7F"/>
                </a:solidFill>
                <a:latin typeface="Microsoft JhengHei" pitchFamily="34" charset="0"/>
                <a:ea typeface="Microsoft JhengHei" pitchFamily="34" charset="-122"/>
                <a:cs typeface="Microsoft JhengHei" pitchFamily="34" charset="-120"/>
              </a:rPr>
              <a:t>但不要太冗長</a:t>
            </a:r>
            <a:endParaRPr lang="en-US" sz="1500" dirty="0"/>
          </a:p>
        </p:txBody>
      </p:sp>
      <p:sp>
        <p:nvSpPr>
          <p:cNvPr id="14" name="Shape 12"/>
          <p:cNvSpPr/>
          <p:nvPr/>
        </p:nvSpPr>
        <p:spPr>
          <a:xfrm>
            <a:off x="4709160" y="2487168"/>
            <a:ext cx="4023360" cy="1115568"/>
          </a:xfrm>
          <a:prstGeom prst="rect">
            <a:avLst/>
          </a:prstGeom>
          <a:solidFill>
            <a:srgbClr val="DEEBF7"/>
          </a:solidFill>
          <a:ln/>
        </p:spPr>
        <p:txBody>
          <a:bodyPr/>
          <a:lstStyle/>
          <a:p>
            <a:endParaRPr lang="zh-TW" altLang="en-US"/>
          </a:p>
        </p:txBody>
      </p:sp>
      <p:sp>
        <p:nvSpPr>
          <p:cNvPr id="15" name="Shape 13"/>
          <p:cNvSpPr/>
          <p:nvPr/>
        </p:nvSpPr>
        <p:spPr>
          <a:xfrm>
            <a:off x="4709160" y="2487168"/>
            <a:ext cx="64008" cy="1115568"/>
          </a:xfrm>
          <a:prstGeom prst="rect">
            <a:avLst/>
          </a:prstGeom>
          <a:solidFill>
            <a:srgbClr val="2E75B6"/>
          </a:solidFill>
          <a:ln/>
        </p:spPr>
        <p:txBody>
          <a:bodyPr/>
          <a:lstStyle/>
          <a:p>
            <a:endParaRPr lang="zh-TW" altLang="en-US"/>
          </a:p>
        </p:txBody>
      </p:sp>
      <p:sp>
        <p:nvSpPr>
          <p:cNvPr id="16" name="Text 14"/>
          <p:cNvSpPr/>
          <p:nvPr/>
        </p:nvSpPr>
        <p:spPr>
          <a:xfrm>
            <a:off x="4937760" y="2487168"/>
            <a:ext cx="3657600" cy="1115568"/>
          </a:xfrm>
          <a:prstGeom prst="rect">
            <a:avLst/>
          </a:prstGeom>
          <a:noFill/>
          <a:ln/>
        </p:spPr>
        <p:txBody>
          <a:bodyPr wrap="square" lIns="0" tIns="0" rIns="0" bIns="0" rtlCol="0" anchor="ctr"/>
          <a:lstStyle/>
          <a:p>
            <a:pPr marL="0" indent="0">
              <a:buNone/>
            </a:pPr>
            <a:r>
              <a:rPr lang="en-US" sz="1500" b="1" dirty="0">
                <a:solidFill>
                  <a:srgbClr val="1F4E79"/>
                </a:solidFill>
                <a:latin typeface="Microsoft JhengHei" pitchFamily="34" charset="0"/>
                <a:ea typeface="Microsoft JhengHei" pitchFamily="34" charset="-122"/>
                <a:cs typeface="Microsoft JhengHei" pitchFamily="34" charset="-120"/>
              </a:rPr>
              <a:t>反映真實臨床</a:t>
            </a:r>
            <a:endParaRPr lang="en-US" sz="1500" dirty="0"/>
          </a:p>
          <a:p>
            <a:pPr marL="0" indent="0">
              <a:buNone/>
            </a:pPr>
            <a:r>
              <a:rPr lang="en-US" sz="1300" dirty="0">
                <a:solidFill>
                  <a:srgbClr val="5B6B7F"/>
                </a:solidFill>
                <a:latin typeface="Microsoft JhengHei" pitchFamily="34" charset="0"/>
                <a:ea typeface="Microsoft JhengHei" pitchFamily="34" charset="-122"/>
                <a:cs typeface="Microsoft JhengHei" pitchFamily="34" charset="-120"/>
              </a:rPr>
              <a:t>又要符合學生能力</a:t>
            </a:r>
            <a:endParaRPr lang="en-US" sz="1500" dirty="0"/>
          </a:p>
        </p:txBody>
      </p:sp>
      <p:sp>
        <p:nvSpPr>
          <p:cNvPr id="17" name="Shape 15"/>
          <p:cNvSpPr/>
          <p:nvPr/>
        </p:nvSpPr>
        <p:spPr>
          <a:xfrm>
            <a:off x="502920" y="3977640"/>
            <a:ext cx="8138160" cy="685800"/>
          </a:xfrm>
          <a:prstGeom prst="rect">
            <a:avLst/>
          </a:prstGeom>
          <a:solidFill>
            <a:srgbClr val="1F4E79"/>
          </a:solidFill>
          <a:ln/>
        </p:spPr>
        <p:txBody>
          <a:bodyPr/>
          <a:lstStyle/>
          <a:p>
            <a:endParaRPr lang="zh-TW" altLang="en-US"/>
          </a:p>
        </p:txBody>
      </p:sp>
      <p:sp>
        <p:nvSpPr>
          <p:cNvPr id="18" name="Text 16"/>
          <p:cNvSpPr/>
          <p:nvPr/>
        </p:nvSpPr>
        <p:spPr>
          <a:xfrm>
            <a:off x="731520" y="3977640"/>
            <a:ext cx="7680960" cy="685800"/>
          </a:xfrm>
          <a:prstGeom prst="rect">
            <a:avLst/>
          </a:prstGeom>
          <a:noFill/>
          <a:ln/>
        </p:spPr>
        <p:txBody>
          <a:bodyPr wrap="square" lIns="0" tIns="0" rIns="0" bIns="0" rtlCol="0" anchor="ctr"/>
          <a:lstStyle/>
          <a:p>
            <a:pPr marL="0" indent="0">
              <a:buNone/>
            </a:pPr>
            <a:r>
              <a:rPr lang="en-US" sz="1500" b="1" dirty="0">
                <a:solidFill>
                  <a:srgbClr val="FFFFFF"/>
                </a:solidFill>
                <a:latin typeface="Microsoft JhengHei" pitchFamily="34" charset="0"/>
                <a:ea typeface="Microsoft JhengHei" pitchFamily="34" charset="-122"/>
                <a:cs typeface="Microsoft JhengHei" pitchFamily="34" charset="-120"/>
              </a:rPr>
              <a:t>解方：把出題變成「系統化流程」——先藍圖、再五大部分、最後過檢核閘</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641080" y="4828032"/>
            <a:ext cx="365760" cy="274320"/>
          </a:xfrm>
          <a:prstGeom prst="rect">
            <a:avLst/>
          </a:prstGeom>
          <a:noFill/>
          <a:ln/>
        </p:spPr>
        <p:txBody>
          <a:bodyPr wrap="square" lIns="0" tIns="0" rIns="0" bIns="0" rtlCol="0" anchor="ctr"/>
          <a:lstStyle/>
          <a:p>
            <a:pPr marL="0" indent="0" algn="r">
              <a:buNone/>
            </a:pPr>
            <a:r>
              <a:rPr lang="en-US" sz="1000" dirty="0">
                <a:solidFill>
                  <a:srgbClr val="5B6B7F"/>
                </a:solidFill>
                <a:latin typeface="Microsoft JhengHei" pitchFamily="34" charset="0"/>
                <a:ea typeface="Microsoft JhengHei" pitchFamily="34" charset="-122"/>
                <a:cs typeface="Microsoft JhengHei" pitchFamily="34" charset="-120"/>
              </a:rPr>
              <a:t>6</a:t>
            </a:r>
            <a:endParaRPr lang="en-US" sz="1000" dirty="0"/>
          </a:p>
        </p:txBody>
      </p:sp>
      <p:sp>
        <p:nvSpPr>
          <p:cNvPr id="3" name="Text 1"/>
          <p:cNvSpPr/>
          <p:nvPr/>
        </p:nvSpPr>
        <p:spPr>
          <a:xfrm>
            <a:off x="502920" y="201168"/>
            <a:ext cx="8046720" cy="274320"/>
          </a:xfrm>
          <a:prstGeom prst="rect">
            <a:avLst/>
          </a:prstGeom>
          <a:noFill/>
          <a:ln/>
        </p:spPr>
        <p:txBody>
          <a:bodyPr wrap="square" lIns="0" tIns="0" rIns="0" bIns="0" rtlCol="0" anchor="ctr"/>
          <a:lstStyle/>
          <a:p>
            <a:pPr marL="0" indent="0">
              <a:buNone/>
            </a:pPr>
            <a:r>
              <a:rPr lang="en-US" sz="1200" b="1" kern="0" spc="200" dirty="0">
                <a:solidFill>
                  <a:srgbClr val="2E75B6"/>
                </a:solidFill>
                <a:latin typeface="Microsoft JhengHei" pitchFamily="34" charset="0"/>
                <a:ea typeface="Microsoft JhengHei" pitchFamily="34" charset="-122"/>
                <a:cs typeface="Microsoft JhengHei" pitchFamily="34" charset="-120"/>
              </a:rPr>
              <a:t>BEFORE WRITING</a:t>
            </a:r>
            <a:endParaRPr lang="en-US" sz="1200" dirty="0"/>
          </a:p>
        </p:txBody>
      </p:sp>
      <p:sp>
        <p:nvSpPr>
          <p:cNvPr id="4" name="Text 2"/>
          <p:cNvSpPr/>
          <p:nvPr/>
        </p:nvSpPr>
        <p:spPr>
          <a:xfrm>
            <a:off x="502920" y="457200"/>
            <a:ext cx="8138160" cy="566928"/>
          </a:xfrm>
          <a:prstGeom prst="rect">
            <a:avLst/>
          </a:prstGeom>
          <a:noFill/>
          <a:ln/>
        </p:spPr>
        <p:txBody>
          <a:bodyPr wrap="square" lIns="0" tIns="0" rIns="0" bIns="0" rtlCol="0" anchor="ctr"/>
          <a:lstStyle/>
          <a:p>
            <a:pPr marL="0" indent="0">
              <a:buNone/>
            </a:pPr>
            <a:r>
              <a:rPr lang="en-US" sz="2700" b="1" dirty="0">
                <a:solidFill>
                  <a:srgbClr val="1F4E79"/>
                </a:solidFill>
                <a:latin typeface="Microsoft JhengHei" pitchFamily="34" charset="0"/>
                <a:ea typeface="Microsoft JhengHei" pitchFamily="34" charset="-122"/>
                <a:cs typeface="Microsoft JhengHei" pitchFamily="34" charset="-120"/>
              </a:rPr>
              <a:t>動筆之前，先回答三個問題</a:t>
            </a:r>
            <a:endParaRPr lang="en-US" sz="2700" dirty="0"/>
          </a:p>
        </p:txBody>
      </p:sp>
      <p:sp>
        <p:nvSpPr>
          <p:cNvPr id="5" name="Shape 3"/>
          <p:cNvSpPr/>
          <p:nvPr/>
        </p:nvSpPr>
        <p:spPr>
          <a:xfrm>
            <a:off x="502920" y="1234440"/>
            <a:ext cx="2606040" cy="3108960"/>
          </a:xfrm>
          <a:prstGeom prst="rect">
            <a:avLst/>
          </a:prstGeom>
          <a:solidFill>
            <a:srgbClr val="DEEBF7"/>
          </a:solidFill>
          <a:ln/>
        </p:spPr>
        <p:txBody>
          <a:bodyPr/>
          <a:lstStyle/>
          <a:p>
            <a:endParaRPr lang="zh-TW" altLang="en-US"/>
          </a:p>
        </p:txBody>
      </p:sp>
      <p:sp>
        <p:nvSpPr>
          <p:cNvPr id="6" name="Shape 4"/>
          <p:cNvSpPr/>
          <p:nvPr/>
        </p:nvSpPr>
        <p:spPr>
          <a:xfrm>
            <a:off x="502920" y="1234440"/>
            <a:ext cx="64008" cy="3108960"/>
          </a:xfrm>
          <a:prstGeom prst="rect">
            <a:avLst/>
          </a:prstGeom>
          <a:solidFill>
            <a:srgbClr val="2E75B6"/>
          </a:solidFill>
          <a:ln/>
        </p:spPr>
        <p:txBody>
          <a:bodyPr/>
          <a:lstStyle/>
          <a:p>
            <a:endParaRPr lang="zh-TW" altLang="en-US"/>
          </a:p>
        </p:txBody>
      </p:sp>
      <p:sp>
        <p:nvSpPr>
          <p:cNvPr id="7" name="Shape 5"/>
          <p:cNvSpPr/>
          <p:nvPr/>
        </p:nvSpPr>
        <p:spPr>
          <a:xfrm>
            <a:off x="731520" y="1463040"/>
            <a:ext cx="502920" cy="502920"/>
          </a:xfrm>
          <a:prstGeom prst="ellipse">
            <a:avLst/>
          </a:prstGeom>
          <a:solidFill>
            <a:srgbClr val="2E75B6"/>
          </a:solidFill>
          <a:ln/>
        </p:spPr>
        <p:txBody>
          <a:bodyPr/>
          <a:lstStyle/>
          <a:p>
            <a:endParaRPr lang="zh-TW" altLang="en-US"/>
          </a:p>
        </p:txBody>
      </p:sp>
      <p:sp>
        <p:nvSpPr>
          <p:cNvPr id="8" name="Text 6"/>
          <p:cNvSpPr/>
          <p:nvPr/>
        </p:nvSpPr>
        <p:spPr>
          <a:xfrm>
            <a:off x="731520" y="1452067"/>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Microsoft JhengHei" pitchFamily="34" charset="0"/>
                <a:ea typeface="Microsoft JhengHei" pitchFamily="34" charset="-122"/>
                <a:cs typeface="Microsoft JhengHei" pitchFamily="34" charset="-120"/>
              </a:rPr>
              <a:t>1</a:t>
            </a:r>
            <a:endParaRPr lang="en-US" sz="2000" dirty="0"/>
          </a:p>
        </p:txBody>
      </p:sp>
      <p:sp>
        <p:nvSpPr>
          <p:cNvPr id="9" name="Text 7"/>
          <p:cNvSpPr/>
          <p:nvPr/>
        </p:nvSpPr>
        <p:spPr>
          <a:xfrm>
            <a:off x="731520" y="2148840"/>
            <a:ext cx="2194560" cy="2011680"/>
          </a:xfrm>
          <a:prstGeom prst="rect">
            <a:avLst/>
          </a:prstGeom>
          <a:noFill/>
          <a:ln/>
        </p:spPr>
        <p:txBody>
          <a:bodyPr wrap="square" lIns="0" tIns="0" rIns="0" bIns="0" rtlCol="0" anchor="ctr"/>
          <a:lstStyle/>
          <a:p>
            <a:pPr marL="0" indent="0">
              <a:lnSpc>
                <a:spcPct val="112000"/>
              </a:lnSpc>
              <a:buNone/>
            </a:pPr>
            <a:r>
              <a:rPr lang="en-US" sz="1600" b="1" dirty="0">
                <a:solidFill>
                  <a:srgbClr val="1F4E79"/>
                </a:solidFill>
                <a:latin typeface="Microsoft JhengHei" pitchFamily="34" charset="0"/>
                <a:ea typeface="Microsoft JhengHei" pitchFamily="34" charset="-122"/>
                <a:cs typeface="Microsoft JhengHei" pitchFamily="34" charset="-120"/>
              </a:rPr>
              <a:t>測驗對象是誰？</a:t>
            </a:r>
            <a:endParaRPr lang="en-US" sz="1600" dirty="0"/>
          </a:p>
          <a:p>
            <a:pPr marL="0" indent="0">
              <a:lnSpc>
                <a:spcPct val="112000"/>
              </a:lnSpc>
              <a:buNone/>
            </a:pPr>
            <a:endParaRPr lang="en-US" sz="1600" dirty="0"/>
          </a:p>
          <a:p>
            <a:pPr marL="0" indent="0">
              <a:lnSpc>
                <a:spcPct val="112000"/>
              </a:lnSpc>
              <a:buNone/>
            </a:pPr>
            <a:r>
              <a:rPr lang="en-US" sz="1200" dirty="0">
                <a:solidFill>
                  <a:srgbClr val="1F2937"/>
                </a:solidFill>
                <a:latin typeface="Microsoft JhengHei" pitchFamily="34" charset="0"/>
                <a:ea typeface="Microsoft JhengHei" pitchFamily="34" charset="-122"/>
                <a:cs typeface="Microsoft JhengHei" pitchFamily="34" charset="-120"/>
              </a:rPr>
              <a:t>clerk／PGY／國考考生／住院醫師</a:t>
            </a:r>
            <a:endParaRPr lang="en-US" sz="1600" dirty="0"/>
          </a:p>
          <a:p>
            <a:pPr marL="0" indent="0">
              <a:lnSpc>
                <a:spcPct val="112000"/>
              </a:lnSpc>
              <a:buNone/>
            </a:pPr>
            <a:endParaRPr lang="en-US" sz="1600" dirty="0"/>
          </a:p>
          <a:p>
            <a:pPr marL="0" indent="0">
              <a:lnSpc>
                <a:spcPct val="112000"/>
              </a:lnSpc>
              <a:buNone/>
            </a:pPr>
            <a:r>
              <a:rPr lang="en-US" sz="1250" b="1" dirty="0">
                <a:solidFill>
                  <a:srgbClr val="2E75B6"/>
                </a:solidFill>
                <a:latin typeface="Microsoft JhengHei" pitchFamily="34" charset="0"/>
                <a:ea typeface="Microsoft JhengHei" pitchFamily="34" charset="-122"/>
                <a:cs typeface="Microsoft JhengHei" pitchFamily="34" charset="-120"/>
              </a:rPr>
              <a:t>→ 決定題目難度與專業深度</a:t>
            </a:r>
            <a:endParaRPr lang="en-US" sz="1600" dirty="0"/>
          </a:p>
        </p:txBody>
      </p:sp>
      <p:sp>
        <p:nvSpPr>
          <p:cNvPr id="10" name="Shape 8"/>
          <p:cNvSpPr/>
          <p:nvPr/>
        </p:nvSpPr>
        <p:spPr>
          <a:xfrm>
            <a:off x="3310128" y="1234440"/>
            <a:ext cx="2606040" cy="3108960"/>
          </a:xfrm>
          <a:prstGeom prst="rect">
            <a:avLst/>
          </a:prstGeom>
          <a:solidFill>
            <a:srgbClr val="DEEBF7"/>
          </a:solidFill>
          <a:ln/>
        </p:spPr>
        <p:txBody>
          <a:bodyPr/>
          <a:lstStyle/>
          <a:p>
            <a:endParaRPr lang="zh-TW" altLang="en-US"/>
          </a:p>
        </p:txBody>
      </p:sp>
      <p:sp>
        <p:nvSpPr>
          <p:cNvPr id="11" name="Shape 9"/>
          <p:cNvSpPr/>
          <p:nvPr/>
        </p:nvSpPr>
        <p:spPr>
          <a:xfrm>
            <a:off x="3310128" y="1234440"/>
            <a:ext cx="64008" cy="3108960"/>
          </a:xfrm>
          <a:prstGeom prst="rect">
            <a:avLst/>
          </a:prstGeom>
          <a:solidFill>
            <a:srgbClr val="2E75B6"/>
          </a:solidFill>
          <a:ln/>
        </p:spPr>
        <p:txBody>
          <a:bodyPr/>
          <a:lstStyle/>
          <a:p>
            <a:endParaRPr lang="zh-TW" altLang="en-US"/>
          </a:p>
        </p:txBody>
      </p:sp>
      <p:sp>
        <p:nvSpPr>
          <p:cNvPr id="12" name="Shape 10"/>
          <p:cNvSpPr/>
          <p:nvPr/>
        </p:nvSpPr>
        <p:spPr>
          <a:xfrm>
            <a:off x="3538728" y="1463040"/>
            <a:ext cx="502920" cy="502920"/>
          </a:xfrm>
          <a:prstGeom prst="ellipse">
            <a:avLst/>
          </a:prstGeom>
          <a:solidFill>
            <a:srgbClr val="2E75B6"/>
          </a:solidFill>
          <a:ln/>
        </p:spPr>
        <p:txBody>
          <a:bodyPr/>
          <a:lstStyle/>
          <a:p>
            <a:endParaRPr lang="zh-TW" altLang="en-US"/>
          </a:p>
        </p:txBody>
      </p:sp>
      <p:sp>
        <p:nvSpPr>
          <p:cNvPr id="13" name="Text 11"/>
          <p:cNvSpPr/>
          <p:nvPr/>
        </p:nvSpPr>
        <p:spPr>
          <a:xfrm>
            <a:off x="3538728" y="1452067"/>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Microsoft JhengHei" pitchFamily="34" charset="0"/>
                <a:ea typeface="Microsoft JhengHei" pitchFamily="34" charset="-122"/>
                <a:cs typeface="Microsoft JhengHei" pitchFamily="34" charset="-120"/>
              </a:rPr>
              <a:t>2</a:t>
            </a:r>
            <a:endParaRPr lang="en-US" sz="2000" dirty="0"/>
          </a:p>
        </p:txBody>
      </p:sp>
      <p:sp>
        <p:nvSpPr>
          <p:cNvPr id="14" name="Text 12"/>
          <p:cNvSpPr/>
          <p:nvPr/>
        </p:nvSpPr>
        <p:spPr>
          <a:xfrm>
            <a:off x="3538728" y="2148840"/>
            <a:ext cx="2194560" cy="2011680"/>
          </a:xfrm>
          <a:prstGeom prst="rect">
            <a:avLst/>
          </a:prstGeom>
          <a:noFill/>
          <a:ln/>
        </p:spPr>
        <p:txBody>
          <a:bodyPr wrap="square" lIns="0" tIns="0" rIns="0" bIns="0" rtlCol="0" anchor="ctr"/>
          <a:lstStyle/>
          <a:p>
            <a:pPr marL="0" indent="0">
              <a:lnSpc>
                <a:spcPct val="112000"/>
              </a:lnSpc>
              <a:buNone/>
            </a:pPr>
            <a:r>
              <a:rPr lang="en-US" sz="1600" b="1" dirty="0">
                <a:solidFill>
                  <a:srgbClr val="1F4E79"/>
                </a:solidFill>
                <a:latin typeface="Microsoft JhengHei" pitchFamily="34" charset="0"/>
                <a:ea typeface="Microsoft JhengHei" pitchFamily="34" charset="-122"/>
                <a:cs typeface="Microsoft JhengHei" pitchFamily="34" charset="-120"/>
              </a:rPr>
              <a:t>評量目標是什麼？</a:t>
            </a:r>
            <a:endParaRPr lang="en-US" sz="1600" dirty="0"/>
          </a:p>
          <a:p>
            <a:pPr marL="0" indent="0">
              <a:lnSpc>
                <a:spcPct val="112000"/>
              </a:lnSpc>
              <a:buNone/>
            </a:pPr>
            <a:endParaRPr lang="en-US" sz="1600" dirty="0"/>
          </a:p>
          <a:p>
            <a:pPr marL="0" indent="0">
              <a:lnSpc>
                <a:spcPct val="112000"/>
              </a:lnSpc>
              <a:buNone/>
            </a:pPr>
            <a:r>
              <a:rPr lang="en-US" sz="1200" dirty="0">
                <a:solidFill>
                  <a:srgbClr val="1F2937"/>
                </a:solidFill>
                <a:latin typeface="Microsoft JhengHei" pitchFamily="34" charset="0"/>
                <a:ea typeface="Microsoft JhengHei" pitchFamily="34" charset="-122"/>
                <a:cs typeface="Microsoft JhengHei" pitchFamily="34" charset="-120"/>
              </a:rPr>
              <a:t>知識、技能、態度，還是綜合應用</a:t>
            </a:r>
            <a:endParaRPr lang="en-US" sz="1600" dirty="0"/>
          </a:p>
          <a:p>
            <a:pPr marL="0" indent="0">
              <a:lnSpc>
                <a:spcPct val="112000"/>
              </a:lnSpc>
              <a:buNone/>
            </a:pPr>
            <a:endParaRPr lang="en-US" sz="1600" dirty="0"/>
          </a:p>
          <a:p>
            <a:pPr marL="0" indent="0">
              <a:lnSpc>
                <a:spcPct val="112000"/>
              </a:lnSpc>
              <a:buNone/>
            </a:pPr>
            <a:r>
              <a:rPr lang="en-US" sz="1250" b="1" dirty="0">
                <a:solidFill>
                  <a:srgbClr val="2E75B6"/>
                </a:solidFill>
                <a:latin typeface="Microsoft JhengHei" pitchFamily="34" charset="0"/>
                <a:ea typeface="Microsoft JhengHei" pitchFamily="34" charset="-122"/>
                <a:cs typeface="Microsoft JhengHei" pitchFamily="34" charset="-120"/>
              </a:rPr>
              <a:t>→ 決定站型與評分重點</a:t>
            </a:r>
            <a:endParaRPr lang="en-US" sz="1600" dirty="0"/>
          </a:p>
        </p:txBody>
      </p:sp>
      <p:sp>
        <p:nvSpPr>
          <p:cNvPr id="15" name="Shape 13"/>
          <p:cNvSpPr/>
          <p:nvPr/>
        </p:nvSpPr>
        <p:spPr>
          <a:xfrm>
            <a:off x="6117336" y="1234440"/>
            <a:ext cx="2606040" cy="3108960"/>
          </a:xfrm>
          <a:prstGeom prst="rect">
            <a:avLst/>
          </a:prstGeom>
          <a:solidFill>
            <a:srgbClr val="DEEBF7"/>
          </a:solidFill>
          <a:ln/>
        </p:spPr>
        <p:txBody>
          <a:bodyPr/>
          <a:lstStyle/>
          <a:p>
            <a:endParaRPr lang="zh-TW" altLang="en-US"/>
          </a:p>
        </p:txBody>
      </p:sp>
      <p:sp>
        <p:nvSpPr>
          <p:cNvPr id="16" name="Shape 14"/>
          <p:cNvSpPr/>
          <p:nvPr/>
        </p:nvSpPr>
        <p:spPr>
          <a:xfrm>
            <a:off x="6117336" y="1234440"/>
            <a:ext cx="64008" cy="3108960"/>
          </a:xfrm>
          <a:prstGeom prst="rect">
            <a:avLst/>
          </a:prstGeom>
          <a:solidFill>
            <a:srgbClr val="2E75B6"/>
          </a:solidFill>
          <a:ln/>
        </p:spPr>
        <p:txBody>
          <a:bodyPr/>
          <a:lstStyle/>
          <a:p>
            <a:endParaRPr lang="zh-TW" altLang="en-US"/>
          </a:p>
        </p:txBody>
      </p:sp>
      <p:sp>
        <p:nvSpPr>
          <p:cNvPr id="17" name="Shape 15"/>
          <p:cNvSpPr/>
          <p:nvPr/>
        </p:nvSpPr>
        <p:spPr>
          <a:xfrm>
            <a:off x="6345936" y="1463040"/>
            <a:ext cx="502920" cy="502920"/>
          </a:xfrm>
          <a:prstGeom prst="ellipse">
            <a:avLst/>
          </a:prstGeom>
          <a:solidFill>
            <a:srgbClr val="2E75B6"/>
          </a:solidFill>
          <a:ln/>
        </p:spPr>
        <p:txBody>
          <a:bodyPr/>
          <a:lstStyle/>
          <a:p>
            <a:endParaRPr lang="zh-TW" altLang="en-US"/>
          </a:p>
        </p:txBody>
      </p:sp>
      <p:sp>
        <p:nvSpPr>
          <p:cNvPr id="18" name="Text 16"/>
          <p:cNvSpPr/>
          <p:nvPr/>
        </p:nvSpPr>
        <p:spPr>
          <a:xfrm>
            <a:off x="6345936" y="1452067"/>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Microsoft JhengHei" pitchFamily="34" charset="0"/>
                <a:ea typeface="Microsoft JhengHei" pitchFamily="34" charset="-122"/>
                <a:cs typeface="Microsoft JhengHei" pitchFamily="34" charset="-120"/>
              </a:rPr>
              <a:t>3</a:t>
            </a:r>
            <a:endParaRPr lang="en-US" sz="2000" dirty="0"/>
          </a:p>
        </p:txBody>
      </p:sp>
      <p:sp>
        <p:nvSpPr>
          <p:cNvPr id="19" name="Text 17"/>
          <p:cNvSpPr/>
          <p:nvPr/>
        </p:nvSpPr>
        <p:spPr>
          <a:xfrm>
            <a:off x="6345936" y="2148840"/>
            <a:ext cx="2194560" cy="2011680"/>
          </a:xfrm>
          <a:prstGeom prst="rect">
            <a:avLst/>
          </a:prstGeom>
          <a:noFill/>
          <a:ln/>
        </p:spPr>
        <p:txBody>
          <a:bodyPr wrap="square" lIns="0" tIns="0" rIns="0" bIns="0" rtlCol="0" anchor="ctr"/>
          <a:lstStyle/>
          <a:p>
            <a:pPr marL="0" indent="0">
              <a:lnSpc>
                <a:spcPct val="112000"/>
              </a:lnSpc>
              <a:buNone/>
            </a:pPr>
            <a:r>
              <a:rPr lang="en-US" sz="1600" b="1" dirty="0">
                <a:solidFill>
                  <a:srgbClr val="1F4E79"/>
                </a:solidFill>
                <a:latin typeface="Microsoft JhengHei" pitchFamily="34" charset="0"/>
                <a:ea typeface="Microsoft JhengHei" pitchFamily="34" charset="-122"/>
                <a:cs typeface="Microsoft JhengHei" pitchFamily="34" charset="-120"/>
              </a:rPr>
              <a:t>應具備哪些能力？</a:t>
            </a:r>
            <a:endParaRPr lang="en-US" sz="1600" dirty="0"/>
          </a:p>
          <a:p>
            <a:pPr marL="0" indent="0">
              <a:lnSpc>
                <a:spcPct val="112000"/>
              </a:lnSpc>
              <a:buNone/>
            </a:pPr>
            <a:endParaRPr lang="en-US" sz="1600" dirty="0"/>
          </a:p>
          <a:p>
            <a:pPr marL="0" indent="0">
              <a:lnSpc>
                <a:spcPct val="112000"/>
              </a:lnSpc>
              <a:buNone/>
            </a:pPr>
            <a:r>
              <a:rPr lang="en-US" sz="1200" dirty="0">
                <a:solidFill>
                  <a:srgbClr val="1F2937"/>
                </a:solidFill>
                <a:latin typeface="Microsoft JhengHei" pitchFamily="34" charset="0"/>
                <a:ea typeface="Microsoft JhengHei" pitchFamily="34" charset="-122"/>
                <a:cs typeface="Microsoft JhengHei" pitchFamily="34" charset="-120"/>
              </a:rPr>
              <a:t>例：能用淺白語言衛教、能做 IAPP 檢查</a:t>
            </a:r>
            <a:endParaRPr lang="en-US" sz="1600" dirty="0"/>
          </a:p>
          <a:p>
            <a:pPr marL="0" indent="0">
              <a:lnSpc>
                <a:spcPct val="112000"/>
              </a:lnSpc>
              <a:buNone/>
            </a:pPr>
            <a:endParaRPr lang="en-US" sz="1600" dirty="0"/>
          </a:p>
          <a:p>
            <a:pPr marL="0" indent="0">
              <a:lnSpc>
                <a:spcPct val="112000"/>
              </a:lnSpc>
              <a:buNone/>
            </a:pPr>
            <a:r>
              <a:rPr lang="en-US" sz="1250" b="1" dirty="0">
                <a:solidFill>
                  <a:srgbClr val="2E75B6"/>
                </a:solidFill>
                <a:latin typeface="Microsoft JhengHei" pitchFamily="34" charset="0"/>
                <a:ea typeface="Microsoft JhengHei" pitchFamily="34" charset="-122"/>
                <a:cs typeface="Microsoft JhengHei" pitchFamily="34" charset="-120"/>
              </a:rPr>
              <a:t>→ 成為任務設計與評分項目的依據</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DC09FFC-F935-5D35-B687-3D55DF408391}"/>
              </a:ext>
            </a:extLst>
          </p:cNvPr>
          <p:cNvSpPr>
            <a:spLocks noGrp="1"/>
          </p:cNvSpPr>
          <p:nvPr>
            <p:ph type="title"/>
          </p:nvPr>
        </p:nvSpPr>
        <p:spPr>
          <a:xfrm>
            <a:off x="628650" y="417892"/>
            <a:ext cx="7886700" cy="850124"/>
          </a:xfrm>
        </p:spPr>
        <p:txBody>
          <a:bodyPr>
            <a:normAutofit/>
          </a:bodyPr>
          <a:lstStyle/>
          <a:p>
            <a:pPr algn="l"/>
            <a:r>
              <a:rPr lang="zh-TW" altLang="en-US" sz="2800" b="1">
                <a:solidFill>
                  <a:srgbClr val="1F4E79"/>
                </a:solidFill>
                <a:latin typeface="Microsoft JhengHei"/>
                <a:ea typeface="Microsoft JhengHei"/>
                <a:cs typeface="Microsoft JhengHei"/>
              </a:rPr>
              <a:t>出題的目的是什麼</a:t>
            </a:r>
            <a:r>
              <a:rPr lang="en-US" altLang="zh-TW" sz="2800" b="1">
                <a:solidFill>
                  <a:srgbClr val="1F4E79"/>
                </a:solidFill>
                <a:latin typeface="Microsoft JhengHei"/>
                <a:ea typeface="Microsoft JhengHei"/>
                <a:cs typeface="Microsoft JhengHei"/>
              </a:rPr>
              <a:t>?</a:t>
            </a:r>
            <a:endParaRPr lang="zh-TW" altLang="en-US" sz="3900"/>
          </a:p>
        </p:txBody>
      </p:sp>
      <p:graphicFrame>
        <p:nvGraphicFramePr>
          <p:cNvPr id="5" name="內容版面配置區 2">
            <a:extLst>
              <a:ext uri="{FF2B5EF4-FFF2-40B4-BE49-F238E27FC236}">
                <a16:creationId xmlns:a16="http://schemas.microsoft.com/office/drawing/2014/main" id="{5BD38BCE-AF2F-69BC-7AC8-FB220004DD8A}"/>
              </a:ext>
            </a:extLst>
          </p:cNvPr>
          <p:cNvGraphicFramePr>
            <a:graphicFrameLocks noGrp="1"/>
          </p:cNvGraphicFramePr>
          <p:nvPr>
            <p:ph idx="1"/>
          </p:nvPr>
        </p:nvGraphicFramePr>
        <p:xfrm>
          <a:off x="628650" y="1371600"/>
          <a:ext cx="7886700" cy="32644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409530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641080" y="4828032"/>
            <a:ext cx="365760" cy="274320"/>
          </a:xfrm>
          <a:prstGeom prst="rect">
            <a:avLst/>
          </a:prstGeom>
          <a:noFill/>
          <a:ln/>
        </p:spPr>
        <p:txBody>
          <a:bodyPr wrap="square" lIns="0" tIns="0" rIns="0" bIns="0" rtlCol="0" anchor="ctr"/>
          <a:lstStyle/>
          <a:p>
            <a:pPr marL="0" indent="0" algn="r">
              <a:buNone/>
            </a:pPr>
            <a:r>
              <a:rPr lang="en-US" sz="1000" dirty="0">
                <a:solidFill>
                  <a:srgbClr val="5B6B7F"/>
                </a:solidFill>
                <a:latin typeface="Microsoft JhengHei" pitchFamily="34" charset="0"/>
                <a:ea typeface="Microsoft JhengHei" pitchFamily="34" charset="-122"/>
                <a:cs typeface="Microsoft JhengHei" pitchFamily="34" charset="-120"/>
              </a:rPr>
              <a:t>7</a:t>
            </a:r>
            <a:endParaRPr lang="en-US" sz="1000" dirty="0"/>
          </a:p>
        </p:txBody>
      </p:sp>
      <p:sp>
        <p:nvSpPr>
          <p:cNvPr id="3" name="Text 1"/>
          <p:cNvSpPr/>
          <p:nvPr/>
        </p:nvSpPr>
        <p:spPr>
          <a:xfrm>
            <a:off x="502920" y="201168"/>
            <a:ext cx="8046720" cy="274320"/>
          </a:xfrm>
          <a:prstGeom prst="rect">
            <a:avLst/>
          </a:prstGeom>
          <a:noFill/>
          <a:ln/>
        </p:spPr>
        <p:txBody>
          <a:bodyPr wrap="square" lIns="0" tIns="0" rIns="0" bIns="0" rtlCol="0" anchor="ctr"/>
          <a:lstStyle/>
          <a:p>
            <a:pPr marL="0" indent="0">
              <a:buNone/>
            </a:pPr>
            <a:r>
              <a:rPr lang="en-US" sz="1200" b="1" kern="0" spc="200" dirty="0">
                <a:solidFill>
                  <a:srgbClr val="2E75B6"/>
                </a:solidFill>
                <a:latin typeface="Microsoft JhengHei" pitchFamily="34" charset="0"/>
                <a:ea typeface="Microsoft JhengHei" pitchFamily="34" charset="-122"/>
                <a:cs typeface="Microsoft JhengHei" pitchFamily="34" charset="-120"/>
              </a:rPr>
              <a:t>BLUEPRINT</a:t>
            </a:r>
            <a:endParaRPr lang="en-US" sz="1200" dirty="0"/>
          </a:p>
        </p:txBody>
      </p:sp>
      <p:sp>
        <p:nvSpPr>
          <p:cNvPr id="4" name="Text 2"/>
          <p:cNvSpPr/>
          <p:nvPr/>
        </p:nvSpPr>
        <p:spPr>
          <a:xfrm>
            <a:off x="502920" y="457200"/>
            <a:ext cx="8138160" cy="566928"/>
          </a:xfrm>
          <a:prstGeom prst="rect">
            <a:avLst/>
          </a:prstGeom>
          <a:noFill/>
          <a:ln/>
        </p:spPr>
        <p:txBody>
          <a:bodyPr wrap="square" lIns="0" tIns="0" rIns="0" bIns="0" rtlCol="0" anchor="ctr"/>
          <a:lstStyle/>
          <a:p>
            <a:pPr marL="0" indent="0">
              <a:buNone/>
            </a:pPr>
            <a:r>
              <a:rPr lang="en-US" sz="2700" b="1" dirty="0">
                <a:solidFill>
                  <a:srgbClr val="1F4E79"/>
                </a:solidFill>
                <a:latin typeface="Microsoft JhengHei" pitchFamily="34" charset="0"/>
                <a:ea typeface="Microsoft JhengHei" pitchFamily="34" charset="-122"/>
                <a:cs typeface="Microsoft JhengHei" pitchFamily="34" charset="-120"/>
              </a:rPr>
              <a:t>測驗藍圖：選 2–3 軸建立矩陣</a:t>
            </a:r>
            <a:endParaRPr lang="en-US" sz="2700" dirty="0"/>
          </a:p>
        </p:txBody>
      </p:sp>
      <p:sp>
        <p:nvSpPr>
          <p:cNvPr id="5" name="Shape 3"/>
          <p:cNvSpPr/>
          <p:nvPr/>
        </p:nvSpPr>
        <p:spPr>
          <a:xfrm>
            <a:off x="502920" y="1170432"/>
            <a:ext cx="2606040" cy="914400"/>
          </a:xfrm>
          <a:prstGeom prst="rect">
            <a:avLst/>
          </a:prstGeom>
          <a:solidFill>
            <a:srgbClr val="DEEBF7"/>
          </a:solidFill>
          <a:ln/>
        </p:spPr>
        <p:txBody>
          <a:bodyPr/>
          <a:lstStyle/>
          <a:p>
            <a:endParaRPr lang="zh-TW" altLang="en-US"/>
          </a:p>
        </p:txBody>
      </p:sp>
      <p:sp>
        <p:nvSpPr>
          <p:cNvPr id="6" name="Shape 4"/>
          <p:cNvSpPr/>
          <p:nvPr/>
        </p:nvSpPr>
        <p:spPr>
          <a:xfrm>
            <a:off x="502920" y="1170432"/>
            <a:ext cx="64008" cy="914400"/>
          </a:xfrm>
          <a:prstGeom prst="rect">
            <a:avLst/>
          </a:prstGeom>
          <a:solidFill>
            <a:srgbClr val="2E75B6"/>
          </a:solidFill>
          <a:ln/>
        </p:spPr>
        <p:txBody>
          <a:bodyPr/>
          <a:lstStyle/>
          <a:p>
            <a:endParaRPr lang="zh-TW" altLang="en-US"/>
          </a:p>
        </p:txBody>
      </p:sp>
      <p:sp>
        <p:nvSpPr>
          <p:cNvPr id="7" name="Text 5"/>
          <p:cNvSpPr/>
          <p:nvPr/>
        </p:nvSpPr>
        <p:spPr>
          <a:xfrm>
            <a:off x="685800" y="1243584"/>
            <a:ext cx="2331720" cy="786384"/>
          </a:xfrm>
          <a:prstGeom prst="rect">
            <a:avLst/>
          </a:prstGeom>
          <a:noFill/>
          <a:ln/>
        </p:spPr>
        <p:txBody>
          <a:bodyPr wrap="square" lIns="0" tIns="0" rIns="0" bIns="0" rtlCol="0" anchor="ctr"/>
          <a:lstStyle/>
          <a:p>
            <a:pPr marL="0" indent="0">
              <a:buNone/>
            </a:pPr>
            <a:r>
              <a:rPr lang="en-US" sz="1400" b="1" dirty="0">
                <a:solidFill>
                  <a:srgbClr val="1F4E79"/>
                </a:solidFill>
                <a:latin typeface="Microsoft JhengHei" pitchFamily="34" charset="0"/>
                <a:ea typeface="Microsoft JhengHei" pitchFamily="34" charset="-122"/>
                <a:cs typeface="Microsoft JhengHei" pitchFamily="34" charset="-120"/>
              </a:rPr>
              <a:t>工作 Task</a:t>
            </a:r>
            <a:endParaRPr lang="en-US" sz="1400" dirty="0"/>
          </a:p>
          <a:p>
            <a:pPr marL="0" indent="0">
              <a:buNone/>
            </a:pPr>
            <a:r>
              <a:rPr lang="en-US" sz="1100" dirty="0">
                <a:solidFill>
                  <a:srgbClr val="5B6B7F"/>
                </a:solidFill>
                <a:latin typeface="Microsoft JhengHei" pitchFamily="34" charset="0"/>
                <a:ea typeface="Microsoft JhengHei" pitchFamily="34" charset="-122"/>
                <a:cs typeface="Microsoft JhengHei" pitchFamily="34" charset="-120"/>
              </a:rPr>
              <a:t>病史詢問、PE、操作技能…</a:t>
            </a:r>
            <a:endParaRPr lang="en-US" sz="1400" dirty="0"/>
          </a:p>
        </p:txBody>
      </p:sp>
      <p:sp>
        <p:nvSpPr>
          <p:cNvPr id="8" name="Shape 6"/>
          <p:cNvSpPr/>
          <p:nvPr/>
        </p:nvSpPr>
        <p:spPr>
          <a:xfrm>
            <a:off x="3310128" y="1170432"/>
            <a:ext cx="2606040" cy="914400"/>
          </a:xfrm>
          <a:prstGeom prst="rect">
            <a:avLst/>
          </a:prstGeom>
          <a:solidFill>
            <a:srgbClr val="DEEBF7"/>
          </a:solidFill>
          <a:ln/>
        </p:spPr>
        <p:txBody>
          <a:bodyPr/>
          <a:lstStyle/>
          <a:p>
            <a:endParaRPr lang="zh-TW" altLang="en-US"/>
          </a:p>
        </p:txBody>
      </p:sp>
      <p:sp>
        <p:nvSpPr>
          <p:cNvPr id="9" name="Shape 7"/>
          <p:cNvSpPr/>
          <p:nvPr/>
        </p:nvSpPr>
        <p:spPr>
          <a:xfrm>
            <a:off x="3310128" y="1170432"/>
            <a:ext cx="64008" cy="914400"/>
          </a:xfrm>
          <a:prstGeom prst="rect">
            <a:avLst/>
          </a:prstGeom>
          <a:solidFill>
            <a:srgbClr val="2E75B6"/>
          </a:solidFill>
          <a:ln/>
        </p:spPr>
        <p:txBody>
          <a:bodyPr/>
          <a:lstStyle/>
          <a:p>
            <a:endParaRPr lang="zh-TW" altLang="en-US"/>
          </a:p>
        </p:txBody>
      </p:sp>
      <p:sp>
        <p:nvSpPr>
          <p:cNvPr id="10" name="Text 8"/>
          <p:cNvSpPr/>
          <p:nvPr/>
        </p:nvSpPr>
        <p:spPr>
          <a:xfrm>
            <a:off x="3493008" y="1243584"/>
            <a:ext cx="2331720" cy="786384"/>
          </a:xfrm>
          <a:prstGeom prst="rect">
            <a:avLst/>
          </a:prstGeom>
          <a:noFill/>
          <a:ln/>
        </p:spPr>
        <p:txBody>
          <a:bodyPr wrap="square" lIns="0" tIns="0" rIns="0" bIns="0" rtlCol="0" anchor="ctr"/>
          <a:lstStyle/>
          <a:p>
            <a:pPr marL="0" indent="0">
              <a:buNone/>
            </a:pPr>
            <a:r>
              <a:rPr lang="en-US" sz="1400" b="1" dirty="0">
                <a:solidFill>
                  <a:srgbClr val="1F4E79"/>
                </a:solidFill>
                <a:latin typeface="Microsoft JhengHei" pitchFamily="34" charset="0"/>
                <a:ea typeface="Microsoft JhengHei" pitchFamily="34" charset="-122"/>
                <a:cs typeface="Microsoft JhengHei" pitchFamily="34" charset="-120"/>
              </a:rPr>
              <a:t>能力 Competence</a:t>
            </a:r>
            <a:endParaRPr lang="en-US" sz="1400" dirty="0"/>
          </a:p>
          <a:p>
            <a:pPr marL="0" indent="0">
              <a:buNone/>
            </a:pPr>
            <a:r>
              <a:rPr lang="en-US" sz="1100" dirty="0">
                <a:solidFill>
                  <a:srgbClr val="5B6B7F"/>
                </a:solidFill>
                <a:latin typeface="Microsoft JhengHei" pitchFamily="34" charset="0"/>
                <a:ea typeface="Microsoft JhengHei" pitchFamily="34" charset="-122"/>
                <a:cs typeface="Microsoft JhengHei" pitchFamily="34" charset="-120"/>
              </a:rPr>
              <a:t>知識、病人照護、溝通…</a:t>
            </a:r>
            <a:endParaRPr lang="en-US" sz="1400" dirty="0"/>
          </a:p>
        </p:txBody>
      </p:sp>
      <p:sp>
        <p:nvSpPr>
          <p:cNvPr id="11" name="Shape 9"/>
          <p:cNvSpPr/>
          <p:nvPr/>
        </p:nvSpPr>
        <p:spPr>
          <a:xfrm>
            <a:off x="6117336" y="1170432"/>
            <a:ext cx="2606040" cy="914400"/>
          </a:xfrm>
          <a:prstGeom prst="rect">
            <a:avLst/>
          </a:prstGeom>
          <a:solidFill>
            <a:srgbClr val="DEEBF7"/>
          </a:solidFill>
          <a:ln/>
        </p:spPr>
        <p:txBody>
          <a:bodyPr/>
          <a:lstStyle/>
          <a:p>
            <a:endParaRPr lang="zh-TW" altLang="en-US"/>
          </a:p>
        </p:txBody>
      </p:sp>
      <p:sp>
        <p:nvSpPr>
          <p:cNvPr id="12" name="Shape 10"/>
          <p:cNvSpPr/>
          <p:nvPr/>
        </p:nvSpPr>
        <p:spPr>
          <a:xfrm>
            <a:off x="6117336" y="1170432"/>
            <a:ext cx="64008" cy="914400"/>
          </a:xfrm>
          <a:prstGeom prst="rect">
            <a:avLst/>
          </a:prstGeom>
          <a:solidFill>
            <a:srgbClr val="2E75B6"/>
          </a:solidFill>
          <a:ln/>
        </p:spPr>
        <p:txBody>
          <a:bodyPr/>
          <a:lstStyle/>
          <a:p>
            <a:endParaRPr lang="zh-TW" altLang="en-US"/>
          </a:p>
        </p:txBody>
      </p:sp>
      <p:sp>
        <p:nvSpPr>
          <p:cNvPr id="13" name="Text 11"/>
          <p:cNvSpPr/>
          <p:nvPr/>
        </p:nvSpPr>
        <p:spPr>
          <a:xfrm>
            <a:off x="6300216" y="1243584"/>
            <a:ext cx="2331720" cy="786384"/>
          </a:xfrm>
          <a:prstGeom prst="rect">
            <a:avLst/>
          </a:prstGeom>
          <a:noFill/>
          <a:ln/>
        </p:spPr>
        <p:txBody>
          <a:bodyPr wrap="square" lIns="0" tIns="0" rIns="0" bIns="0" rtlCol="0" anchor="ctr"/>
          <a:lstStyle/>
          <a:p>
            <a:pPr marL="0" indent="0">
              <a:buNone/>
            </a:pPr>
            <a:r>
              <a:rPr lang="en-US" sz="1400" b="1" dirty="0">
                <a:solidFill>
                  <a:srgbClr val="1F4E79"/>
                </a:solidFill>
                <a:latin typeface="Microsoft JhengHei" pitchFamily="34" charset="0"/>
                <a:ea typeface="Microsoft JhengHei" pitchFamily="34" charset="-122"/>
                <a:cs typeface="Microsoft JhengHei" pitchFamily="34" charset="-120"/>
              </a:rPr>
              <a:t>科別</a:t>
            </a:r>
            <a:endParaRPr lang="en-US" sz="1400" dirty="0"/>
          </a:p>
          <a:p>
            <a:pPr marL="0" indent="0">
              <a:buNone/>
            </a:pPr>
            <a:r>
              <a:rPr lang="en-US" sz="1100" dirty="0">
                <a:solidFill>
                  <a:srgbClr val="5B6B7F"/>
                </a:solidFill>
                <a:latin typeface="Microsoft JhengHei" pitchFamily="34" charset="0"/>
                <a:ea typeface="Microsoft JhengHei" pitchFamily="34" charset="-122"/>
                <a:cs typeface="Microsoft JhengHei" pitchFamily="34" charset="-120"/>
              </a:rPr>
              <a:t>內、外、婦、兒、急診…</a:t>
            </a:r>
            <a:endParaRPr lang="en-US" sz="1400" dirty="0"/>
          </a:p>
        </p:txBody>
      </p:sp>
      <p:sp>
        <p:nvSpPr>
          <p:cNvPr id="14" name="Shape 12"/>
          <p:cNvSpPr/>
          <p:nvPr/>
        </p:nvSpPr>
        <p:spPr>
          <a:xfrm>
            <a:off x="502920" y="2249424"/>
            <a:ext cx="2606040" cy="914400"/>
          </a:xfrm>
          <a:prstGeom prst="rect">
            <a:avLst/>
          </a:prstGeom>
          <a:solidFill>
            <a:srgbClr val="DEEBF7"/>
          </a:solidFill>
          <a:ln/>
        </p:spPr>
        <p:txBody>
          <a:bodyPr/>
          <a:lstStyle/>
          <a:p>
            <a:endParaRPr lang="zh-TW" altLang="en-US"/>
          </a:p>
        </p:txBody>
      </p:sp>
      <p:sp>
        <p:nvSpPr>
          <p:cNvPr id="15" name="Shape 13"/>
          <p:cNvSpPr/>
          <p:nvPr/>
        </p:nvSpPr>
        <p:spPr>
          <a:xfrm>
            <a:off x="502920" y="2249424"/>
            <a:ext cx="64008" cy="914400"/>
          </a:xfrm>
          <a:prstGeom prst="rect">
            <a:avLst/>
          </a:prstGeom>
          <a:solidFill>
            <a:srgbClr val="2E75B6"/>
          </a:solidFill>
          <a:ln/>
        </p:spPr>
        <p:txBody>
          <a:bodyPr/>
          <a:lstStyle/>
          <a:p>
            <a:endParaRPr lang="zh-TW" altLang="en-US"/>
          </a:p>
        </p:txBody>
      </p:sp>
      <p:sp>
        <p:nvSpPr>
          <p:cNvPr id="16" name="Text 14"/>
          <p:cNvSpPr/>
          <p:nvPr/>
        </p:nvSpPr>
        <p:spPr>
          <a:xfrm>
            <a:off x="685800" y="2322576"/>
            <a:ext cx="2331720" cy="786384"/>
          </a:xfrm>
          <a:prstGeom prst="rect">
            <a:avLst/>
          </a:prstGeom>
          <a:noFill/>
          <a:ln/>
        </p:spPr>
        <p:txBody>
          <a:bodyPr wrap="square" lIns="0" tIns="0" rIns="0" bIns="0" rtlCol="0" anchor="ctr"/>
          <a:lstStyle/>
          <a:p>
            <a:pPr marL="0" indent="0">
              <a:buNone/>
            </a:pPr>
            <a:r>
              <a:rPr lang="en-US" sz="1400" b="1" dirty="0">
                <a:solidFill>
                  <a:srgbClr val="1F4E79"/>
                </a:solidFill>
                <a:latin typeface="Microsoft JhengHei" pitchFamily="34" charset="0"/>
                <a:ea typeface="Microsoft JhengHei" pitchFamily="34" charset="-122"/>
                <a:cs typeface="Microsoft JhengHei" pitchFamily="34" charset="-120"/>
              </a:rPr>
              <a:t>工作地點</a:t>
            </a:r>
            <a:endParaRPr lang="en-US" sz="1400" dirty="0"/>
          </a:p>
          <a:p>
            <a:pPr marL="0" indent="0">
              <a:buNone/>
            </a:pPr>
            <a:r>
              <a:rPr lang="en-US" sz="1100" dirty="0">
                <a:solidFill>
                  <a:srgbClr val="5B6B7F"/>
                </a:solidFill>
                <a:latin typeface="Microsoft JhengHei" pitchFamily="34" charset="0"/>
                <a:ea typeface="Microsoft JhengHei" pitchFamily="34" charset="-122"/>
                <a:cs typeface="Microsoft JhengHei" pitchFamily="34" charset="-120"/>
              </a:rPr>
              <a:t>門診、急診、病房、OR…</a:t>
            </a:r>
            <a:endParaRPr lang="en-US" sz="1400" dirty="0"/>
          </a:p>
        </p:txBody>
      </p:sp>
      <p:sp>
        <p:nvSpPr>
          <p:cNvPr id="17" name="Shape 15"/>
          <p:cNvSpPr/>
          <p:nvPr/>
        </p:nvSpPr>
        <p:spPr>
          <a:xfrm>
            <a:off x="3310128" y="2249424"/>
            <a:ext cx="2606040" cy="914400"/>
          </a:xfrm>
          <a:prstGeom prst="rect">
            <a:avLst/>
          </a:prstGeom>
          <a:solidFill>
            <a:srgbClr val="DEEBF7"/>
          </a:solidFill>
          <a:ln/>
        </p:spPr>
        <p:txBody>
          <a:bodyPr/>
          <a:lstStyle/>
          <a:p>
            <a:endParaRPr lang="zh-TW" altLang="en-US"/>
          </a:p>
        </p:txBody>
      </p:sp>
      <p:sp>
        <p:nvSpPr>
          <p:cNvPr id="18" name="Shape 16"/>
          <p:cNvSpPr/>
          <p:nvPr/>
        </p:nvSpPr>
        <p:spPr>
          <a:xfrm>
            <a:off x="3310128" y="2249424"/>
            <a:ext cx="64008" cy="914400"/>
          </a:xfrm>
          <a:prstGeom prst="rect">
            <a:avLst/>
          </a:prstGeom>
          <a:solidFill>
            <a:srgbClr val="2E75B6"/>
          </a:solidFill>
          <a:ln/>
        </p:spPr>
        <p:txBody>
          <a:bodyPr/>
          <a:lstStyle/>
          <a:p>
            <a:endParaRPr lang="zh-TW" altLang="en-US"/>
          </a:p>
        </p:txBody>
      </p:sp>
      <p:sp>
        <p:nvSpPr>
          <p:cNvPr id="19" name="Text 17"/>
          <p:cNvSpPr/>
          <p:nvPr/>
        </p:nvSpPr>
        <p:spPr>
          <a:xfrm>
            <a:off x="3493008" y="2322576"/>
            <a:ext cx="2331720" cy="786384"/>
          </a:xfrm>
          <a:prstGeom prst="rect">
            <a:avLst/>
          </a:prstGeom>
          <a:noFill/>
          <a:ln/>
        </p:spPr>
        <p:txBody>
          <a:bodyPr wrap="square" lIns="0" tIns="0" rIns="0" bIns="0" rtlCol="0" anchor="ctr"/>
          <a:lstStyle/>
          <a:p>
            <a:pPr marL="0" indent="0">
              <a:buNone/>
            </a:pPr>
            <a:r>
              <a:rPr lang="en-US" sz="1400" b="1" dirty="0">
                <a:solidFill>
                  <a:srgbClr val="1F4E79"/>
                </a:solidFill>
                <a:latin typeface="Microsoft JhengHei" pitchFamily="34" charset="0"/>
                <a:ea typeface="Microsoft JhengHei" pitchFamily="34" charset="-122"/>
                <a:cs typeface="Microsoft JhengHei" pitchFamily="34" charset="-120"/>
              </a:rPr>
              <a:t>器官系統</a:t>
            </a:r>
            <a:endParaRPr lang="en-US" sz="1400" dirty="0"/>
          </a:p>
          <a:p>
            <a:pPr marL="0" indent="0">
              <a:buNone/>
            </a:pPr>
            <a:r>
              <a:rPr lang="en-US" sz="1100" dirty="0">
                <a:solidFill>
                  <a:srgbClr val="5B6B7F"/>
                </a:solidFill>
                <a:latin typeface="Microsoft JhengHei" pitchFamily="34" charset="0"/>
                <a:ea typeface="Microsoft JhengHei" pitchFamily="34" charset="-122"/>
                <a:cs typeface="Microsoft JhengHei" pitchFamily="34" charset="-120"/>
              </a:rPr>
              <a:t>神經、感染、心血管…</a:t>
            </a:r>
            <a:endParaRPr lang="en-US" sz="1400" dirty="0"/>
          </a:p>
        </p:txBody>
      </p:sp>
      <p:sp>
        <p:nvSpPr>
          <p:cNvPr id="20" name="Shape 18"/>
          <p:cNvSpPr/>
          <p:nvPr/>
        </p:nvSpPr>
        <p:spPr>
          <a:xfrm>
            <a:off x="6117336" y="2249424"/>
            <a:ext cx="2606040" cy="914400"/>
          </a:xfrm>
          <a:prstGeom prst="rect">
            <a:avLst/>
          </a:prstGeom>
          <a:solidFill>
            <a:srgbClr val="DEEBF7"/>
          </a:solidFill>
          <a:ln/>
        </p:spPr>
        <p:txBody>
          <a:bodyPr/>
          <a:lstStyle/>
          <a:p>
            <a:endParaRPr lang="zh-TW" altLang="en-US"/>
          </a:p>
        </p:txBody>
      </p:sp>
      <p:sp>
        <p:nvSpPr>
          <p:cNvPr id="21" name="Shape 19"/>
          <p:cNvSpPr/>
          <p:nvPr/>
        </p:nvSpPr>
        <p:spPr>
          <a:xfrm>
            <a:off x="6117336" y="2249424"/>
            <a:ext cx="64008" cy="914400"/>
          </a:xfrm>
          <a:prstGeom prst="rect">
            <a:avLst/>
          </a:prstGeom>
          <a:solidFill>
            <a:srgbClr val="2E75B6"/>
          </a:solidFill>
          <a:ln/>
        </p:spPr>
        <p:txBody>
          <a:bodyPr/>
          <a:lstStyle/>
          <a:p>
            <a:endParaRPr lang="zh-TW" altLang="en-US"/>
          </a:p>
        </p:txBody>
      </p:sp>
      <p:sp>
        <p:nvSpPr>
          <p:cNvPr id="22" name="Text 20"/>
          <p:cNvSpPr/>
          <p:nvPr/>
        </p:nvSpPr>
        <p:spPr>
          <a:xfrm>
            <a:off x="6300216" y="2322576"/>
            <a:ext cx="2331720" cy="786384"/>
          </a:xfrm>
          <a:prstGeom prst="rect">
            <a:avLst/>
          </a:prstGeom>
          <a:noFill/>
          <a:ln/>
        </p:spPr>
        <p:txBody>
          <a:bodyPr wrap="square" lIns="0" tIns="0" rIns="0" bIns="0" rtlCol="0" anchor="ctr"/>
          <a:lstStyle/>
          <a:p>
            <a:pPr marL="0" indent="0">
              <a:buNone/>
            </a:pPr>
            <a:r>
              <a:rPr lang="en-US" sz="1400" b="1" dirty="0">
                <a:solidFill>
                  <a:srgbClr val="1F4E79"/>
                </a:solidFill>
                <a:latin typeface="Microsoft JhengHei" pitchFamily="34" charset="0"/>
                <a:ea typeface="Microsoft JhengHei" pitchFamily="34" charset="-122"/>
                <a:cs typeface="Microsoft JhengHei" pitchFamily="34" charset="-120"/>
              </a:rPr>
              <a:t>臨床徵象</a:t>
            </a:r>
            <a:endParaRPr lang="en-US" sz="1400" dirty="0"/>
          </a:p>
          <a:p>
            <a:pPr marL="0" indent="0">
              <a:buNone/>
            </a:pPr>
            <a:r>
              <a:rPr lang="en-US" sz="1100" dirty="0">
                <a:solidFill>
                  <a:srgbClr val="5B6B7F"/>
                </a:solidFill>
                <a:latin typeface="Microsoft JhengHei" pitchFamily="34" charset="0"/>
                <a:ea typeface="Microsoft JhengHei" pitchFamily="34" charset="-122"/>
                <a:cs typeface="Microsoft JhengHei" pitchFamily="34" charset="-120"/>
              </a:rPr>
              <a:t>發燒、黃疸、腹痛…</a:t>
            </a:r>
            <a:endParaRPr lang="en-US" sz="1400" dirty="0"/>
          </a:p>
        </p:txBody>
      </p:sp>
      <p:sp>
        <p:nvSpPr>
          <p:cNvPr id="23" name="Shape 21"/>
          <p:cNvSpPr/>
          <p:nvPr/>
        </p:nvSpPr>
        <p:spPr>
          <a:xfrm>
            <a:off x="502920" y="3520440"/>
            <a:ext cx="8138160" cy="1143000"/>
          </a:xfrm>
          <a:prstGeom prst="rect">
            <a:avLst/>
          </a:prstGeom>
          <a:solidFill>
            <a:srgbClr val="DEEBF7"/>
          </a:solidFill>
          <a:ln/>
        </p:spPr>
        <p:txBody>
          <a:bodyPr/>
          <a:lstStyle/>
          <a:p>
            <a:endParaRPr lang="zh-TW" altLang="en-US"/>
          </a:p>
        </p:txBody>
      </p:sp>
      <p:sp>
        <p:nvSpPr>
          <p:cNvPr id="24" name="Text 22"/>
          <p:cNvSpPr/>
          <p:nvPr/>
        </p:nvSpPr>
        <p:spPr>
          <a:xfrm>
            <a:off x="777240" y="3520440"/>
            <a:ext cx="7589520" cy="1143000"/>
          </a:xfrm>
          <a:prstGeom prst="rect">
            <a:avLst/>
          </a:prstGeom>
          <a:noFill/>
          <a:ln/>
        </p:spPr>
        <p:txBody>
          <a:bodyPr wrap="square" lIns="0" tIns="0" rIns="0" bIns="0" rtlCol="0" anchor="ctr"/>
          <a:lstStyle/>
          <a:p>
            <a:pPr marL="0" indent="0">
              <a:lnSpc>
                <a:spcPct val="120000"/>
              </a:lnSpc>
              <a:buNone/>
            </a:pPr>
            <a:r>
              <a:rPr lang="en-US" sz="1400" b="1" dirty="0">
                <a:solidFill>
                  <a:srgbClr val="1F4E79"/>
                </a:solidFill>
                <a:latin typeface="Microsoft JhengHei" pitchFamily="34" charset="0"/>
                <a:ea typeface="Microsoft JhengHei" pitchFamily="34" charset="-122"/>
                <a:cs typeface="Microsoft JhengHei" pitchFamily="34" charset="-120"/>
              </a:rPr>
              <a:t>藍圖標示考題的目標範疇、深度、與各臨床能力分項的比重</a:t>
            </a:r>
            <a:endParaRPr lang="en-US" sz="1400" dirty="0"/>
          </a:p>
          <a:p>
            <a:pPr marL="0" indent="0">
              <a:lnSpc>
                <a:spcPct val="120000"/>
              </a:lnSpc>
              <a:buNone/>
            </a:pPr>
            <a:r>
              <a:rPr lang="en-US" sz="1250" dirty="0">
                <a:solidFill>
                  <a:srgbClr val="1F2937"/>
                </a:solidFill>
                <a:latin typeface="Microsoft JhengHei" pitchFamily="34" charset="0"/>
                <a:ea typeface="Microsoft JhengHei" pitchFamily="34" charset="-122"/>
                <a:cs typeface="Microsoft JhengHei" pitchFamily="34" charset="-120"/>
              </a:rPr>
              <a:t>例：病史詢問 × 內科 × 胸痛｜身體檢查 × 急診 × 呼吸困難——整套考題不重複、不偏食</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641080" y="4828032"/>
            <a:ext cx="365760" cy="274320"/>
          </a:xfrm>
          <a:prstGeom prst="rect">
            <a:avLst/>
          </a:prstGeom>
          <a:noFill/>
          <a:ln/>
        </p:spPr>
        <p:txBody>
          <a:bodyPr wrap="square" lIns="0" tIns="0" rIns="0" bIns="0" rtlCol="0" anchor="ctr"/>
          <a:lstStyle/>
          <a:p>
            <a:pPr marL="0" indent="0" algn="r">
              <a:buNone/>
            </a:pPr>
            <a:r>
              <a:rPr lang="en-US" sz="1000" dirty="0">
                <a:solidFill>
                  <a:srgbClr val="5B6B7F"/>
                </a:solidFill>
                <a:latin typeface="Microsoft JhengHei" pitchFamily="34" charset="0"/>
                <a:ea typeface="Microsoft JhengHei" pitchFamily="34" charset="-122"/>
                <a:cs typeface="Microsoft JhengHei" pitchFamily="34" charset="-120"/>
              </a:rPr>
              <a:t>8</a:t>
            </a:r>
            <a:endParaRPr lang="en-US" sz="1000" dirty="0"/>
          </a:p>
        </p:txBody>
      </p:sp>
      <p:sp>
        <p:nvSpPr>
          <p:cNvPr id="3" name="Text 1"/>
          <p:cNvSpPr/>
          <p:nvPr/>
        </p:nvSpPr>
        <p:spPr>
          <a:xfrm>
            <a:off x="502920" y="201168"/>
            <a:ext cx="8046720" cy="274320"/>
          </a:xfrm>
          <a:prstGeom prst="rect">
            <a:avLst/>
          </a:prstGeom>
          <a:noFill/>
          <a:ln/>
        </p:spPr>
        <p:txBody>
          <a:bodyPr wrap="square" lIns="0" tIns="0" rIns="0" bIns="0" rtlCol="0" anchor="ctr"/>
          <a:lstStyle/>
          <a:p>
            <a:pPr marL="0" indent="0">
              <a:buNone/>
            </a:pPr>
            <a:r>
              <a:rPr lang="en-US" sz="1200" b="1" kern="0" spc="200" dirty="0">
                <a:solidFill>
                  <a:srgbClr val="2E75B6"/>
                </a:solidFill>
                <a:latin typeface="Microsoft JhengHei" pitchFamily="34" charset="0"/>
                <a:ea typeface="Microsoft JhengHei" pitchFamily="34" charset="-122"/>
                <a:cs typeface="Microsoft JhengHei" pitchFamily="34" charset="-120"/>
              </a:rPr>
              <a:t>DISCUSS FIRST</a:t>
            </a:r>
            <a:endParaRPr lang="en-US" sz="1200" dirty="0"/>
          </a:p>
        </p:txBody>
      </p:sp>
      <p:sp>
        <p:nvSpPr>
          <p:cNvPr id="4" name="Text 2"/>
          <p:cNvSpPr/>
          <p:nvPr/>
        </p:nvSpPr>
        <p:spPr>
          <a:xfrm>
            <a:off x="502920" y="457200"/>
            <a:ext cx="8138160" cy="566928"/>
          </a:xfrm>
          <a:prstGeom prst="rect">
            <a:avLst/>
          </a:prstGeom>
          <a:noFill/>
          <a:ln/>
        </p:spPr>
        <p:txBody>
          <a:bodyPr wrap="square" lIns="0" tIns="0" rIns="0" bIns="0" rtlCol="0" anchor="ctr"/>
          <a:lstStyle/>
          <a:p>
            <a:pPr marL="0" indent="0">
              <a:buNone/>
            </a:pPr>
            <a:r>
              <a:rPr lang="en-US" sz="2700" b="1" dirty="0">
                <a:solidFill>
                  <a:srgbClr val="1F4E79"/>
                </a:solidFill>
                <a:latin typeface="Microsoft JhengHei" pitchFamily="34" charset="0"/>
                <a:ea typeface="Microsoft JhengHei" pitchFamily="34" charset="-122"/>
                <a:cs typeface="Microsoft JhengHei" pitchFamily="34" charset="-120"/>
              </a:rPr>
              <a:t>正式草擬前，確認八個參數</a:t>
            </a:r>
            <a:endParaRPr lang="en-US" sz="27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8138160" cy="3364992"/>
        </p:xfrm>
        <a:graphic>
          <a:graphicData uri="http://schemas.openxmlformats.org/drawingml/2006/table">
            <a:tbl>
              <a:tblPr/>
              <a:tblGrid>
                <a:gridCol w="1920240">
                  <a:extLst>
                    <a:ext uri="{9D8B030D-6E8A-4147-A177-3AD203B41FA5}">
                      <a16:colId xmlns:a16="http://schemas.microsoft.com/office/drawing/2014/main" val="20000"/>
                    </a:ext>
                  </a:extLst>
                </a:gridCol>
                <a:gridCol w="6217920">
                  <a:extLst>
                    <a:ext uri="{9D8B030D-6E8A-4147-A177-3AD203B41FA5}">
                      <a16:colId xmlns:a16="http://schemas.microsoft.com/office/drawing/2014/main" val="20001"/>
                    </a:ext>
                  </a:extLst>
                </a:gridCol>
              </a:tblGrid>
              <a:tr h="420624">
                <a:tc>
                  <a:txBody>
                    <a:bodyPr/>
                    <a:lstStyle/>
                    <a:p>
                      <a:pPr marL="0" indent="0">
                        <a:buNone/>
                      </a:pPr>
                      <a:r>
                        <a:rPr lang="en-US" sz="1300" b="1" dirty="0">
                          <a:solidFill>
                            <a:srgbClr val="1F4E79"/>
                          </a:solidFill>
                          <a:latin typeface="Microsoft JhengHei" pitchFamily="34" charset="0"/>
                          <a:ea typeface="Microsoft JhengHei" pitchFamily="34" charset="-122"/>
                          <a:cs typeface="Microsoft JhengHei" pitchFamily="34" charset="-120"/>
                        </a:rPr>
                        <a:t>站型</a:t>
                      </a:r>
                      <a:endParaRPr lang="en-US" sz="1300" dirty="0">
                        <a:latin typeface="Microsoft JhengHei" charset="0"/>
                        <a:ea typeface="Microsoft JhengHei" charset="0"/>
                        <a:cs typeface="Microsoft JhengHei" charset="0"/>
                      </a:endParaRPr>
                    </a:p>
                  </a:txBody>
                  <a:tcPr marT="36576" marB="36576" anchor="ctr">
                    <a:lnL w="9525" cap="flat" cmpd="sng" algn="ctr">
                      <a:solidFill>
                        <a:srgbClr val="BDD7EE"/>
                      </a:solidFill>
                      <a:prstDash val="solid"/>
                      <a:round/>
                      <a:headEnd type="none" w="med" len="med"/>
                      <a:tailEnd type="none" w="med" len="med"/>
                    </a:lnL>
                    <a:lnR w="9525" cap="flat" cmpd="sng" algn="ctr">
                      <a:solidFill>
                        <a:srgbClr val="BDD7EE"/>
                      </a:solidFill>
                      <a:prstDash val="solid"/>
                      <a:round/>
                      <a:headEnd type="none" w="med" len="med"/>
                      <a:tailEnd type="none" w="med" len="med"/>
                    </a:lnR>
                    <a:lnT w="9525" cap="flat" cmpd="sng" algn="ctr">
                      <a:solidFill>
                        <a:srgbClr val="BDD7EE"/>
                      </a:solidFill>
                      <a:prstDash val="solid"/>
                      <a:round/>
                      <a:headEnd type="none" w="med" len="med"/>
                      <a:tailEnd type="none" w="med" len="med"/>
                    </a:lnT>
                    <a:lnB w="9525" cap="flat" cmpd="sng" algn="ctr">
                      <a:solidFill>
                        <a:srgbClr val="BDD7EE"/>
                      </a:solidFill>
                      <a:prstDash val="solid"/>
                      <a:round/>
                      <a:headEnd type="none" w="med" len="med"/>
                      <a:tailEnd type="none" w="med" len="med"/>
                    </a:lnB>
                    <a:solidFill>
                      <a:srgbClr val="DEEBF7"/>
                    </a:solidFill>
                  </a:tcPr>
                </a:tc>
                <a:tc>
                  <a:txBody>
                    <a:bodyPr/>
                    <a:lstStyle/>
                    <a:p>
                      <a:pPr marL="0" indent="0">
                        <a:buNone/>
                      </a:pPr>
                      <a:r>
                        <a:rPr lang="en-US" sz="1250" dirty="0">
                          <a:solidFill>
                            <a:srgbClr val="1F2937"/>
                          </a:solidFill>
                          <a:latin typeface="Microsoft JhengHei" pitchFamily="34" charset="0"/>
                          <a:ea typeface="Microsoft JhengHei" pitchFamily="34" charset="-122"/>
                          <a:cs typeface="Microsoft JhengHei" pitchFamily="34" charset="-120"/>
                        </a:rPr>
                        <a:t>病史詢問／身體檢查／溝通衛教／病情解釋／技術</a:t>
                      </a:r>
                      <a:endParaRPr lang="en-US" sz="1250" dirty="0">
                        <a:latin typeface="Microsoft JhengHei" charset="0"/>
                        <a:ea typeface="Microsoft JhengHei" charset="0"/>
                        <a:cs typeface="Microsoft JhengHei" charset="0"/>
                      </a:endParaRPr>
                    </a:p>
                  </a:txBody>
                  <a:tcPr marT="36576" marB="36576" anchor="ctr">
                    <a:lnL w="9525" cap="flat" cmpd="sng" algn="ctr">
                      <a:solidFill>
                        <a:srgbClr val="BDD7EE"/>
                      </a:solidFill>
                      <a:prstDash val="solid"/>
                      <a:round/>
                      <a:headEnd type="none" w="med" len="med"/>
                      <a:tailEnd type="none" w="med" len="med"/>
                    </a:lnL>
                    <a:lnR w="9525" cap="flat" cmpd="sng" algn="ctr">
                      <a:solidFill>
                        <a:srgbClr val="BDD7EE"/>
                      </a:solidFill>
                      <a:prstDash val="solid"/>
                      <a:round/>
                      <a:headEnd type="none" w="med" len="med"/>
                      <a:tailEnd type="none" w="med" len="med"/>
                    </a:lnR>
                    <a:lnT w="9525" cap="flat" cmpd="sng" algn="ctr">
                      <a:solidFill>
                        <a:srgbClr val="BDD7EE"/>
                      </a:solidFill>
                      <a:prstDash val="solid"/>
                      <a:round/>
                      <a:headEnd type="none" w="med" len="med"/>
                      <a:tailEnd type="none" w="med" len="med"/>
                    </a:lnT>
                    <a:lnB w="9525" cap="flat" cmpd="sng" algn="ctr">
                      <a:solidFill>
                        <a:srgbClr val="BDD7EE"/>
                      </a:solidFill>
                      <a:prstDash val="solid"/>
                      <a:round/>
                      <a:headEnd type="none" w="med" len="med"/>
                      <a:tailEnd type="none" w="med" len="med"/>
                    </a:lnB>
                  </a:tcPr>
                </a:tc>
                <a:extLst>
                  <a:ext uri="{0D108BD9-81ED-4DB2-BD59-A6C34878D82A}">
                    <a16:rowId xmlns:a16="http://schemas.microsoft.com/office/drawing/2014/main" val="10000"/>
                  </a:ext>
                </a:extLst>
              </a:tr>
              <a:tr h="420624">
                <a:tc>
                  <a:txBody>
                    <a:bodyPr/>
                    <a:lstStyle/>
                    <a:p>
                      <a:pPr marL="0" indent="0">
                        <a:buNone/>
                      </a:pPr>
                      <a:r>
                        <a:rPr lang="en-US" sz="1300" b="1" dirty="0">
                          <a:solidFill>
                            <a:srgbClr val="1F4E79"/>
                          </a:solidFill>
                          <a:latin typeface="Microsoft JhengHei" pitchFamily="34" charset="0"/>
                          <a:ea typeface="Microsoft JhengHei" pitchFamily="34" charset="-122"/>
                          <a:cs typeface="Microsoft JhengHei" pitchFamily="34" charset="-120"/>
                        </a:rPr>
                        <a:t>學員程度</a:t>
                      </a:r>
                      <a:endParaRPr lang="en-US" sz="1300" dirty="0">
                        <a:latin typeface="Microsoft JhengHei" charset="0"/>
                        <a:ea typeface="Microsoft JhengHei" charset="0"/>
                        <a:cs typeface="Microsoft JhengHei" charset="0"/>
                      </a:endParaRPr>
                    </a:p>
                  </a:txBody>
                  <a:tcPr marT="36576" marB="36576" anchor="ctr">
                    <a:lnL w="9525" cap="flat" cmpd="sng" algn="ctr">
                      <a:solidFill>
                        <a:srgbClr val="BDD7EE"/>
                      </a:solidFill>
                      <a:prstDash val="solid"/>
                      <a:round/>
                      <a:headEnd type="none" w="med" len="med"/>
                      <a:tailEnd type="none" w="med" len="med"/>
                    </a:lnL>
                    <a:lnR w="9525" cap="flat" cmpd="sng" algn="ctr">
                      <a:solidFill>
                        <a:srgbClr val="BDD7EE"/>
                      </a:solidFill>
                      <a:prstDash val="solid"/>
                      <a:round/>
                      <a:headEnd type="none" w="med" len="med"/>
                      <a:tailEnd type="none" w="med" len="med"/>
                    </a:lnR>
                    <a:lnT w="9525" cap="flat" cmpd="sng" algn="ctr">
                      <a:solidFill>
                        <a:srgbClr val="BDD7EE"/>
                      </a:solidFill>
                      <a:prstDash val="solid"/>
                      <a:round/>
                      <a:headEnd type="none" w="med" len="med"/>
                      <a:tailEnd type="none" w="med" len="med"/>
                    </a:lnT>
                    <a:lnB w="9525" cap="flat" cmpd="sng" algn="ctr">
                      <a:solidFill>
                        <a:srgbClr val="BDD7EE"/>
                      </a:solidFill>
                      <a:prstDash val="solid"/>
                      <a:round/>
                      <a:headEnd type="none" w="med" len="med"/>
                      <a:tailEnd type="none" w="med" len="med"/>
                    </a:lnB>
                    <a:solidFill>
                      <a:srgbClr val="DEEBF7"/>
                    </a:solidFill>
                  </a:tcPr>
                </a:tc>
                <a:tc>
                  <a:txBody>
                    <a:bodyPr/>
                    <a:lstStyle/>
                    <a:p>
                      <a:pPr marL="0" indent="0">
                        <a:buNone/>
                      </a:pPr>
                      <a:r>
                        <a:rPr lang="en-US" sz="1250" dirty="0">
                          <a:solidFill>
                            <a:srgbClr val="1F2937"/>
                          </a:solidFill>
                          <a:latin typeface="Microsoft JhengHei" pitchFamily="34" charset="0"/>
                          <a:ea typeface="Microsoft JhengHei" pitchFamily="34" charset="-122"/>
                          <a:cs typeface="Microsoft JhengHei" pitchFamily="34" charset="-120"/>
                        </a:rPr>
                        <a:t>clerk、PGY、國考考生、住院醫師…</a:t>
                      </a:r>
                      <a:endParaRPr lang="en-US" sz="1250" dirty="0">
                        <a:latin typeface="Microsoft JhengHei" charset="0"/>
                        <a:ea typeface="Microsoft JhengHei" charset="0"/>
                        <a:cs typeface="Microsoft JhengHei" charset="0"/>
                      </a:endParaRPr>
                    </a:p>
                  </a:txBody>
                  <a:tcPr marT="36576" marB="36576" anchor="ctr">
                    <a:lnL w="9525" cap="flat" cmpd="sng" algn="ctr">
                      <a:solidFill>
                        <a:srgbClr val="BDD7EE"/>
                      </a:solidFill>
                      <a:prstDash val="solid"/>
                      <a:round/>
                      <a:headEnd type="none" w="med" len="med"/>
                      <a:tailEnd type="none" w="med" len="med"/>
                    </a:lnL>
                    <a:lnR w="9525" cap="flat" cmpd="sng" algn="ctr">
                      <a:solidFill>
                        <a:srgbClr val="BDD7EE"/>
                      </a:solidFill>
                      <a:prstDash val="solid"/>
                      <a:round/>
                      <a:headEnd type="none" w="med" len="med"/>
                      <a:tailEnd type="none" w="med" len="med"/>
                    </a:lnR>
                    <a:lnT w="9525" cap="flat" cmpd="sng" algn="ctr">
                      <a:solidFill>
                        <a:srgbClr val="BDD7EE"/>
                      </a:solidFill>
                      <a:prstDash val="solid"/>
                      <a:round/>
                      <a:headEnd type="none" w="med" len="med"/>
                      <a:tailEnd type="none" w="med" len="med"/>
                    </a:lnT>
                    <a:lnB w="9525" cap="flat" cmpd="sng" algn="ctr">
                      <a:solidFill>
                        <a:srgbClr val="BDD7EE"/>
                      </a:solidFill>
                      <a:prstDash val="solid"/>
                      <a:round/>
                      <a:headEnd type="none" w="med" len="med"/>
                      <a:tailEnd type="none" w="med" len="med"/>
                    </a:lnB>
                  </a:tcPr>
                </a:tc>
                <a:extLst>
                  <a:ext uri="{0D108BD9-81ED-4DB2-BD59-A6C34878D82A}">
                    <a16:rowId xmlns:a16="http://schemas.microsoft.com/office/drawing/2014/main" val="10001"/>
                  </a:ext>
                </a:extLst>
              </a:tr>
              <a:tr h="420624">
                <a:tc>
                  <a:txBody>
                    <a:bodyPr/>
                    <a:lstStyle/>
                    <a:p>
                      <a:pPr marL="0" indent="0">
                        <a:buNone/>
                      </a:pPr>
                      <a:r>
                        <a:rPr lang="en-US" sz="1300" b="1" dirty="0">
                          <a:solidFill>
                            <a:srgbClr val="1F4E79"/>
                          </a:solidFill>
                          <a:latin typeface="Microsoft JhengHei" pitchFamily="34" charset="0"/>
                          <a:ea typeface="Microsoft JhengHei" pitchFamily="34" charset="-122"/>
                          <a:cs typeface="Microsoft JhengHei" pitchFamily="34" charset="-120"/>
                        </a:rPr>
                        <a:t>目標能力</a:t>
                      </a:r>
                      <a:endParaRPr lang="en-US" sz="1300" dirty="0">
                        <a:latin typeface="Microsoft JhengHei" charset="0"/>
                        <a:ea typeface="Microsoft JhengHei" charset="0"/>
                        <a:cs typeface="Microsoft JhengHei" charset="0"/>
                      </a:endParaRPr>
                    </a:p>
                  </a:txBody>
                  <a:tcPr marT="36576" marB="36576" anchor="ctr">
                    <a:lnL w="9525" cap="flat" cmpd="sng" algn="ctr">
                      <a:solidFill>
                        <a:srgbClr val="BDD7EE"/>
                      </a:solidFill>
                      <a:prstDash val="solid"/>
                      <a:round/>
                      <a:headEnd type="none" w="med" len="med"/>
                      <a:tailEnd type="none" w="med" len="med"/>
                    </a:lnL>
                    <a:lnR w="9525" cap="flat" cmpd="sng" algn="ctr">
                      <a:solidFill>
                        <a:srgbClr val="BDD7EE"/>
                      </a:solidFill>
                      <a:prstDash val="solid"/>
                      <a:round/>
                      <a:headEnd type="none" w="med" len="med"/>
                      <a:tailEnd type="none" w="med" len="med"/>
                    </a:lnR>
                    <a:lnT w="9525" cap="flat" cmpd="sng" algn="ctr">
                      <a:solidFill>
                        <a:srgbClr val="BDD7EE"/>
                      </a:solidFill>
                      <a:prstDash val="solid"/>
                      <a:round/>
                      <a:headEnd type="none" w="med" len="med"/>
                      <a:tailEnd type="none" w="med" len="med"/>
                    </a:lnT>
                    <a:lnB w="9525" cap="flat" cmpd="sng" algn="ctr">
                      <a:solidFill>
                        <a:srgbClr val="BDD7EE"/>
                      </a:solidFill>
                      <a:prstDash val="solid"/>
                      <a:round/>
                      <a:headEnd type="none" w="med" len="med"/>
                      <a:tailEnd type="none" w="med" len="med"/>
                    </a:lnB>
                    <a:solidFill>
                      <a:srgbClr val="DEEBF7"/>
                    </a:solidFill>
                  </a:tcPr>
                </a:tc>
                <a:tc>
                  <a:txBody>
                    <a:bodyPr/>
                    <a:lstStyle/>
                    <a:p>
                      <a:pPr marL="0" indent="0">
                        <a:buNone/>
                      </a:pPr>
                      <a:r>
                        <a:rPr lang="en-US" sz="1250" dirty="0">
                          <a:solidFill>
                            <a:srgbClr val="1F2937"/>
                          </a:solidFill>
                          <a:latin typeface="Microsoft JhengHei" pitchFamily="34" charset="0"/>
                          <a:ea typeface="Microsoft JhengHei" pitchFamily="34" charset="-122"/>
                          <a:cs typeface="Microsoft JhengHei" pitchFamily="34" charset="-120"/>
                        </a:rPr>
                        <a:t>病人照護、溝通、臨床推理、專業素養、安全</a:t>
                      </a:r>
                      <a:endParaRPr lang="en-US" sz="1250" dirty="0">
                        <a:latin typeface="Microsoft JhengHei" charset="0"/>
                        <a:ea typeface="Microsoft JhengHei" charset="0"/>
                        <a:cs typeface="Microsoft JhengHei" charset="0"/>
                      </a:endParaRPr>
                    </a:p>
                  </a:txBody>
                  <a:tcPr marT="36576" marB="36576" anchor="ctr">
                    <a:lnL w="9525" cap="flat" cmpd="sng" algn="ctr">
                      <a:solidFill>
                        <a:srgbClr val="BDD7EE"/>
                      </a:solidFill>
                      <a:prstDash val="solid"/>
                      <a:round/>
                      <a:headEnd type="none" w="med" len="med"/>
                      <a:tailEnd type="none" w="med" len="med"/>
                    </a:lnL>
                    <a:lnR w="9525" cap="flat" cmpd="sng" algn="ctr">
                      <a:solidFill>
                        <a:srgbClr val="BDD7EE"/>
                      </a:solidFill>
                      <a:prstDash val="solid"/>
                      <a:round/>
                      <a:headEnd type="none" w="med" len="med"/>
                      <a:tailEnd type="none" w="med" len="med"/>
                    </a:lnR>
                    <a:lnT w="9525" cap="flat" cmpd="sng" algn="ctr">
                      <a:solidFill>
                        <a:srgbClr val="BDD7EE"/>
                      </a:solidFill>
                      <a:prstDash val="solid"/>
                      <a:round/>
                      <a:headEnd type="none" w="med" len="med"/>
                      <a:tailEnd type="none" w="med" len="med"/>
                    </a:lnT>
                    <a:lnB w="9525" cap="flat" cmpd="sng" algn="ctr">
                      <a:solidFill>
                        <a:srgbClr val="BDD7EE"/>
                      </a:solidFill>
                      <a:prstDash val="solid"/>
                      <a:round/>
                      <a:headEnd type="none" w="med" len="med"/>
                      <a:tailEnd type="none" w="med" len="med"/>
                    </a:lnB>
                  </a:tcPr>
                </a:tc>
                <a:extLst>
                  <a:ext uri="{0D108BD9-81ED-4DB2-BD59-A6C34878D82A}">
                    <a16:rowId xmlns:a16="http://schemas.microsoft.com/office/drawing/2014/main" val="10002"/>
                  </a:ext>
                </a:extLst>
              </a:tr>
              <a:tr h="420624">
                <a:tc>
                  <a:txBody>
                    <a:bodyPr/>
                    <a:lstStyle/>
                    <a:p>
                      <a:pPr marL="0" indent="0">
                        <a:buNone/>
                      </a:pPr>
                      <a:r>
                        <a:rPr lang="en-US" sz="1300" b="1" dirty="0">
                          <a:solidFill>
                            <a:srgbClr val="1F4E79"/>
                          </a:solidFill>
                          <a:latin typeface="Microsoft JhengHei" pitchFamily="34" charset="0"/>
                          <a:ea typeface="Microsoft JhengHei" pitchFamily="34" charset="-122"/>
                          <a:cs typeface="Microsoft JhengHei" pitchFamily="34" charset="-120"/>
                        </a:rPr>
                        <a:t>核心任務</a:t>
                      </a:r>
                      <a:endParaRPr lang="en-US" sz="1300" dirty="0">
                        <a:latin typeface="Microsoft JhengHei" charset="0"/>
                        <a:ea typeface="Microsoft JhengHei" charset="0"/>
                        <a:cs typeface="Microsoft JhengHei" charset="0"/>
                      </a:endParaRPr>
                    </a:p>
                  </a:txBody>
                  <a:tcPr marT="36576" marB="36576" anchor="ctr">
                    <a:lnL w="9525" cap="flat" cmpd="sng" algn="ctr">
                      <a:solidFill>
                        <a:srgbClr val="BDD7EE"/>
                      </a:solidFill>
                      <a:prstDash val="solid"/>
                      <a:round/>
                      <a:headEnd type="none" w="med" len="med"/>
                      <a:tailEnd type="none" w="med" len="med"/>
                    </a:lnL>
                    <a:lnR w="9525" cap="flat" cmpd="sng" algn="ctr">
                      <a:solidFill>
                        <a:srgbClr val="BDD7EE"/>
                      </a:solidFill>
                      <a:prstDash val="solid"/>
                      <a:round/>
                      <a:headEnd type="none" w="med" len="med"/>
                      <a:tailEnd type="none" w="med" len="med"/>
                    </a:lnR>
                    <a:lnT w="9525" cap="flat" cmpd="sng" algn="ctr">
                      <a:solidFill>
                        <a:srgbClr val="BDD7EE"/>
                      </a:solidFill>
                      <a:prstDash val="solid"/>
                      <a:round/>
                      <a:headEnd type="none" w="med" len="med"/>
                      <a:tailEnd type="none" w="med" len="med"/>
                    </a:lnT>
                    <a:lnB w="9525" cap="flat" cmpd="sng" algn="ctr">
                      <a:solidFill>
                        <a:srgbClr val="BDD7EE"/>
                      </a:solidFill>
                      <a:prstDash val="solid"/>
                      <a:round/>
                      <a:headEnd type="none" w="med" len="med"/>
                      <a:tailEnd type="none" w="med" len="med"/>
                    </a:lnB>
                    <a:solidFill>
                      <a:srgbClr val="DEEBF7"/>
                    </a:solidFill>
                  </a:tcPr>
                </a:tc>
                <a:tc>
                  <a:txBody>
                    <a:bodyPr/>
                    <a:lstStyle/>
                    <a:p>
                      <a:pPr marL="0" indent="0">
                        <a:buNone/>
                      </a:pPr>
                      <a:r>
                        <a:rPr lang="en-US" sz="1250" dirty="0">
                          <a:solidFill>
                            <a:srgbClr val="1F2937"/>
                          </a:solidFill>
                          <a:latin typeface="Microsoft JhengHei" pitchFamily="34" charset="0"/>
                          <a:ea typeface="Microsoft JhengHei" pitchFamily="34" charset="-122"/>
                          <a:cs typeface="Microsoft JhengHei" pitchFamily="34" charset="-120"/>
                        </a:rPr>
                        <a:t>考生在 8 分鐘內要完成什麼</a:t>
                      </a:r>
                      <a:endParaRPr lang="en-US" sz="1250" dirty="0">
                        <a:latin typeface="Microsoft JhengHei" charset="0"/>
                        <a:ea typeface="Microsoft JhengHei" charset="0"/>
                        <a:cs typeface="Microsoft JhengHei" charset="0"/>
                      </a:endParaRPr>
                    </a:p>
                  </a:txBody>
                  <a:tcPr marT="36576" marB="36576" anchor="ctr">
                    <a:lnL w="9525" cap="flat" cmpd="sng" algn="ctr">
                      <a:solidFill>
                        <a:srgbClr val="BDD7EE"/>
                      </a:solidFill>
                      <a:prstDash val="solid"/>
                      <a:round/>
                      <a:headEnd type="none" w="med" len="med"/>
                      <a:tailEnd type="none" w="med" len="med"/>
                    </a:lnL>
                    <a:lnR w="9525" cap="flat" cmpd="sng" algn="ctr">
                      <a:solidFill>
                        <a:srgbClr val="BDD7EE"/>
                      </a:solidFill>
                      <a:prstDash val="solid"/>
                      <a:round/>
                      <a:headEnd type="none" w="med" len="med"/>
                      <a:tailEnd type="none" w="med" len="med"/>
                    </a:lnR>
                    <a:lnT w="9525" cap="flat" cmpd="sng" algn="ctr">
                      <a:solidFill>
                        <a:srgbClr val="BDD7EE"/>
                      </a:solidFill>
                      <a:prstDash val="solid"/>
                      <a:round/>
                      <a:headEnd type="none" w="med" len="med"/>
                      <a:tailEnd type="none" w="med" len="med"/>
                    </a:lnT>
                    <a:lnB w="9525" cap="flat" cmpd="sng" algn="ctr">
                      <a:solidFill>
                        <a:srgbClr val="BDD7EE"/>
                      </a:solidFill>
                      <a:prstDash val="solid"/>
                      <a:round/>
                      <a:headEnd type="none" w="med" len="med"/>
                      <a:tailEnd type="none" w="med" len="med"/>
                    </a:lnB>
                  </a:tcPr>
                </a:tc>
                <a:extLst>
                  <a:ext uri="{0D108BD9-81ED-4DB2-BD59-A6C34878D82A}">
                    <a16:rowId xmlns:a16="http://schemas.microsoft.com/office/drawing/2014/main" val="10003"/>
                  </a:ext>
                </a:extLst>
              </a:tr>
              <a:tr h="420624">
                <a:tc>
                  <a:txBody>
                    <a:bodyPr/>
                    <a:lstStyle/>
                    <a:p>
                      <a:pPr marL="0" indent="0">
                        <a:buNone/>
                      </a:pPr>
                      <a:r>
                        <a:rPr lang="en-US" sz="1300" b="1" dirty="0">
                          <a:solidFill>
                            <a:srgbClr val="1F4E79"/>
                          </a:solidFill>
                          <a:latin typeface="Microsoft JhengHei" pitchFamily="34" charset="0"/>
                          <a:ea typeface="Microsoft JhengHei" pitchFamily="34" charset="-122"/>
                          <a:cs typeface="Microsoft JhengHei" pitchFamily="34" charset="-120"/>
                        </a:rPr>
                        <a:t>診斷與鑑別</a:t>
                      </a:r>
                      <a:endParaRPr lang="en-US" sz="1300" dirty="0">
                        <a:latin typeface="Microsoft JhengHei" charset="0"/>
                        <a:ea typeface="Microsoft JhengHei" charset="0"/>
                        <a:cs typeface="Microsoft JhengHei" charset="0"/>
                      </a:endParaRPr>
                    </a:p>
                  </a:txBody>
                  <a:tcPr marT="36576" marB="36576" anchor="ctr">
                    <a:lnL w="9525" cap="flat" cmpd="sng" algn="ctr">
                      <a:solidFill>
                        <a:srgbClr val="BDD7EE"/>
                      </a:solidFill>
                      <a:prstDash val="solid"/>
                      <a:round/>
                      <a:headEnd type="none" w="med" len="med"/>
                      <a:tailEnd type="none" w="med" len="med"/>
                    </a:lnL>
                    <a:lnR w="9525" cap="flat" cmpd="sng" algn="ctr">
                      <a:solidFill>
                        <a:srgbClr val="BDD7EE"/>
                      </a:solidFill>
                      <a:prstDash val="solid"/>
                      <a:round/>
                      <a:headEnd type="none" w="med" len="med"/>
                      <a:tailEnd type="none" w="med" len="med"/>
                    </a:lnR>
                    <a:lnT w="9525" cap="flat" cmpd="sng" algn="ctr">
                      <a:solidFill>
                        <a:srgbClr val="BDD7EE"/>
                      </a:solidFill>
                      <a:prstDash val="solid"/>
                      <a:round/>
                      <a:headEnd type="none" w="med" len="med"/>
                      <a:tailEnd type="none" w="med" len="med"/>
                    </a:lnT>
                    <a:lnB w="9525" cap="flat" cmpd="sng" algn="ctr">
                      <a:solidFill>
                        <a:srgbClr val="BDD7EE"/>
                      </a:solidFill>
                      <a:prstDash val="solid"/>
                      <a:round/>
                      <a:headEnd type="none" w="med" len="med"/>
                      <a:tailEnd type="none" w="med" len="med"/>
                    </a:lnB>
                    <a:solidFill>
                      <a:srgbClr val="DEEBF7"/>
                    </a:solidFill>
                  </a:tcPr>
                </a:tc>
                <a:tc>
                  <a:txBody>
                    <a:bodyPr/>
                    <a:lstStyle/>
                    <a:p>
                      <a:pPr marL="0" indent="0">
                        <a:buNone/>
                      </a:pPr>
                      <a:r>
                        <a:rPr lang="en-US" sz="1250" dirty="0">
                          <a:solidFill>
                            <a:srgbClr val="1F2937"/>
                          </a:solidFill>
                          <a:latin typeface="Microsoft JhengHei" pitchFamily="34" charset="0"/>
                          <a:ea typeface="Microsoft JhengHei" pitchFamily="34" charset="-122"/>
                          <a:cs typeface="Microsoft JhengHei" pitchFamily="34" charset="-120"/>
                        </a:rPr>
                        <a:t>主診斷＋至少 2–3 個有意義的鑑別</a:t>
                      </a:r>
                      <a:endParaRPr lang="en-US" sz="1250" dirty="0">
                        <a:latin typeface="Microsoft JhengHei" charset="0"/>
                        <a:ea typeface="Microsoft JhengHei" charset="0"/>
                        <a:cs typeface="Microsoft JhengHei" charset="0"/>
                      </a:endParaRPr>
                    </a:p>
                  </a:txBody>
                  <a:tcPr marT="36576" marB="36576" anchor="ctr">
                    <a:lnL w="9525" cap="flat" cmpd="sng" algn="ctr">
                      <a:solidFill>
                        <a:srgbClr val="BDD7EE"/>
                      </a:solidFill>
                      <a:prstDash val="solid"/>
                      <a:round/>
                      <a:headEnd type="none" w="med" len="med"/>
                      <a:tailEnd type="none" w="med" len="med"/>
                    </a:lnL>
                    <a:lnR w="9525" cap="flat" cmpd="sng" algn="ctr">
                      <a:solidFill>
                        <a:srgbClr val="BDD7EE"/>
                      </a:solidFill>
                      <a:prstDash val="solid"/>
                      <a:round/>
                      <a:headEnd type="none" w="med" len="med"/>
                      <a:tailEnd type="none" w="med" len="med"/>
                    </a:lnR>
                    <a:lnT w="9525" cap="flat" cmpd="sng" algn="ctr">
                      <a:solidFill>
                        <a:srgbClr val="BDD7EE"/>
                      </a:solidFill>
                      <a:prstDash val="solid"/>
                      <a:round/>
                      <a:headEnd type="none" w="med" len="med"/>
                      <a:tailEnd type="none" w="med" len="med"/>
                    </a:lnT>
                    <a:lnB w="9525" cap="flat" cmpd="sng" algn="ctr">
                      <a:solidFill>
                        <a:srgbClr val="BDD7EE"/>
                      </a:solidFill>
                      <a:prstDash val="solid"/>
                      <a:round/>
                      <a:headEnd type="none" w="med" len="med"/>
                      <a:tailEnd type="none" w="med" len="med"/>
                    </a:lnB>
                  </a:tcPr>
                </a:tc>
                <a:extLst>
                  <a:ext uri="{0D108BD9-81ED-4DB2-BD59-A6C34878D82A}">
                    <a16:rowId xmlns:a16="http://schemas.microsoft.com/office/drawing/2014/main" val="10004"/>
                  </a:ext>
                </a:extLst>
              </a:tr>
              <a:tr h="420624">
                <a:tc>
                  <a:txBody>
                    <a:bodyPr/>
                    <a:lstStyle/>
                    <a:p>
                      <a:pPr marL="0" indent="0">
                        <a:buNone/>
                      </a:pPr>
                      <a:r>
                        <a:rPr lang="en-US" sz="1300" b="1" dirty="0">
                          <a:solidFill>
                            <a:srgbClr val="1F4E79"/>
                          </a:solidFill>
                          <a:latin typeface="Microsoft JhengHei" pitchFamily="34" charset="0"/>
                          <a:ea typeface="Microsoft JhengHei" pitchFamily="34" charset="-122"/>
                          <a:cs typeface="Microsoft JhengHei" pitchFamily="34" charset="-120"/>
                        </a:rPr>
                        <a:t>場景</a:t>
                      </a:r>
                      <a:endParaRPr lang="en-US" sz="1300" dirty="0">
                        <a:latin typeface="Microsoft JhengHei" charset="0"/>
                        <a:ea typeface="Microsoft JhengHei" charset="0"/>
                        <a:cs typeface="Microsoft JhengHei" charset="0"/>
                      </a:endParaRPr>
                    </a:p>
                  </a:txBody>
                  <a:tcPr marT="36576" marB="36576" anchor="ctr">
                    <a:lnL w="9525" cap="flat" cmpd="sng" algn="ctr">
                      <a:solidFill>
                        <a:srgbClr val="BDD7EE"/>
                      </a:solidFill>
                      <a:prstDash val="solid"/>
                      <a:round/>
                      <a:headEnd type="none" w="med" len="med"/>
                      <a:tailEnd type="none" w="med" len="med"/>
                    </a:lnL>
                    <a:lnR w="9525" cap="flat" cmpd="sng" algn="ctr">
                      <a:solidFill>
                        <a:srgbClr val="BDD7EE"/>
                      </a:solidFill>
                      <a:prstDash val="solid"/>
                      <a:round/>
                      <a:headEnd type="none" w="med" len="med"/>
                      <a:tailEnd type="none" w="med" len="med"/>
                    </a:lnR>
                    <a:lnT w="9525" cap="flat" cmpd="sng" algn="ctr">
                      <a:solidFill>
                        <a:srgbClr val="BDD7EE"/>
                      </a:solidFill>
                      <a:prstDash val="solid"/>
                      <a:round/>
                      <a:headEnd type="none" w="med" len="med"/>
                      <a:tailEnd type="none" w="med" len="med"/>
                    </a:lnT>
                    <a:lnB w="9525" cap="flat" cmpd="sng" algn="ctr">
                      <a:solidFill>
                        <a:srgbClr val="BDD7EE"/>
                      </a:solidFill>
                      <a:prstDash val="solid"/>
                      <a:round/>
                      <a:headEnd type="none" w="med" len="med"/>
                      <a:tailEnd type="none" w="med" len="med"/>
                    </a:lnB>
                    <a:solidFill>
                      <a:srgbClr val="DEEBF7"/>
                    </a:solidFill>
                  </a:tcPr>
                </a:tc>
                <a:tc>
                  <a:txBody>
                    <a:bodyPr/>
                    <a:lstStyle/>
                    <a:p>
                      <a:pPr marL="0" indent="0">
                        <a:buNone/>
                      </a:pPr>
                      <a:r>
                        <a:rPr lang="en-US" sz="1250" dirty="0">
                          <a:solidFill>
                            <a:srgbClr val="1F2937"/>
                          </a:solidFill>
                          <a:latin typeface="Microsoft JhengHei" pitchFamily="34" charset="0"/>
                          <a:ea typeface="Microsoft JhengHei" pitchFamily="34" charset="-122"/>
                          <a:cs typeface="Microsoft JhengHei" pitchFamily="34" charset="-120"/>
                        </a:rPr>
                        <a:t>門診、急診、病房、手術室、衛教室</a:t>
                      </a:r>
                      <a:endParaRPr lang="en-US" sz="1250" dirty="0">
                        <a:latin typeface="Microsoft JhengHei" charset="0"/>
                        <a:ea typeface="Microsoft JhengHei" charset="0"/>
                        <a:cs typeface="Microsoft JhengHei" charset="0"/>
                      </a:endParaRPr>
                    </a:p>
                  </a:txBody>
                  <a:tcPr marT="36576" marB="36576" anchor="ctr">
                    <a:lnL w="9525" cap="flat" cmpd="sng" algn="ctr">
                      <a:solidFill>
                        <a:srgbClr val="BDD7EE"/>
                      </a:solidFill>
                      <a:prstDash val="solid"/>
                      <a:round/>
                      <a:headEnd type="none" w="med" len="med"/>
                      <a:tailEnd type="none" w="med" len="med"/>
                    </a:lnL>
                    <a:lnR w="9525" cap="flat" cmpd="sng" algn="ctr">
                      <a:solidFill>
                        <a:srgbClr val="BDD7EE"/>
                      </a:solidFill>
                      <a:prstDash val="solid"/>
                      <a:round/>
                      <a:headEnd type="none" w="med" len="med"/>
                      <a:tailEnd type="none" w="med" len="med"/>
                    </a:lnR>
                    <a:lnT w="9525" cap="flat" cmpd="sng" algn="ctr">
                      <a:solidFill>
                        <a:srgbClr val="BDD7EE"/>
                      </a:solidFill>
                      <a:prstDash val="solid"/>
                      <a:round/>
                      <a:headEnd type="none" w="med" len="med"/>
                      <a:tailEnd type="none" w="med" len="med"/>
                    </a:lnT>
                    <a:lnB w="9525" cap="flat" cmpd="sng" algn="ctr">
                      <a:solidFill>
                        <a:srgbClr val="BDD7EE"/>
                      </a:solidFill>
                      <a:prstDash val="solid"/>
                      <a:round/>
                      <a:headEnd type="none" w="med" len="med"/>
                      <a:tailEnd type="none" w="med" len="med"/>
                    </a:lnB>
                  </a:tcPr>
                </a:tc>
                <a:extLst>
                  <a:ext uri="{0D108BD9-81ED-4DB2-BD59-A6C34878D82A}">
                    <a16:rowId xmlns:a16="http://schemas.microsoft.com/office/drawing/2014/main" val="10005"/>
                  </a:ext>
                </a:extLst>
              </a:tr>
              <a:tr h="420624">
                <a:tc>
                  <a:txBody>
                    <a:bodyPr/>
                    <a:lstStyle/>
                    <a:p>
                      <a:pPr marL="0" indent="0">
                        <a:buNone/>
                      </a:pPr>
                      <a:r>
                        <a:rPr lang="en-US" sz="1300" b="1" dirty="0">
                          <a:solidFill>
                            <a:srgbClr val="1F4E79"/>
                          </a:solidFill>
                          <a:latin typeface="Microsoft JhengHei" pitchFamily="34" charset="0"/>
                          <a:ea typeface="Microsoft JhengHei" pitchFamily="34" charset="-122"/>
                          <a:cs typeface="Microsoft JhengHei" pitchFamily="34" charset="-120"/>
                        </a:rPr>
                        <a:t>必要人員</a:t>
                      </a:r>
                      <a:endParaRPr lang="en-US" sz="1300" dirty="0">
                        <a:latin typeface="Microsoft JhengHei" charset="0"/>
                        <a:ea typeface="Microsoft JhengHei" charset="0"/>
                        <a:cs typeface="Microsoft JhengHei" charset="0"/>
                      </a:endParaRPr>
                    </a:p>
                  </a:txBody>
                  <a:tcPr marT="36576" marB="36576" anchor="ctr">
                    <a:lnL w="9525" cap="flat" cmpd="sng" algn="ctr">
                      <a:solidFill>
                        <a:srgbClr val="BDD7EE"/>
                      </a:solidFill>
                      <a:prstDash val="solid"/>
                      <a:round/>
                      <a:headEnd type="none" w="med" len="med"/>
                      <a:tailEnd type="none" w="med" len="med"/>
                    </a:lnL>
                    <a:lnR w="9525" cap="flat" cmpd="sng" algn="ctr">
                      <a:solidFill>
                        <a:srgbClr val="BDD7EE"/>
                      </a:solidFill>
                      <a:prstDash val="solid"/>
                      <a:round/>
                      <a:headEnd type="none" w="med" len="med"/>
                      <a:tailEnd type="none" w="med" len="med"/>
                    </a:lnR>
                    <a:lnT w="9525" cap="flat" cmpd="sng" algn="ctr">
                      <a:solidFill>
                        <a:srgbClr val="BDD7EE"/>
                      </a:solidFill>
                      <a:prstDash val="solid"/>
                      <a:round/>
                      <a:headEnd type="none" w="med" len="med"/>
                      <a:tailEnd type="none" w="med" len="med"/>
                    </a:lnT>
                    <a:lnB w="9525" cap="flat" cmpd="sng" algn="ctr">
                      <a:solidFill>
                        <a:srgbClr val="BDD7EE"/>
                      </a:solidFill>
                      <a:prstDash val="solid"/>
                      <a:round/>
                      <a:headEnd type="none" w="med" len="med"/>
                      <a:tailEnd type="none" w="med" len="med"/>
                    </a:lnB>
                    <a:solidFill>
                      <a:srgbClr val="DEEBF7"/>
                    </a:solidFill>
                  </a:tcPr>
                </a:tc>
                <a:tc>
                  <a:txBody>
                    <a:bodyPr/>
                    <a:lstStyle/>
                    <a:p>
                      <a:pPr marL="0" indent="0">
                        <a:buNone/>
                      </a:pPr>
                      <a:r>
                        <a:rPr lang="en-US" sz="1250" dirty="0">
                          <a:solidFill>
                            <a:srgbClr val="1F2937"/>
                          </a:solidFill>
                          <a:latin typeface="Microsoft JhengHei" pitchFamily="34" charset="0"/>
                          <a:ea typeface="Microsoft JhengHei" pitchFamily="34" charset="-122"/>
                          <a:cs typeface="Microsoft JhengHei" pitchFamily="34" charset="-120"/>
                        </a:rPr>
                        <a:t>SP、考官、護理師、家屬、假人／模型</a:t>
                      </a:r>
                      <a:endParaRPr lang="en-US" sz="1250" dirty="0">
                        <a:latin typeface="Microsoft JhengHei" charset="0"/>
                        <a:ea typeface="Microsoft JhengHei" charset="0"/>
                        <a:cs typeface="Microsoft JhengHei" charset="0"/>
                      </a:endParaRPr>
                    </a:p>
                  </a:txBody>
                  <a:tcPr marT="36576" marB="36576" anchor="ctr">
                    <a:lnL w="9525" cap="flat" cmpd="sng" algn="ctr">
                      <a:solidFill>
                        <a:srgbClr val="BDD7EE"/>
                      </a:solidFill>
                      <a:prstDash val="solid"/>
                      <a:round/>
                      <a:headEnd type="none" w="med" len="med"/>
                      <a:tailEnd type="none" w="med" len="med"/>
                    </a:lnL>
                    <a:lnR w="9525" cap="flat" cmpd="sng" algn="ctr">
                      <a:solidFill>
                        <a:srgbClr val="BDD7EE"/>
                      </a:solidFill>
                      <a:prstDash val="solid"/>
                      <a:round/>
                      <a:headEnd type="none" w="med" len="med"/>
                      <a:tailEnd type="none" w="med" len="med"/>
                    </a:lnR>
                    <a:lnT w="9525" cap="flat" cmpd="sng" algn="ctr">
                      <a:solidFill>
                        <a:srgbClr val="BDD7EE"/>
                      </a:solidFill>
                      <a:prstDash val="solid"/>
                      <a:round/>
                      <a:headEnd type="none" w="med" len="med"/>
                      <a:tailEnd type="none" w="med" len="med"/>
                    </a:lnT>
                    <a:lnB w="9525" cap="flat" cmpd="sng" algn="ctr">
                      <a:solidFill>
                        <a:srgbClr val="BDD7EE"/>
                      </a:solidFill>
                      <a:prstDash val="solid"/>
                      <a:round/>
                      <a:headEnd type="none" w="med" len="med"/>
                      <a:tailEnd type="none" w="med" len="med"/>
                    </a:lnB>
                  </a:tcPr>
                </a:tc>
                <a:extLst>
                  <a:ext uri="{0D108BD9-81ED-4DB2-BD59-A6C34878D82A}">
                    <a16:rowId xmlns:a16="http://schemas.microsoft.com/office/drawing/2014/main" val="10006"/>
                  </a:ext>
                </a:extLst>
              </a:tr>
              <a:tr h="420624">
                <a:tc>
                  <a:txBody>
                    <a:bodyPr/>
                    <a:lstStyle/>
                    <a:p>
                      <a:pPr marL="0" indent="0">
                        <a:buNone/>
                      </a:pPr>
                      <a:r>
                        <a:rPr lang="en-US" sz="1300" b="1" dirty="0">
                          <a:solidFill>
                            <a:srgbClr val="1F4E79"/>
                          </a:solidFill>
                          <a:latin typeface="Microsoft JhengHei" pitchFamily="34" charset="0"/>
                          <a:ea typeface="Microsoft JhengHei" pitchFamily="34" charset="-122"/>
                          <a:cs typeface="Microsoft JhengHei" pitchFamily="34" charset="-120"/>
                        </a:rPr>
                        <a:t>產出層級</a:t>
                      </a:r>
                      <a:endParaRPr lang="en-US" sz="1300" dirty="0">
                        <a:latin typeface="Microsoft JhengHei" charset="0"/>
                        <a:ea typeface="Microsoft JhengHei" charset="0"/>
                        <a:cs typeface="Microsoft JhengHei" charset="0"/>
                      </a:endParaRPr>
                    </a:p>
                  </a:txBody>
                  <a:tcPr marT="36576" marB="36576" anchor="ctr">
                    <a:lnL w="9525" cap="flat" cmpd="sng" algn="ctr">
                      <a:solidFill>
                        <a:srgbClr val="BDD7EE"/>
                      </a:solidFill>
                      <a:prstDash val="solid"/>
                      <a:round/>
                      <a:headEnd type="none" w="med" len="med"/>
                      <a:tailEnd type="none" w="med" len="med"/>
                    </a:lnL>
                    <a:lnR w="9525" cap="flat" cmpd="sng" algn="ctr">
                      <a:solidFill>
                        <a:srgbClr val="BDD7EE"/>
                      </a:solidFill>
                      <a:prstDash val="solid"/>
                      <a:round/>
                      <a:headEnd type="none" w="med" len="med"/>
                      <a:tailEnd type="none" w="med" len="med"/>
                    </a:lnR>
                    <a:lnT w="9525" cap="flat" cmpd="sng" algn="ctr">
                      <a:solidFill>
                        <a:srgbClr val="BDD7EE"/>
                      </a:solidFill>
                      <a:prstDash val="solid"/>
                      <a:round/>
                      <a:headEnd type="none" w="med" len="med"/>
                      <a:tailEnd type="none" w="med" len="med"/>
                    </a:lnT>
                    <a:lnB w="9525" cap="flat" cmpd="sng" algn="ctr">
                      <a:solidFill>
                        <a:srgbClr val="BDD7EE"/>
                      </a:solidFill>
                      <a:prstDash val="solid"/>
                      <a:round/>
                      <a:headEnd type="none" w="med" len="med"/>
                      <a:tailEnd type="none" w="med" len="med"/>
                    </a:lnB>
                    <a:solidFill>
                      <a:srgbClr val="DEEBF7"/>
                    </a:solidFill>
                  </a:tcPr>
                </a:tc>
                <a:tc>
                  <a:txBody>
                    <a:bodyPr/>
                    <a:lstStyle/>
                    <a:p>
                      <a:pPr marL="0" indent="0">
                        <a:buNone/>
                      </a:pPr>
                      <a:r>
                        <a:rPr lang="en-US" sz="1250" dirty="0">
                          <a:solidFill>
                            <a:srgbClr val="1F2937"/>
                          </a:solidFill>
                          <a:latin typeface="Microsoft JhengHei" pitchFamily="34" charset="0"/>
                          <a:ea typeface="Microsoft JhengHei" pitchFamily="34" charset="-122"/>
                          <a:cs typeface="Microsoft JhengHei" pitchFamily="34" charset="-120"/>
                        </a:rPr>
                        <a:t>討論草稿／完整可印教案／檢核表審閱</a:t>
                      </a:r>
                      <a:endParaRPr lang="en-US" sz="1250" dirty="0">
                        <a:latin typeface="Microsoft JhengHei" charset="0"/>
                        <a:ea typeface="Microsoft JhengHei" charset="0"/>
                        <a:cs typeface="Microsoft JhengHei" charset="0"/>
                      </a:endParaRPr>
                    </a:p>
                  </a:txBody>
                  <a:tcPr marT="36576" marB="36576" anchor="ctr">
                    <a:lnL w="9525" cap="flat" cmpd="sng" algn="ctr">
                      <a:solidFill>
                        <a:srgbClr val="BDD7EE"/>
                      </a:solidFill>
                      <a:prstDash val="solid"/>
                      <a:round/>
                      <a:headEnd type="none" w="med" len="med"/>
                      <a:tailEnd type="none" w="med" len="med"/>
                    </a:lnL>
                    <a:lnR w="9525" cap="flat" cmpd="sng" algn="ctr">
                      <a:solidFill>
                        <a:srgbClr val="BDD7EE"/>
                      </a:solidFill>
                      <a:prstDash val="solid"/>
                      <a:round/>
                      <a:headEnd type="none" w="med" len="med"/>
                      <a:tailEnd type="none" w="med" len="med"/>
                    </a:lnR>
                    <a:lnT w="9525" cap="flat" cmpd="sng" algn="ctr">
                      <a:solidFill>
                        <a:srgbClr val="BDD7EE"/>
                      </a:solidFill>
                      <a:prstDash val="solid"/>
                      <a:round/>
                      <a:headEnd type="none" w="med" len="med"/>
                      <a:tailEnd type="none" w="med" len="med"/>
                    </a:lnT>
                    <a:lnB w="9525" cap="flat" cmpd="sng" algn="ctr">
                      <a:solidFill>
                        <a:srgbClr val="BDD7EE"/>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6" name="Text 3"/>
          <p:cNvSpPr/>
          <p:nvPr/>
        </p:nvSpPr>
        <p:spPr>
          <a:xfrm>
            <a:off x="502920" y="4590288"/>
            <a:ext cx="8138160" cy="320040"/>
          </a:xfrm>
          <a:prstGeom prst="rect">
            <a:avLst/>
          </a:prstGeom>
          <a:noFill/>
          <a:ln/>
        </p:spPr>
        <p:txBody>
          <a:bodyPr wrap="square" lIns="0" tIns="0" rIns="0" bIns="0" rtlCol="0" anchor="ctr"/>
          <a:lstStyle/>
          <a:p>
            <a:pPr marL="0" indent="0">
              <a:buNone/>
            </a:pPr>
            <a:r>
              <a:rPr lang="en-US" sz="1200" i="1" dirty="0">
                <a:solidFill>
                  <a:srgbClr val="2E75B6"/>
                </a:solidFill>
                <a:latin typeface="Microsoft JhengHei" pitchFamily="34" charset="0"/>
                <a:ea typeface="Microsoft JhengHei" pitchFamily="34" charset="-122"/>
                <a:cs typeface="Microsoft JhengHei" pitchFamily="34" charset="-120"/>
              </a:rPr>
              <a:t>確認後一句話對焦：「我要開發一道【場景】【科別】【主題】【站型】站，對象是【程度】。」</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641080" y="4828032"/>
            <a:ext cx="365760" cy="274320"/>
          </a:xfrm>
          <a:prstGeom prst="rect">
            <a:avLst/>
          </a:prstGeom>
          <a:noFill/>
          <a:ln/>
        </p:spPr>
        <p:txBody>
          <a:bodyPr wrap="square" lIns="0" tIns="0" rIns="0" bIns="0" rtlCol="0" anchor="ctr"/>
          <a:lstStyle/>
          <a:p>
            <a:pPr marL="0" indent="0" algn="r">
              <a:buNone/>
            </a:pPr>
            <a:r>
              <a:rPr lang="en-US" sz="1000" dirty="0">
                <a:solidFill>
                  <a:srgbClr val="5B6B7F"/>
                </a:solidFill>
                <a:latin typeface="Microsoft JhengHei" pitchFamily="34" charset="0"/>
                <a:ea typeface="Microsoft JhengHei" pitchFamily="34" charset="-122"/>
                <a:cs typeface="Microsoft JhengHei" pitchFamily="34" charset="-120"/>
              </a:rPr>
              <a:t>9</a:t>
            </a:r>
            <a:endParaRPr lang="en-US" sz="1000" dirty="0"/>
          </a:p>
        </p:txBody>
      </p:sp>
      <p:sp>
        <p:nvSpPr>
          <p:cNvPr id="3" name="Text 1"/>
          <p:cNvSpPr/>
          <p:nvPr/>
        </p:nvSpPr>
        <p:spPr>
          <a:xfrm>
            <a:off x="502920" y="201168"/>
            <a:ext cx="8046720" cy="274320"/>
          </a:xfrm>
          <a:prstGeom prst="rect">
            <a:avLst/>
          </a:prstGeom>
          <a:noFill/>
          <a:ln/>
        </p:spPr>
        <p:txBody>
          <a:bodyPr wrap="square" lIns="0" tIns="0" rIns="0" bIns="0" rtlCol="0" anchor="ctr"/>
          <a:lstStyle/>
          <a:p>
            <a:pPr marL="0" indent="0">
              <a:buNone/>
            </a:pPr>
            <a:r>
              <a:rPr lang="en-US" sz="1200" b="1" kern="0" spc="200" dirty="0">
                <a:solidFill>
                  <a:srgbClr val="2E75B6"/>
                </a:solidFill>
                <a:latin typeface="Microsoft JhengHei" pitchFamily="34" charset="0"/>
                <a:ea typeface="Microsoft JhengHei" pitchFamily="34" charset="-122"/>
                <a:cs typeface="Microsoft JhengHei" pitchFamily="34" charset="-120"/>
              </a:rPr>
              <a:t>STRUCTURE</a:t>
            </a:r>
            <a:endParaRPr lang="en-US" sz="1200" dirty="0"/>
          </a:p>
        </p:txBody>
      </p:sp>
      <p:sp>
        <p:nvSpPr>
          <p:cNvPr id="4" name="Text 2"/>
          <p:cNvSpPr/>
          <p:nvPr/>
        </p:nvSpPr>
        <p:spPr>
          <a:xfrm>
            <a:off x="502920" y="457200"/>
            <a:ext cx="8138160" cy="566928"/>
          </a:xfrm>
          <a:prstGeom prst="rect">
            <a:avLst/>
          </a:prstGeom>
          <a:noFill/>
          <a:ln/>
        </p:spPr>
        <p:txBody>
          <a:bodyPr wrap="square" lIns="0" tIns="0" rIns="0" bIns="0" rtlCol="0" anchor="ctr"/>
          <a:lstStyle/>
          <a:p>
            <a:pPr marL="0" indent="0">
              <a:buNone/>
            </a:pPr>
            <a:r>
              <a:rPr lang="en-US" sz="2700" b="1" dirty="0">
                <a:solidFill>
                  <a:srgbClr val="1F4E79"/>
                </a:solidFill>
                <a:latin typeface="Microsoft JhengHei" pitchFamily="34" charset="0"/>
                <a:ea typeface="Microsoft JhengHei" pitchFamily="34" charset="-122"/>
                <a:cs typeface="Microsoft JhengHei" pitchFamily="34" charset="-120"/>
              </a:rPr>
              <a:t>教案五大部分（TAME 格式）</a:t>
            </a:r>
            <a:endParaRPr lang="en-US" sz="2700" dirty="0"/>
          </a:p>
        </p:txBody>
      </p:sp>
      <p:sp>
        <p:nvSpPr>
          <p:cNvPr id="5" name="Shape 3"/>
          <p:cNvSpPr/>
          <p:nvPr/>
        </p:nvSpPr>
        <p:spPr>
          <a:xfrm>
            <a:off x="384048" y="1325880"/>
            <a:ext cx="1572768" cy="2377440"/>
          </a:xfrm>
          <a:prstGeom prst="rect">
            <a:avLst/>
          </a:prstGeom>
          <a:solidFill>
            <a:srgbClr val="DEEBF7"/>
          </a:solidFill>
          <a:ln/>
        </p:spPr>
        <p:txBody>
          <a:bodyPr/>
          <a:lstStyle/>
          <a:p>
            <a:endParaRPr lang="zh-TW" altLang="en-US"/>
          </a:p>
        </p:txBody>
      </p:sp>
      <p:sp>
        <p:nvSpPr>
          <p:cNvPr id="6" name="Shape 4"/>
          <p:cNvSpPr/>
          <p:nvPr/>
        </p:nvSpPr>
        <p:spPr>
          <a:xfrm>
            <a:off x="932688" y="1481328"/>
            <a:ext cx="457200" cy="457200"/>
          </a:xfrm>
          <a:prstGeom prst="ellipse">
            <a:avLst/>
          </a:prstGeom>
          <a:solidFill>
            <a:srgbClr val="1F4E79"/>
          </a:solidFill>
          <a:ln/>
        </p:spPr>
        <p:txBody>
          <a:bodyPr/>
          <a:lstStyle/>
          <a:p>
            <a:endParaRPr lang="zh-TW" altLang="en-US"/>
          </a:p>
        </p:txBody>
      </p:sp>
      <p:sp>
        <p:nvSpPr>
          <p:cNvPr id="7" name="Text 5"/>
          <p:cNvSpPr/>
          <p:nvPr/>
        </p:nvSpPr>
        <p:spPr>
          <a:xfrm>
            <a:off x="932688" y="1470355"/>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Microsoft JhengHei" pitchFamily="34" charset="0"/>
                <a:ea typeface="Microsoft JhengHei" pitchFamily="34" charset="-122"/>
                <a:cs typeface="Microsoft JhengHei" pitchFamily="34" charset="-120"/>
              </a:rPr>
              <a:t>1</a:t>
            </a:r>
            <a:endParaRPr lang="en-US" sz="1800" dirty="0"/>
          </a:p>
        </p:txBody>
      </p:sp>
      <p:sp>
        <p:nvSpPr>
          <p:cNvPr id="8" name="Text 6"/>
          <p:cNvSpPr/>
          <p:nvPr/>
        </p:nvSpPr>
        <p:spPr>
          <a:xfrm>
            <a:off x="493776" y="2057400"/>
            <a:ext cx="1371600" cy="1554480"/>
          </a:xfrm>
          <a:prstGeom prst="rect">
            <a:avLst/>
          </a:prstGeom>
          <a:noFill/>
          <a:ln/>
        </p:spPr>
        <p:txBody>
          <a:bodyPr wrap="square" lIns="0" tIns="0" rIns="0" bIns="0" rtlCol="0" anchor="ctr"/>
          <a:lstStyle/>
          <a:p>
            <a:pPr marL="0" indent="0" algn="ctr">
              <a:lnSpc>
                <a:spcPct val="110000"/>
              </a:lnSpc>
              <a:buNone/>
            </a:pPr>
            <a:r>
              <a:rPr lang="en-US" sz="1500" b="1" dirty="0">
                <a:solidFill>
                  <a:srgbClr val="1F4E79"/>
                </a:solidFill>
                <a:latin typeface="Microsoft JhengHei" pitchFamily="34" charset="0"/>
                <a:ea typeface="Microsoft JhengHei" pitchFamily="34" charset="-122"/>
                <a:cs typeface="Microsoft JhengHei" pitchFamily="34" charset="-120"/>
              </a:rPr>
              <a:t>告示牌</a:t>
            </a:r>
            <a:endParaRPr lang="en-US" sz="1500" dirty="0"/>
          </a:p>
          <a:p>
            <a:pPr marL="0" indent="0" algn="ctr">
              <a:lnSpc>
                <a:spcPct val="110000"/>
              </a:lnSpc>
              <a:buNone/>
            </a:pPr>
            <a:endParaRPr lang="en-US" sz="1500" dirty="0"/>
          </a:p>
          <a:p>
            <a:pPr marL="0" indent="0" algn="ctr">
              <a:lnSpc>
                <a:spcPct val="110000"/>
              </a:lnSpc>
              <a:buNone/>
            </a:pPr>
            <a:r>
              <a:rPr lang="en-US" sz="1050" dirty="0">
                <a:solidFill>
                  <a:srgbClr val="1F2937"/>
                </a:solidFill>
                <a:latin typeface="Microsoft JhengHei" pitchFamily="34" charset="0"/>
                <a:ea typeface="Microsoft JhengHei" pitchFamily="34" charset="-122"/>
                <a:cs typeface="Microsoft JhengHei" pitchFamily="34" charset="-120"/>
              </a:rPr>
              <a:t>站號＋病患資訊 ≤30 字</a:t>
            </a:r>
            <a:endParaRPr lang="en-US" sz="1500" dirty="0"/>
          </a:p>
        </p:txBody>
      </p:sp>
      <p:sp>
        <p:nvSpPr>
          <p:cNvPr id="9" name="Text 7"/>
          <p:cNvSpPr/>
          <p:nvPr/>
        </p:nvSpPr>
        <p:spPr>
          <a:xfrm>
            <a:off x="356616" y="3822192"/>
            <a:ext cx="1664208" cy="594360"/>
          </a:xfrm>
          <a:prstGeom prst="rect">
            <a:avLst/>
          </a:prstGeom>
          <a:noFill/>
          <a:ln/>
        </p:spPr>
        <p:txBody>
          <a:bodyPr wrap="square" lIns="0" tIns="0" rIns="0" bIns="0" rtlCol="0" anchor="ctr"/>
          <a:lstStyle/>
          <a:p>
            <a:pPr marL="0" indent="0" algn="ctr">
              <a:buNone/>
            </a:pPr>
            <a:r>
              <a:rPr lang="en-US" sz="1000" dirty="0">
                <a:solidFill>
                  <a:srgbClr val="5B6B7F"/>
                </a:solidFill>
                <a:latin typeface="Microsoft JhengHei" pitchFamily="34" charset="0"/>
                <a:ea typeface="Microsoft JhengHei" pitchFamily="34" charset="-122"/>
                <a:cs typeface="Microsoft JhengHei" pitchFamily="34" charset="-120"/>
              </a:rPr>
              <a:t>考生進站前 1 分鐘讀的東西</a:t>
            </a:r>
            <a:endParaRPr lang="en-US" sz="1000" dirty="0"/>
          </a:p>
        </p:txBody>
      </p:sp>
      <p:sp>
        <p:nvSpPr>
          <p:cNvPr id="10" name="Shape 8"/>
          <p:cNvSpPr/>
          <p:nvPr/>
        </p:nvSpPr>
        <p:spPr>
          <a:xfrm>
            <a:off x="2103120" y="1325880"/>
            <a:ext cx="1572768" cy="2377440"/>
          </a:xfrm>
          <a:prstGeom prst="rect">
            <a:avLst/>
          </a:prstGeom>
          <a:solidFill>
            <a:srgbClr val="DEEBF7"/>
          </a:solidFill>
          <a:ln/>
        </p:spPr>
        <p:txBody>
          <a:bodyPr/>
          <a:lstStyle/>
          <a:p>
            <a:endParaRPr lang="zh-TW" altLang="en-US"/>
          </a:p>
        </p:txBody>
      </p:sp>
      <p:sp>
        <p:nvSpPr>
          <p:cNvPr id="11" name="Shape 9"/>
          <p:cNvSpPr/>
          <p:nvPr/>
        </p:nvSpPr>
        <p:spPr>
          <a:xfrm>
            <a:off x="2651760" y="1481328"/>
            <a:ext cx="457200" cy="457200"/>
          </a:xfrm>
          <a:prstGeom prst="ellipse">
            <a:avLst/>
          </a:prstGeom>
          <a:solidFill>
            <a:srgbClr val="1F4E79"/>
          </a:solidFill>
          <a:ln/>
        </p:spPr>
        <p:txBody>
          <a:bodyPr/>
          <a:lstStyle/>
          <a:p>
            <a:endParaRPr lang="zh-TW" altLang="en-US"/>
          </a:p>
        </p:txBody>
      </p:sp>
      <p:sp>
        <p:nvSpPr>
          <p:cNvPr id="12" name="Text 10"/>
          <p:cNvSpPr/>
          <p:nvPr/>
        </p:nvSpPr>
        <p:spPr>
          <a:xfrm>
            <a:off x="2651760" y="1470355"/>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Microsoft JhengHei" pitchFamily="34" charset="0"/>
                <a:ea typeface="Microsoft JhengHei" pitchFamily="34" charset="-122"/>
                <a:cs typeface="Microsoft JhengHei" pitchFamily="34" charset="-120"/>
              </a:rPr>
              <a:t>2</a:t>
            </a:r>
            <a:endParaRPr lang="en-US" sz="1800" dirty="0"/>
          </a:p>
        </p:txBody>
      </p:sp>
      <p:sp>
        <p:nvSpPr>
          <p:cNvPr id="13" name="Text 11"/>
          <p:cNvSpPr/>
          <p:nvPr/>
        </p:nvSpPr>
        <p:spPr>
          <a:xfrm>
            <a:off x="2212848" y="2057400"/>
            <a:ext cx="1371600" cy="1554480"/>
          </a:xfrm>
          <a:prstGeom prst="rect">
            <a:avLst/>
          </a:prstGeom>
          <a:noFill/>
          <a:ln/>
        </p:spPr>
        <p:txBody>
          <a:bodyPr wrap="square" lIns="0" tIns="0" rIns="0" bIns="0" rtlCol="0" anchor="ctr"/>
          <a:lstStyle/>
          <a:p>
            <a:pPr marL="0" indent="0" algn="ctr">
              <a:lnSpc>
                <a:spcPct val="110000"/>
              </a:lnSpc>
              <a:buNone/>
            </a:pPr>
            <a:r>
              <a:rPr lang="en-US" sz="1500" b="1" dirty="0">
                <a:solidFill>
                  <a:srgbClr val="1F4E79"/>
                </a:solidFill>
                <a:latin typeface="Microsoft JhengHei" pitchFamily="34" charset="0"/>
                <a:ea typeface="Microsoft JhengHei" pitchFamily="34" charset="-122"/>
                <a:cs typeface="Microsoft JhengHei" pitchFamily="34" charset="-120"/>
              </a:rPr>
              <a:t>考生指引</a:t>
            </a:r>
            <a:endParaRPr lang="en-US" sz="1500" dirty="0"/>
          </a:p>
          <a:p>
            <a:pPr marL="0" indent="0" algn="ctr">
              <a:lnSpc>
                <a:spcPct val="110000"/>
              </a:lnSpc>
              <a:buNone/>
            </a:pPr>
            <a:endParaRPr lang="en-US" sz="1500" dirty="0"/>
          </a:p>
          <a:p>
            <a:pPr marL="0" indent="0" algn="ctr">
              <a:lnSpc>
                <a:spcPct val="110000"/>
              </a:lnSpc>
              <a:buNone/>
            </a:pPr>
            <a:r>
              <a:rPr lang="en-US" sz="1050" dirty="0">
                <a:solidFill>
                  <a:srgbClr val="1F2937"/>
                </a:solidFill>
                <a:latin typeface="Microsoft JhengHei" pitchFamily="34" charset="0"/>
                <a:ea typeface="Microsoft JhengHei" pitchFamily="34" charset="-122"/>
                <a:cs typeface="Microsoft JhengHei" pitchFamily="34" charset="-120"/>
              </a:rPr>
              <a:t>背景＋恰 3 個任務●＋檢查報告</a:t>
            </a:r>
            <a:endParaRPr lang="en-US" sz="1500" dirty="0"/>
          </a:p>
        </p:txBody>
      </p:sp>
      <p:sp>
        <p:nvSpPr>
          <p:cNvPr id="14" name="Text 12"/>
          <p:cNvSpPr/>
          <p:nvPr/>
        </p:nvSpPr>
        <p:spPr>
          <a:xfrm>
            <a:off x="2075688" y="3822192"/>
            <a:ext cx="1664208" cy="594360"/>
          </a:xfrm>
          <a:prstGeom prst="rect">
            <a:avLst/>
          </a:prstGeom>
          <a:noFill/>
          <a:ln/>
        </p:spPr>
        <p:txBody>
          <a:bodyPr wrap="square" lIns="0" tIns="0" rIns="0" bIns="0" rtlCol="0" anchor="ctr"/>
          <a:lstStyle/>
          <a:p>
            <a:pPr marL="0" indent="0" algn="ctr">
              <a:buNone/>
            </a:pPr>
            <a:r>
              <a:rPr lang="en-US" sz="1000" dirty="0">
                <a:solidFill>
                  <a:srgbClr val="5B6B7F"/>
                </a:solidFill>
                <a:latin typeface="Microsoft JhengHei" pitchFamily="34" charset="0"/>
                <a:ea typeface="Microsoft JhengHei" pitchFamily="34" charset="-122"/>
                <a:cs typeface="Microsoft JhengHei" pitchFamily="34" charset="-120"/>
              </a:rPr>
              <a:t>決定考生「做什麼」</a:t>
            </a:r>
            <a:endParaRPr lang="en-US" sz="1000" dirty="0"/>
          </a:p>
        </p:txBody>
      </p:sp>
      <p:sp>
        <p:nvSpPr>
          <p:cNvPr id="15" name="Shape 13"/>
          <p:cNvSpPr/>
          <p:nvPr/>
        </p:nvSpPr>
        <p:spPr>
          <a:xfrm>
            <a:off x="3822192" y="1325880"/>
            <a:ext cx="1572768" cy="2377440"/>
          </a:xfrm>
          <a:prstGeom prst="rect">
            <a:avLst/>
          </a:prstGeom>
          <a:solidFill>
            <a:srgbClr val="1F4E79"/>
          </a:solidFill>
          <a:ln/>
        </p:spPr>
        <p:txBody>
          <a:bodyPr/>
          <a:lstStyle/>
          <a:p>
            <a:endParaRPr lang="zh-TW" altLang="en-US"/>
          </a:p>
        </p:txBody>
      </p:sp>
      <p:sp>
        <p:nvSpPr>
          <p:cNvPr id="16" name="Shape 14"/>
          <p:cNvSpPr/>
          <p:nvPr/>
        </p:nvSpPr>
        <p:spPr>
          <a:xfrm>
            <a:off x="4370832" y="1481328"/>
            <a:ext cx="457200" cy="457200"/>
          </a:xfrm>
          <a:prstGeom prst="ellipse">
            <a:avLst/>
          </a:prstGeom>
          <a:solidFill>
            <a:srgbClr val="FFFFFF"/>
          </a:solidFill>
          <a:ln/>
        </p:spPr>
        <p:txBody>
          <a:bodyPr/>
          <a:lstStyle/>
          <a:p>
            <a:endParaRPr lang="zh-TW" altLang="en-US"/>
          </a:p>
        </p:txBody>
      </p:sp>
      <p:sp>
        <p:nvSpPr>
          <p:cNvPr id="17" name="Text 15"/>
          <p:cNvSpPr/>
          <p:nvPr/>
        </p:nvSpPr>
        <p:spPr>
          <a:xfrm>
            <a:off x="4370832" y="1470355"/>
            <a:ext cx="457200" cy="457200"/>
          </a:xfrm>
          <a:prstGeom prst="rect">
            <a:avLst/>
          </a:prstGeom>
          <a:noFill/>
          <a:ln/>
        </p:spPr>
        <p:txBody>
          <a:bodyPr wrap="square" lIns="0" tIns="0" rIns="0" bIns="0" rtlCol="0" anchor="ctr"/>
          <a:lstStyle/>
          <a:p>
            <a:pPr marL="0" indent="0" algn="ctr">
              <a:buNone/>
            </a:pPr>
            <a:r>
              <a:rPr lang="en-US" sz="1800" b="1" dirty="0">
                <a:solidFill>
                  <a:srgbClr val="1F4E79"/>
                </a:solidFill>
                <a:latin typeface="Microsoft JhengHei" pitchFamily="34" charset="0"/>
                <a:ea typeface="Microsoft JhengHei" pitchFamily="34" charset="-122"/>
                <a:cs typeface="Microsoft JhengHei" pitchFamily="34" charset="-120"/>
              </a:rPr>
              <a:t>3</a:t>
            </a:r>
            <a:endParaRPr lang="en-US" sz="1800" dirty="0"/>
          </a:p>
        </p:txBody>
      </p:sp>
      <p:sp>
        <p:nvSpPr>
          <p:cNvPr id="18" name="Text 16"/>
          <p:cNvSpPr/>
          <p:nvPr/>
        </p:nvSpPr>
        <p:spPr>
          <a:xfrm>
            <a:off x="3931920" y="2057400"/>
            <a:ext cx="1371600" cy="1554480"/>
          </a:xfrm>
          <a:prstGeom prst="rect">
            <a:avLst/>
          </a:prstGeom>
          <a:noFill/>
          <a:ln/>
        </p:spPr>
        <p:txBody>
          <a:bodyPr wrap="square" lIns="0" tIns="0" rIns="0" bIns="0" rtlCol="0" anchor="ctr"/>
          <a:lstStyle/>
          <a:p>
            <a:pPr marL="0" indent="0" algn="ctr">
              <a:lnSpc>
                <a:spcPct val="110000"/>
              </a:lnSpc>
              <a:buNone/>
            </a:pPr>
            <a:r>
              <a:rPr lang="en-US" sz="1500" b="1" dirty="0">
                <a:solidFill>
                  <a:srgbClr val="FFFFFF"/>
                </a:solidFill>
                <a:latin typeface="Microsoft JhengHei" pitchFamily="34" charset="0"/>
                <a:ea typeface="Microsoft JhengHei" pitchFamily="34" charset="-122"/>
                <a:cs typeface="Microsoft JhengHei" pitchFamily="34" charset="-120"/>
              </a:rPr>
              <a:t>評分表</a:t>
            </a:r>
            <a:endParaRPr lang="en-US" sz="1500" dirty="0"/>
          </a:p>
          <a:p>
            <a:pPr marL="0" indent="0" algn="ctr">
              <a:lnSpc>
                <a:spcPct val="110000"/>
              </a:lnSpc>
              <a:buNone/>
            </a:pPr>
            <a:endParaRPr lang="en-US" sz="1500" dirty="0"/>
          </a:p>
          <a:p>
            <a:pPr marL="0" indent="0" algn="ctr">
              <a:lnSpc>
                <a:spcPct val="110000"/>
              </a:lnSpc>
              <a:buNone/>
            </a:pPr>
            <a:r>
              <a:rPr lang="en-US" sz="1050" dirty="0">
                <a:solidFill>
                  <a:srgbClr val="BDD7EE"/>
                </a:solidFill>
                <a:latin typeface="Microsoft JhengHei" pitchFamily="34" charset="0"/>
                <a:ea typeface="Microsoft JhengHei" pitchFamily="34" charset="-122"/>
                <a:cs typeface="Microsoft JhengHei" pitchFamily="34" charset="-120"/>
              </a:rPr>
              <a:t>15 項 × 0/1/2，滿分 30</a:t>
            </a:r>
            <a:endParaRPr lang="en-US" sz="1500" dirty="0"/>
          </a:p>
        </p:txBody>
      </p:sp>
      <p:sp>
        <p:nvSpPr>
          <p:cNvPr id="19" name="Text 17"/>
          <p:cNvSpPr/>
          <p:nvPr/>
        </p:nvSpPr>
        <p:spPr>
          <a:xfrm>
            <a:off x="3794760" y="3822192"/>
            <a:ext cx="1664208" cy="594360"/>
          </a:xfrm>
          <a:prstGeom prst="rect">
            <a:avLst/>
          </a:prstGeom>
          <a:noFill/>
          <a:ln/>
        </p:spPr>
        <p:txBody>
          <a:bodyPr wrap="square" lIns="0" tIns="0" rIns="0" bIns="0" rtlCol="0" anchor="ctr"/>
          <a:lstStyle/>
          <a:p>
            <a:pPr marL="0" indent="0" algn="ctr">
              <a:buNone/>
            </a:pPr>
            <a:r>
              <a:rPr lang="en-US" sz="1000" dirty="0">
                <a:solidFill>
                  <a:srgbClr val="5B6B7F"/>
                </a:solidFill>
                <a:latin typeface="Microsoft JhengHei" pitchFamily="34" charset="0"/>
                <a:ea typeface="Microsoft JhengHei" pitchFamily="34" charset="-122"/>
                <a:cs typeface="Microsoft JhengHei" pitchFamily="34" charset="-120"/>
              </a:rPr>
              <a:t>決定考生「怎麼拿分」</a:t>
            </a:r>
            <a:endParaRPr lang="en-US" sz="1000" dirty="0"/>
          </a:p>
        </p:txBody>
      </p:sp>
      <p:sp>
        <p:nvSpPr>
          <p:cNvPr id="20" name="Shape 18"/>
          <p:cNvSpPr/>
          <p:nvPr/>
        </p:nvSpPr>
        <p:spPr>
          <a:xfrm>
            <a:off x="5541264" y="1325880"/>
            <a:ext cx="1572768" cy="2377440"/>
          </a:xfrm>
          <a:prstGeom prst="rect">
            <a:avLst/>
          </a:prstGeom>
          <a:solidFill>
            <a:srgbClr val="DEEBF7"/>
          </a:solidFill>
          <a:ln/>
        </p:spPr>
        <p:txBody>
          <a:bodyPr/>
          <a:lstStyle/>
          <a:p>
            <a:endParaRPr lang="zh-TW" altLang="en-US"/>
          </a:p>
        </p:txBody>
      </p:sp>
      <p:sp>
        <p:nvSpPr>
          <p:cNvPr id="21" name="Shape 19"/>
          <p:cNvSpPr/>
          <p:nvPr/>
        </p:nvSpPr>
        <p:spPr>
          <a:xfrm>
            <a:off x="6089904" y="1481328"/>
            <a:ext cx="457200" cy="457200"/>
          </a:xfrm>
          <a:prstGeom prst="ellipse">
            <a:avLst/>
          </a:prstGeom>
          <a:solidFill>
            <a:srgbClr val="1F4E79"/>
          </a:solidFill>
          <a:ln/>
        </p:spPr>
        <p:txBody>
          <a:bodyPr/>
          <a:lstStyle/>
          <a:p>
            <a:endParaRPr lang="zh-TW" altLang="en-US"/>
          </a:p>
        </p:txBody>
      </p:sp>
      <p:sp>
        <p:nvSpPr>
          <p:cNvPr id="22" name="Text 20"/>
          <p:cNvSpPr/>
          <p:nvPr/>
        </p:nvSpPr>
        <p:spPr>
          <a:xfrm>
            <a:off x="6089904" y="1470355"/>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Microsoft JhengHei" pitchFamily="34" charset="0"/>
                <a:ea typeface="Microsoft JhengHei" pitchFamily="34" charset="-122"/>
                <a:cs typeface="Microsoft JhengHei" pitchFamily="34" charset="-120"/>
              </a:rPr>
              <a:t>4</a:t>
            </a:r>
            <a:endParaRPr lang="en-US" sz="1800" dirty="0"/>
          </a:p>
        </p:txBody>
      </p:sp>
      <p:sp>
        <p:nvSpPr>
          <p:cNvPr id="23" name="Text 21"/>
          <p:cNvSpPr/>
          <p:nvPr/>
        </p:nvSpPr>
        <p:spPr>
          <a:xfrm>
            <a:off x="5650992" y="2057400"/>
            <a:ext cx="1371600" cy="1554480"/>
          </a:xfrm>
          <a:prstGeom prst="rect">
            <a:avLst/>
          </a:prstGeom>
          <a:noFill/>
          <a:ln/>
        </p:spPr>
        <p:txBody>
          <a:bodyPr wrap="square" lIns="0" tIns="0" rIns="0" bIns="0" rtlCol="0" anchor="ctr"/>
          <a:lstStyle/>
          <a:p>
            <a:pPr marL="0" indent="0" algn="ctr">
              <a:lnSpc>
                <a:spcPct val="110000"/>
              </a:lnSpc>
              <a:buNone/>
            </a:pPr>
            <a:r>
              <a:rPr lang="en-US" sz="1500" b="1" dirty="0">
                <a:solidFill>
                  <a:srgbClr val="1F4E79"/>
                </a:solidFill>
                <a:latin typeface="Microsoft JhengHei" pitchFamily="34" charset="0"/>
                <a:ea typeface="Microsoft JhengHei" pitchFamily="34" charset="-122"/>
                <a:cs typeface="Microsoft JhengHei" pitchFamily="34" charset="-120"/>
              </a:rPr>
              <a:t>考官指引</a:t>
            </a:r>
            <a:endParaRPr lang="en-US" sz="1500" dirty="0"/>
          </a:p>
          <a:p>
            <a:pPr marL="0" indent="0" algn="ctr">
              <a:lnSpc>
                <a:spcPct val="110000"/>
              </a:lnSpc>
              <a:buNone/>
            </a:pPr>
            <a:endParaRPr lang="en-US" sz="1500" dirty="0"/>
          </a:p>
          <a:p>
            <a:pPr marL="0" indent="0" algn="ctr">
              <a:lnSpc>
                <a:spcPct val="110000"/>
              </a:lnSpc>
              <a:buNone/>
            </a:pPr>
            <a:r>
              <a:rPr lang="en-US" sz="1050" dirty="0">
                <a:solidFill>
                  <a:srgbClr val="1F2937"/>
                </a:solidFill>
                <a:latin typeface="Microsoft JhengHei" pitchFamily="34" charset="0"/>
                <a:ea typeface="Microsoft JhengHei" pitchFamily="34" charset="-122"/>
                <a:cs typeface="Microsoft JhengHei" pitchFamily="34" charset="-120"/>
              </a:rPr>
              <a:t>病情摘要＋評分說明＋SP 摘要</a:t>
            </a:r>
            <a:endParaRPr lang="en-US" sz="1500" dirty="0"/>
          </a:p>
        </p:txBody>
      </p:sp>
      <p:sp>
        <p:nvSpPr>
          <p:cNvPr id="24" name="Text 22"/>
          <p:cNvSpPr/>
          <p:nvPr/>
        </p:nvSpPr>
        <p:spPr>
          <a:xfrm>
            <a:off x="5513832" y="3822192"/>
            <a:ext cx="1664208" cy="594360"/>
          </a:xfrm>
          <a:prstGeom prst="rect">
            <a:avLst/>
          </a:prstGeom>
          <a:noFill/>
          <a:ln/>
        </p:spPr>
        <p:txBody>
          <a:bodyPr wrap="square" lIns="0" tIns="0" rIns="0" bIns="0" rtlCol="0" anchor="ctr"/>
          <a:lstStyle/>
          <a:p>
            <a:pPr marL="0" indent="0" algn="ctr">
              <a:buNone/>
            </a:pPr>
            <a:r>
              <a:rPr lang="en-US" sz="1000" dirty="0">
                <a:solidFill>
                  <a:srgbClr val="5B6B7F"/>
                </a:solidFill>
                <a:latin typeface="Microsoft JhengHei" pitchFamily="34" charset="0"/>
                <a:ea typeface="Microsoft JhengHei" pitchFamily="34" charset="-122"/>
                <a:cs typeface="Microsoft JhengHei" pitchFamily="34" charset="-120"/>
              </a:rPr>
              <a:t>讓代打考官也評得一致</a:t>
            </a:r>
            <a:endParaRPr lang="en-US" sz="1000" dirty="0"/>
          </a:p>
        </p:txBody>
      </p:sp>
      <p:sp>
        <p:nvSpPr>
          <p:cNvPr id="25" name="Shape 23"/>
          <p:cNvSpPr/>
          <p:nvPr/>
        </p:nvSpPr>
        <p:spPr>
          <a:xfrm>
            <a:off x="7260336" y="1325880"/>
            <a:ext cx="1572768" cy="2377440"/>
          </a:xfrm>
          <a:prstGeom prst="rect">
            <a:avLst/>
          </a:prstGeom>
          <a:solidFill>
            <a:srgbClr val="DEEBF7"/>
          </a:solidFill>
          <a:ln/>
        </p:spPr>
        <p:txBody>
          <a:bodyPr/>
          <a:lstStyle/>
          <a:p>
            <a:endParaRPr lang="zh-TW" altLang="en-US"/>
          </a:p>
        </p:txBody>
      </p:sp>
      <p:sp>
        <p:nvSpPr>
          <p:cNvPr id="26" name="Shape 24"/>
          <p:cNvSpPr/>
          <p:nvPr/>
        </p:nvSpPr>
        <p:spPr>
          <a:xfrm>
            <a:off x="7808976" y="1481328"/>
            <a:ext cx="457200" cy="457200"/>
          </a:xfrm>
          <a:prstGeom prst="ellipse">
            <a:avLst/>
          </a:prstGeom>
          <a:solidFill>
            <a:srgbClr val="1F4E79"/>
          </a:solidFill>
          <a:ln/>
        </p:spPr>
        <p:txBody>
          <a:bodyPr/>
          <a:lstStyle/>
          <a:p>
            <a:endParaRPr lang="zh-TW" altLang="en-US"/>
          </a:p>
        </p:txBody>
      </p:sp>
      <p:sp>
        <p:nvSpPr>
          <p:cNvPr id="27" name="Text 25"/>
          <p:cNvSpPr/>
          <p:nvPr/>
        </p:nvSpPr>
        <p:spPr>
          <a:xfrm>
            <a:off x="7808976" y="1470355"/>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Microsoft JhengHei" pitchFamily="34" charset="0"/>
                <a:ea typeface="Microsoft JhengHei" pitchFamily="34" charset="-122"/>
                <a:cs typeface="Microsoft JhengHei" pitchFamily="34" charset="-120"/>
              </a:rPr>
              <a:t>5</a:t>
            </a:r>
            <a:endParaRPr lang="en-US" sz="1800" dirty="0"/>
          </a:p>
        </p:txBody>
      </p:sp>
      <p:sp>
        <p:nvSpPr>
          <p:cNvPr id="28" name="Text 26"/>
          <p:cNvSpPr/>
          <p:nvPr/>
        </p:nvSpPr>
        <p:spPr>
          <a:xfrm>
            <a:off x="7370064" y="2057400"/>
            <a:ext cx="1371600" cy="1554480"/>
          </a:xfrm>
          <a:prstGeom prst="rect">
            <a:avLst/>
          </a:prstGeom>
          <a:noFill/>
          <a:ln/>
        </p:spPr>
        <p:txBody>
          <a:bodyPr wrap="square" lIns="0" tIns="0" rIns="0" bIns="0" rtlCol="0" anchor="ctr"/>
          <a:lstStyle/>
          <a:p>
            <a:pPr marL="0" indent="0" algn="ctr">
              <a:lnSpc>
                <a:spcPct val="110000"/>
              </a:lnSpc>
              <a:buNone/>
            </a:pPr>
            <a:r>
              <a:rPr lang="en-US" sz="1500" b="1" dirty="0">
                <a:solidFill>
                  <a:srgbClr val="1F4E79"/>
                </a:solidFill>
                <a:latin typeface="Microsoft JhengHei" pitchFamily="34" charset="0"/>
                <a:ea typeface="Microsoft JhengHei" pitchFamily="34" charset="-122"/>
                <a:cs typeface="Microsoft JhengHei" pitchFamily="34" charset="-120"/>
              </a:rPr>
              <a:t>SP 指引</a:t>
            </a:r>
            <a:endParaRPr lang="en-US" sz="1500" dirty="0"/>
          </a:p>
          <a:p>
            <a:pPr marL="0" indent="0" algn="ctr">
              <a:lnSpc>
                <a:spcPct val="110000"/>
              </a:lnSpc>
              <a:buNone/>
            </a:pPr>
            <a:endParaRPr lang="en-US" sz="1500" dirty="0"/>
          </a:p>
          <a:p>
            <a:pPr marL="0" indent="0" algn="ctr">
              <a:lnSpc>
                <a:spcPct val="110000"/>
              </a:lnSpc>
              <a:buNone/>
            </a:pPr>
            <a:r>
              <a:rPr lang="en-US" sz="1050" dirty="0">
                <a:solidFill>
                  <a:srgbClr val="1F2937"/>
                </a:solidFill>
                <a:latin typeface="Microsoft JhengHei" pitchFamily="34" charset="0"/>
                <a:ea typeface="Microsoft JhengHei" pitchFamily="34" charset="-122"/>
                <a:cs typeface="Microsoft JhengHei" pitchFamily="34" charset="-120"/>
              </a:rPr>
              <a:t>劇本＋三欄對白例句</a:t>
            </a:r>
            <a:endParaRPr lang="en-US" sz="1500" dirty="0"/>
          </a:p>
        </p:txBody>
      </p:sp>
      <p:sp>
        <p:nvSpPr>
          <p:cNvPr id="29" name="Text 27"/>
          <p:cNvSpPr/>
          <p:nvPr/>
        </p:nvSpPr>
        <p:spPr>
          <a:xfrm>
            <a:off x="7232904" y="3822192"/>
            <a:ext cx="1664208" cy="594360"/>
          </a:xfrm>
          <a:prstGeom prst="rect">
            <a:avLst/>
          </a:prstGeom>
          <a:noFill/>
          <a:ln/>
        </p:spPr>
        <p:txBody>
          <a:bodyPr wrap="square" lIns="0" tIns="0" rIns="0" bIns="0" rtlCol="0" anchor="ctr"/>
          <a:lstStyle/>
          <a:p>
            <a:pPr marL="0" indent="0" algn="ctr">
              <a:buNone/>
            </a:pPr>
            <a:r>
              <a:rPr lang="en-US" sz="1000" dirty="0">
                <a:solidFill>
                  <a:srgbClr val="5B6B7F"/>
                </a:solidFill>
                <a:latin typeface="Microsoft JhengHei" pitchFamily="34" charset="0"/>
                <a:ea typeface="Microsoft JhengHei" pitchFamily="34" charset="-122"/>
                <a:cs typeface="Microsoft JhengHei" pitchFamily="34" charset="-120"/>
              </a:rPr>
              <a:t>讓 SP 演得標準</a:t>
            </a:r>
            <a:endParaRPr lang="en-US" sz="1000" dirty="0"/>
          </a:p>
        </p:txBody>
      </p:sp>
      <p:sp>
        <p:nvSpPr>
          <p:cNvPr id="30" name="Text 28"/>
          <p:cNvSpPr/>
          <p:nvPr/>
        </p:nvSpPr>
        <p:spPr>
          <a:xfrm>
            <a:off x="502920" y="4526280"/>
            <a:ext cx="8138160" cy="365760"/>
          </a:xfrm>
          <a:prstGeom prst="rect">
            <a:avLst/>
          </a:prstGeom>
          <a:noFill/>
          <a:ln/>
        </p:spPr>
        <p:txBody>
          <a:bodyPr wrap="square" lIns="0" tIns="0" rIns="0" bIns="0" rtlCol="0" anchor="ctr"/>
          <a:lstStyle/>
          <a:p>
            <a:pPr marL="0" indent="0" algn="ctr">
              <a:buNone/>
            </a:pPr>
            <a:r>
              <a:rPr lang="en-US" sz="1350" b="1" dirty="0">
                <a:solidFill>
                  <a:srgbClr val="2E75B6"/>
                </a:solidFill>
                <a:latin typeface="Microsoft JhengHei" pitchFamily="34" charset="0"/>
                <a:ea typeface="Microsoft JhengHei" pitchFamily="34" charset="-122"/>
                <a:cs typeface="Microsoft JhengHei" pitchFamily="34" charset="-120"/>
              </a:rPr>
              <a:t>出題從「評分表」出發：先想清楚要評什麼，其餘四部分為它服務</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641080" y="4828032"/>
            <a:ext cx="365760" cy="274320"/>
          </a:xfrm>
          <a:prstGeom prst="rect">
            <a:avLst/>
          </a:prstGeom>
          <a:noFill/>
          <a:ln/>
        </p:spPr>
        <p:txBody>
          <a:bodyPr wrap="square" lIns="0" tIns="0" rIns="0" bIns="0" rtlCol="0" anchor="ctr"/>
          <a:lstStyle/>
          <a:p>
            <a:pPr marL="0" indent="0" algn="r">
              <a:buNone/>
            </a:pPr>
            <a:r>
              <a:rPr lang="en-US" sz="1000" dirty="0">
                <a:solidFill>
                  <a:srgbClr val="5B6B7F"/>
                </a:solidFill>
                <a:latin typeface="Microsoft JhengHei" pitchFamily="34" charset="0"/>
                <a:ea typeface="Microsoft JhengHei" pitchFamily="34" charset="-122"/>
                <a:cs typeface="Microsoft JhengHei" pitchFamily="34" charset="-120"/>
              </a:rPr>
              <a:t>10</a:t>
            </a:r>
            <a:endParaRPr lang="en-US" sz="1000" dirty="0"/>
          </a:p>
        </p:txBody>
      </p:sp>
      <p:sp>
        <p:nvSpPr>
          <p:cNvPr id="3" name="Text 1"/>
          <p:cNvSpPr/>
          <p:nvPr/>
        </p:nvSpPr>
        <p:spPr>
          <a:xfrm>
            <a:off x="502920" y="201168"/>
            <a:ext cx="8046720" cy="274320"/>
          </a:xfrm>
          <a:prstGeom prst="rect">
            <a:avLst/>
          </a:prstGeom>
          <a:noFill/>
          <a:ln/>
        </p:spPr>
        <p:txBody>
          <a:bodyPr wrap="square" lIns="0" tIns="0" rIns="0" bIns="0" rtlCol="0" anchor="ctr"/>
          <a:lstStyle/>
          <a:p>
            <a:pPr marL="0" indent="0">
              <a:buNone/>
            </a:pPr>
            <a:r>
              <a:rPr lang="en-US" sz="1200" b="1" kern="0" spc="200" dirty="0">
                <a:solidFill>
                  <a:srgbClr val="2E75B6"/>
                </a:solidFill>
                <a:latin typeface="Microsoft JhengHei" pitchFamily="34" charset="0"/>
                <a:ea typeface="Microsoft JhengHei" pitchFamily="34" charset="-122"/>
                <a:cs typeface="Microsoft JhengHei" pitchFamily="34" charset="-120"/>
              </a:rPr>
              <a:t>PART 1–2</a:t>
            </a:r>
            <a:endParaRPr lang="en-US" sz="1200" dirty="0"/>
          </a:p>
        </p:txBody>
      </p:sp>
      <p:sp>
        <p:nvSpPr>
          <p:cNvPr id="4" name="Text 2"/>
          <p:cNvSpPr/>
          <p:nvPr/>
        </p:nvSpPr>
        <p:spPr>
          <a:xfrm>
            <a:off x="502920" y="457200"/>
            <a:ext cx="8138160" cy="566928"/>
          </a:xfrm>
          <a:prstGeom prst="rect">
            <a:avLst/>
          </a:prstGeom>
          <a:noFill/>
          <a:ln/>
        </p:spPr>
        <p:txBody>
          <a:bodyPr wrap="square" lIns="0" tIns="0" rIns="0" bIns="0" rtlCol="0" anchor="ctr"/>
          <a:lstStyle/>
          <a:p>
            <a:pPr marL="0" indent="0">
              <a:buNone/>
            </a:pPr>
            <a:r>
              <a:rPr lang="en-US" sz="2700" b="1" dirty="0">
                <a:solidFill>
                  <a:srgbClr val="1F4E79"/>
                </a:solidFill>
                <a:latin typeface="Microsoft JhengHei" pitchFamily="34" charset="0"/>
                <a:ea typeface="Microsoft JhengHei" pitchFamily="34" charset="-122"/>
                <a:cs typeface="Microsoft JhengHei" pitchFamily="34" charset="-120"/>
              </a:rPr>
              <a:t>告示牌與考生指引</a:t>
            </a:r>
            <a:endParaRPr lang="en-US" sz="2700" dirty="0"/>
          </a:p>
        </p:txBody>
      </p:sp>
      <p:sp>
        <p:nvSpPr>
          <p:cNvPr id="5" name="Shape 3"/>
          <p:cNvSpPr/>
          <p:nvPr/>
        </p:nvSpPr>
        <p:spPr>
          <a:xfrm>
            <a:off x="502920" y="1188720"/>
            <a:ext cx="3931920" cy="3429000"/>
          </a:xfrm>
          <a:prstGeom prst="rect">
            <a:avLst/>
          </a:prstGeom>
          <a:solidFill>
            <a:srgbClr val="DEEBF7"/>
          </a:solidFill>
          <a:ln/>
        </p:spPr>
        <p:txBody>
          <a:bodyPr/>
          <a:lstStyle/>
          <a:p>
            <a:endParaRPr lang="zh-TW" altLang="en-US"/>
          </a:p>
        </p:txBody>
      </p:sp>
      <p:sp>
        <p:nvSpPr>
          <p:cNvPr id="6" name="Shape 4"/>
          <p:cNvSpPr/>
          <p:nvPr/>
        </p:nvSpPr>
        <p:spPr>
          <a:xfrm>
            <a:off x="502920" y="1188720"/>
            <a:ext cx="64008" cy="3429000"/>
          </a:xfrm>
          <a:prstGeom prst="rect">
            <a:avLst/>
          </a:prstGeom>
          <a:solidFill>
            <a:srgbClr val="2E75B6"/>
          </a:solidFill>
          <a:ln/>
        </p:spPr>
        <p:txBody>
          <a:bodyPr/>
          <a:lstStyle/>
          <a:p>
            <a:endParaRPr lang="zh-TW" altLang="en-US"/>
          </a:p>
        </p:txBody>
      </p:sp>
      <p:sp>
        <p:nvSpPr>
          <p:cNvPr id="7" name="Text 5"/>
          <p:cNvSpPr/>
          <p:nvPr/>
        </p:nvSpPr>
        <p:spPr>
          <a:xfrm>
            <a:off x="731520" y="1325880"/>
            <a:ext cx="3474720" cy="320040"/>
          </a:xfrm>
          <a:prstGeom prst="rect">
            <a:avLst/>
          </a:prstGeom>
          <a:noFill/>
          <a:ln/>
        </p:spPr>
        <p:txBody>
          <a:bodyPr wrap="square" lIns="0" tIns="0" rIns="0" bIns="0" rtlCol="0" anchor="ctr"/>
          <a:lstStyle/>
          <a:p>
            <a:pPr marL="0" indent="0">
              <a:buNone/>
            </a:pPr>
            <a:r>
              <a:rPr lang="en-US" sz="1600" b="1" dirty="0">
                <a:solidFill>
                  <a:srgbClr val="1F4E79"/>
                </a:solidFill>
                <a:latin typeface="Microsoft JhengHei" pitchFamily="34" charset="0"/>
                <a:ea typeface="Microsoft JhengHei" pitchFamily="34" charset="-122"/>
                <a:cs typeface="Microsoft JhengHei" pitchFamily="34" charset="-120"/>
              </a:rPr>
              <a:t>一、告示牌</a:t>
            </a:r>
            <a:endParaRPr lang="en-US" sz="1600" dirty="0"/>
          </a:p>
        </p:txBody>
      </p:sp>
      <p:sp>
        <p:nvSpPr>
          <p:cNvPr id="8" name="Shape 6"/>
          <p:cNvSpPr/>
          <p:nvPr/>
        </p:nvSpPr>
        <p:spPr>
          <a:xfrm>
            <a:off x="868680" y="1783080"/>
            <a:ext cx="3200400" cy="1371600"/>
          </a:xfrm>
          <a:prstGeom prst="rect">
            <a:avLst/>
          </a:prstGeom>
          <a:solidFill>
            <a:srgbClr val="FFFFFF"/>
          </a:solidFill>
          <a:ln w="12700">
            <a:solidFill>
              <a:srgbClr val="BDD7EE"/>
            </a:solidFill>
            <a:prstDash val="solid"/>
          </a:ln>
        </p:spPr>
        <p:txBody>
          <a:bodyPr/>
          <a:lstStyle/>
          <a:p>
            <a:endParaRPr lang="zh-TW" altLang="en-US"/>
          </a:p>
        </p:txBody>
      </p:sp>
      <p:sp>
        <p:nvSpPr>
          <p:cNvPr id="9" name="Text 7"/>
          <p:cNvSpPr/>
          <p:nvPr/>
        </p:nvSpPr>
        <p:spPr>
          <a:xfrm>
            <a:off x="868680" y="1783080"/>
            <a:ext cx="3200400" cy="1371600"/>
          </a:xfrm>
          <a:prstGeom prst="rect">
            <a:avLst/>
          </a:prstGeom>
          <a:noFill/>
          <a:ln/>
        </p:spPr>
        <p:txBody>
          <a:bodyPr wrap="square" lIns="0" tIns="0" rIns="0" bIns="0" rtlCol="0" anchor="ctr"/>
          <a:lstStyle/>
          <a:p>
            <a:pPr marL="0" indent="0" algn="ctr">
              <a:lnSpc>
                <a:spcPct val="125000"/>
              </a:lnSpc>
              <a:buNone/>
            </a:pPr>
            <a:r>
              <a:rPr lang="en-US" sz="2400" b="1" dirty="0">
                <a:solidFill>
                  <a:srgbClr val="1F2937"/>
                </a:solidFill>
                <a:latin typeface="Microsoft JhengHei" pitchFamily="34" charset="0"/>
                <a:ea typeface="Microsoft JhengHei" pitchFamily="34" charset="-122"/>
                <a:cs typeface="Microsoft JhengHei" pitchFamily="34" charset="-120"/>
              </a:rPr>
              <a:t>第　站</a:t>
            </a:r>
            <a:endParaRPr lang="en-US" sz="2400" dirty="0"/>
          </a:p>
          <a:p>
            <a:pPr marL="0" indent="0" algn="ctr">
              <a:lnSpc>
                <a:spcPct val="125000"/>
              </a:lnSpc>
              <a:buNone/>
            </a:pPr>
            <a:r>
              <a:rPr lang="en-US" sz="1300" b="1" dirty="0">
                <a:solidFill>
                  <a:srgbClr val="1F2937"/>
                </a:solidFill>
                <a:latin typeface="Microsoft JhengHei" pitchFamily="34" charset="0"/>
                <a:ea typeface="Microsoft JhengHei" pitchFamily="34" charset="-122"/>
                <a:cs typeface="Microsoft JhengHei" pitchFamily="34" charset="-120"/>
              </a:rPr>
              <a:t>55歲男性，腹痛 3 天，急診求治</a:t>
            </a:r>
            <a:endParaRPr lang="en-US" sz="2400" dirty="0"/>
          </a:p>
        </p:txBody>
      </p:sp>
      <p:sp>
        <p:nvSpPr>
          <p:cNvPr id="10" name="Text 8"/>
          <p:cNvSpPr/>
          <p:nvPr/>
        </p:nvSpPr>
        <p:spPr>
          <a:xfrm>
            <a:off x="777240" y="3337560"/>
            <a:ext cx="3429000" cy="1097280"/>
          </a:xfrm>
          <a:prstGeom prst="rect">
            <a:avLst/>
          </a:prstGeom>
          <a:noFill/>
          <a:ln/>
        </p:spPr>
        <p:txBody>
          <a:bodyPr wrap="square" lIns="0" tIns="0" rIns="0" bIns="0" rtlCol="0" anchor="ctr"/>
          <a:lstStyle/>
          <a:p>
            <a:pPr marL="0" indent="0">
              <a:lnSpc>
                <a:spcPct val="115000"/>
              </a:lnSpc>
              <a:buNone/>
            </a:pPr>
            <a:r>
              <a:rPr lang="en-US" sz="1250" dirty="0">
                <a:solidFill>
                  <a:srgbClr val="1F2937"/>
                </a:solidFill>
                <a:latin typeface="Microsoft JhengHei" pitchFamily="34" charset="0"/>
                <a:ea typeface="Microsoft JhengHei" pitchFamily="34" charset="-122"/>
                <a:cs typeface="Microsoft JhengHei" pitchFamily="34" charset="-120"/>
              </a:rPr>
              <a:t>病患資訊一句話、</a:t>
            </a:r>
            <a:r>
              <a:rPr lang="en-US" sz="1250" b="1" dirty="0">
                <a:solidFill>
                  <a:srgbClr val="C00000"/>
                </a:solidFill>
                <a:latin typeface="Microsoft JhengHei" pitchFamily="34" charset="0"/>
                <a:ea typeface="Microsoft JhengHei" pitchFamily="34" charset="-122"/>
                <a:cs typeface="Microsoft JhengHei" pitchFamily="34" charset="-120"/>
              </a:rPr>
              <a:t>不超過 30 個中文字</a:t>
            </a:r>
            <a:r>
              <a:rPr lang="en-US" sz="1250" dirty="0">
                <a:solidFill>
                  <a:srgbClr val="1F2937"/>
                </a:solidFill>
                <a:latin typeface="Microsoft JhengHei" pitchFamily="34" charset="0"/>
                <a:ea typeface="Microsoft JhengHei" pitchFamily="34" charset="-122"/>
                <a:cs typeface="Microsoft JhengHei" pitchFamily="34" charset="-120"/>
              </a:rPr>
              <a:t>：年齡、性別、主訴、場景。不洩漏診斷。</a:t>
            </a:r>
            <a:endParaRPr lang="en-US" sz="1250" dirty="0"/>
          </a:p>
        </p:txBody>
      </p:sp>
      <p:sp>
        <p:nvSpPr>
          <p:cNvPr id="11" name="Shape 9"/>
          <p:cNvSpPr/>
          <p:nvPr/>
        </p:nvSpPr>
        <p:spPr>
          <a:xfrm>
            <a:off x="4709160" y="1188720"/>
            <a:ext cx="3931920" cy="3429000"/>
          </a:xfrm>
          <a:prstGeom prst="rect">
            <a:avLst/>
          </a:prstGeom>
          <a:solidFill>
            <a:srgbClr val="DEEBF7"/>
          </a:solidFill>
          <a:ln/>
        </p:spPr>
        <p:txBody>
          <a:bodyPr/>
          <a:lstStyle/>
          <a:p>
            <a:endParaRPr lang="zh-TW" altLang="en-US"/>
          </a:p>
        </p:txBody>
      </p:sp>
      <p:sp>
        <p:nvSpPr>
          <p:cNvPr id="12" name="Shape 10"/>
          <p:cNvSpPr/>
          <p:nvPr/>
        </p:nvSpPr>
        <p:spPr>
          <a:xfrm>
            <a:off x="4709160" y="1188720"/>
            <a:ext cx="64008" cy="3429000"/>
          </a:xfrm>
          <a:prstGeom prst="rect">
            <a:avLst/>
          </a:prstGeom>
          <a:solidFill>
            <a:srgbClr val="2E75B6"/>
          </a:solidFill>
          <a:ln/>
        </p:spPr>
        <p:txBody>
          <a:bodyPr/>
          <a:lstStyle/>
          <a:p>
            <a:endParaRPr lang="zh-TW" altLang="en-US"/>
          </a:p>
        </p:txBody>
      </p:sp>
      <p:sp>
        <p:nvSpPr>
          <p:cNvPr id="13" name="Text 11"/>
          <p:cNvSpPr/>
          <p:nvPr/>
        </p:nvSpPr>
        <p:spPr>
          <a:xfrm>
            <a:off x="4937760" y="1325880"/>
            <a:ext cx="3474720" cy="320040"/>
          </a:xfrm>
          <a:prstGeom prst="rect">
            <a:avLst/>
          </a:prstGeom>
          <a:noFill/>
          <a:ln/>
        </p:spPr>
        <p:txBody>
          <a:bodyPr wrap="square" lIns="0" tIns="0" rIns="0" bIns="0" rtlCol="0" anchor="ctr"/>
          <a:lstStyle/>
          <a:p>
            <a:pPr marL="0" indent="0">
              <a:buNone/>
            </a:pPr>
            <a:r>
              <a:rPr lang="en-US" sz="1600" b="1" dirty="0">
                <a:solidFill>
                  <a:srgbClr val="1F4E79"/>
                </a:solidFill>
                <a:latin typeface="Microsoft JhengHei" pitchFamily="34" charset="0"/>
                <a:ea typeface="Microsoft JhengHei" pitchFamily="34" charset="-122"/>
                <a:cs typeface="Microsoft JhengHei" pitchFamily="34" charset="-120"/>
              </a:rPr>
              <a:t>二、考生指引</a:t>
            </a:r>
            <a:endParaRPr lang="en-US" sz="1600" dirty="0"/>
          </a:p>
        </p:txBody>
      </p:sp>
      <p:sp>
        <p:nvSpPr>
          <p:cNvPr id="14" name="Text 12"/>
          <p:cNvSpPr/>
          <p:nvPr/>
        </p:nvSpPr>
        <p:spPr>
          <a:xfrm>
            <a:off x="4937760" y="1755648"/>
            <a:ext cx="3520440" cy="2743200"/>
          </a:xfrm>
          <a:prstGeom prst="rect">
            <a:avLst/>
          </a:prstGeom>
          <a:noFill/>
          <a:ln/>
        </p:spPr>
        <p:txBody>
          <a:bodyPr wrap="square" lIns="0" tIns="0" rIns="0" bIns="0" rtlCol="0" anchor="ctr"/>
          <a:lstStyle/>
          <a:p>
            <a:pPr marL="0" indent="0">
              <a:lnSpc>
                <a:spcPct val="130000"/>
              </a:lnSpc>
              <a:buNone/>
            </a:pPr>
            <a:r>
              <a:rPr lang="en-US" sz="1250" dirty="0">
                <a:solidFill>
                  <a:srgbClr val="1F2937"/>
                </a:solidFill>
                <a:latin typeface="Microsoft JhengHei" pitchFamily="34" charset="0"/>
                <a:ea typeface="Microsoft JhengHei" pitchFamily="34" charset="-122"/>
                <a:cs typeface="Microsoft JhengHei" pitchFamily="34" charset="-120"/>
              </a:rPr>
              <a:t>■ 背景資料 ≤30 字（你是誰、在哪裡）</a:t>
            </a:r>
            <a:endParaRPr lang="en-US" sz="1250" dirty="0"/>
          </a:p>
          <a:p>
            <a:pPr marL="0" indent="0">
              <a:lnSpc>
                <a:spcPct val="130000"/>
              </a:lnSpc>
              <a:buNone/>
            </a:pPr>
            <a:r>
              <a:rPr lang="en-US" sz="1250" b="1" dirty="0">
                <a:solidFill>
                  <a:srgbClr val="C00000"/>
                </a:solidFill>
                <a:latin typeface="Microsoft JhengHei" pitchFamily="34" charset="0"/>
                <a:ea typeface="Microsoft JhengHei" pitchFamily="34" charset="-122"/>
                <a:cs typeface="Microsoft JhengHei" pitchFamily="34" charset="-120"/>
              </a:rPr>
              <a:t>■ 測驗主題：恰好 3 個紅色 ●</a:t>
            </a:r>
            <a:endParaRPr lang="en-US" sz="1250" dirty="0"/>
          </a:p>
          <a:p>
            <a:pPr marL="0" indent="0">
              <a:lnSpc>
                <a:spcPct val="130000"/>
              </a:lnSpc>
              <a:buNone/>
            </a:pPr>
            <a:r>
              <a:rPr lang="en-US" sz="1150" dirty="0">
                <a:solidFill>
                  <a:srgbClr val="5B6B7F"/>
                </a:solidFill>
                <a:latin typeface="Microsoft JhengHei" pitchFamily="34" charset="0"/>
                <a:ea typeface="Microsoft JhengHei" pitchFamily="34" charset="-122"/>
                <a:cs typeface="Microsoft JhengHei" pitchFamily="34" charset="-120"/>
              </a:rPr>
              <a:t>　※ 避免事項另以 ※ 標示</a:t>
            </a:r>
            <a:endParaRPr lang="en-US" sz="1250" dirty="0"/>
          </a:p>
          <a:p>
            <a:pPr marL="0" indent="0">
              <a:lnSpc>
                <a:spcPct val="130000"/>
              </a:lnSpc>
              <a:buNone/>
            </a:pPr>
            <a:r>
              <a:rPr lang="en-US" sz="1250" dirty="0">
                <a:solidFill>
                  <a:srgbClr val="1F2937"/>
                </a:solidFill>
                <a:latin typeface="Microsoft JhengHei" pitchFamily="34" charset="0"/>
                <a:ea typeface="Microsoft JhengHei" pitchFamily="34" charset="-122"/>
                <a:cs typeface="Microsoft JhengHei" pitchFamily="34" charset="-120"/>
              </a:rPr>
              <a:t>■ 測驗時間：8 分鐘</a:t>
            </a:r>
            <a:endParaRPr lang="en-US" sz="1250" dirty="0"/>
          </a:p>
          <a:p>
            <a:pPr marL="0" indent="0">
              <a:lnSpc>
                <a:spcPct val="130000"/>
              </a:lnSpc>
              <a:buNone/>
            </a:pPr>
            <a:r>
              <a:rPr lang="en-US" sz="1250" dirty="0">
                <a:solidFill>
                  <a:srgbClr val="1F2937"/>
                </a:solidFill>
                <a:latin typeface="Microsoft JhengHei" pitchFamily="34" charset="0"/>
                <a:ea typeface="Microsoft JhengHei" pitchFamily="34" charset="-122"/>
                <a:cs typeface="Microsoft JhengHei" pitchFamily="34" charset="-120"/>
              </a:rPr>
              <a:t>■ 相關檢查報告表格</a:t>
            </a:r>
            <a:endParaRPr lang="en-US" sz="1250" dirty="0"/>
          </a:p>
          <a:p>
            <a:pPr marL="0" indent="0">
              <a:lnSpc>
                <a:spcPct val="130000"/>
              </a:lnSpc>
              <a:buNone/>
            </a:pPr>
            <a:r>
              <a:rPr lang="en-US" sz="1150" dirty="0">
                <a:solidFill>
                  <a:srgbClr val="5B6B7F"/>
                </a:solidFill>
                <a:latin typeface="Microsoft JhengHei" pitchFamily="34" charset="0"/>
                <a:ea typeface="Microsoft JhengHei" pitchFamily="34" charset="-122"/>
                <a:cs typeface="Microsoft JhengHei" pitchFamily="34" charset="-120"/>
              </a:rPr>
              <a:t>　生命徵象＋症狀摘要；其餘標示「須由考生自行詢問」</a:t>
            </a:r>
            <a:endParaRPr lang="en-US" sz="1250" dirty="0"/>
          </a:p>
          <a:p>
            <a:pPr marL="0" indent="0">
              <a:lnSpc>
                <a:spcPct val="130000"/>
              </a:lnSpc>
              <a:buNone/>
            </a:pPr>
            <a:r>
              <a:rPr lang="en-US" sz="1200" b="1" dirty="0">
                <a:solidFill>
                  <a:srgbClr val="2E75B6"/>
                </a:solidFill>
                <a:latin typeface="Microsoft JhengHei" pitchFamily="34" charset="0"/>
                <a:ea typeface="Microsoft JhengHei" pitchFamily="34" charset="-122"/>
                <a:cs typeface="Microsoft JhengHei" pitchFamily="34" charset="-120"/>
              </a:rPr>
              <a:t>不洩漏評分細節，不重複評分項目用語</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641080" y="4828032"/>
            <a:ext cx="365760" cy="274320"/>
          </a:xfrm>
          <a:prstGeom prst="rect">
            <a:avLst/>
          </a:prstGeom>
          <a:noFill/>
          <a:ln/>
        </p:spPr>
        <p:txBody>
          <a:bodyPr wrap="square" lIns="0" tIns="0" rIns="0" bIns="0" rtlCol="0" anchor="ctr"/>
          <a:lstStyle/>
          <a:p>
            <a:pPr marL="0" indent="0" algn="r">
              <a:buNone/>
            </a:pPr>
            <a:r>
              <a:rPr lang="en-US" sz="1000" dirty="0">
                <a:solidFill>
                  <a:srgbClr val="5B6B7F"/>
                </a:solidFill>
                <a:latin typeface="Microsoft JhengHei" pitchFamily="34" charset="0"/>
                <a:ea typeface="Microsoft JhengHei" pitchFamily="34" charset="-122"/>
                <a:cs typeface="Microsoft JhengHei" pitchFamily="34" charset="-120"/>
              </a:rPr>
              <a:t>11</a:t>
            </a:r>
            <a:endParaRPr lang="en-US" sz="1000" dirty="0"/>
          </a:p>
        </p:txBody>
      </p:sp>
      <p:sp>
        <p:nvSpPr>
          <p:cNvPr id="3" name="Text 1"/>
          <p:cNvSpPr/>
          <p:nvPr/>
        </p:nvSpPr>
        <p:spPr>
          <a:xfrm>
            <a:off x="502920" y="201168"/>
            <a:ext cx="8046720" cy="274320"/>
          </a:xfrm>
          <a:prstGeom prst="rect">
            <a:avLst/>
          </a:prstGeom>
          <a:noFill/>
          <a:ln/>
        </p:spPr>
        <p:txBody>
          <a:bodyPr wrap="square" lIns="0" tIns="0" rIns="0" bIns="0" rtlCol="0" anchor="ctr"/>
          <a:lstStyle/>
          <a:p>
            <a:pPr marL="0" indent="0">
              <a:buNone/>
            </a:pPr>
            <a:r>
              <a:rPr lang="en-US" sz="1200" b="1" kern="0" spc="200" dirty="0">
                <a:solidFill>
                  <a:srgbClr val="2E75B6"/>
                </a:solidFill>
                <a:latin typeface="Microsoft JhengHei" pitchFamily="34" charset="0"/>
                <a:ea typeface="Microsoft JhengHei" pitchFamily="34" charset="-122"/>
                <a:cs typeface="Microsoft JhengHei" pitchFamily="34" charset="-120"/>
              </a:rPr>
              <a:t>PART 3 · CHECKLIST</a:t>
            </a:r>
            <a:endParaRPr lang="en-US" sz="1200" dirty="0"/>
          </a:p>
        </p:txBody>
      </p:sp>
      <p:sp>
        <p:nvSpPr>
          <p:cNvPr id="4" name="Text 2"/>
          <p:cNvSpPr/>
          <p:nvPr/>
        </p:nvSpPr>
        <p:spPr>
          <a:xfrm>
            <a:off x="502920" y="457200"/>
            <a:ext cx="8138160" cy="566928"/>
          </a:xfrm>
          <a:prstGeom prst="rect">
            <a:avLst/>
          </a:prstGeom>
          <a:noFill/>
          <a:ln/>
        </p:spPr>
        <p:txBody>
          <a:bodyPr wrap="square" lIns="0" tIns="0" rIns="0" bIns="0" rtlCol="0" anchor="ctr"/>
          <a:lstStyle/>
          <a:p>
            <a:pPr marL="0" indent="0">
              <a:buNone/>
            </a:pPr>
            <a:r>
              <a:rPr lang="en-US" sz="2700" b="1" dirty="0">
                <a:solidFill>
                  <a:srgbClr val="1F4E79"/>
                </a:solidFill>
                <a:latin typeface="Microsoft JhengHei" pitchFamily="34" charset="0"/>
                <a:ea typeface="Microsoft JhengHei" pitchFamily="34" charset="-122"/>
                <a:cs typeface="Microsoft JhengHei" pitchFamily="34" charset="-120"/>
              </a:rPr>
              <a:t>評分表：先記住這七個數字</a:t>
            </a:r>
            <a:endParaRPr lang="en-US" sz="2700" dirty="0"/>
          </a:p>
        </p:txBody>
      </p:sp>
      <p:sp>
        <p:nvSpPr>
          <p:cNvPr id="5" name="Shape 3"/>
          <p:cNvSpPr/>
          <p:nvPr/>
        </p:nvSpPr>
        <p:spPr>
          <a:xfrm>
            <a:off x="411480" y="1234440"/>
            <a:ext cx="1938528" cy="1508760"/>
          </a:xfrm>
          <a:prstGeom prst="rect">
            <a:avLst/>
          </a:prstGeom>
          <a:solidFill>
            <a:srgbClr val="DEEBF7"/>
          </a:solidFill>
          <a:ln/>
        </p:spPr>
        <p:txBody>
          <a:bodyPr/>
          <a:lstStyle/>
          <a:p>
            <a:endParaRPr lang="zh-TW" altLang="en-US"/>
          </a:p>
        </p:txBody>
      </p:sp>
      <p:sp>
        <p:nvSpPr>
          <p:cNvPr id="6" name="Text 4"/>
          <p:cNvSpPr/>
          <p:nvPr/>
        </p:nvSpPr>
        <p:spPr>
          <a:xfrm>
            <a:off x="411480" y="1307592"/>
            <a:ext cx="1938528" cy="731520"/>
          </a:xfrm>
          <a:prstGeom prst="rect">
            <a:avLst/>
          </a:prstGeom>
          <a:noFill/>
          <a:ln/>
        </p:spPr>
        <p:txBody>
          <a:bodyPr wrap="square" lIns="0" tIns="0" rIns="0" bIns="0" rtlCol="0" anchor="ctr"/>
          <a:lstStyle/>
          <a:p>
            <a:pPr marL="0" indent="0" algn="ctr">
              <a:buNone/>
            </a:pPr>
            <a:r>
              <a:rPr lang="en-US" sz="3400" b="1" dirty="0">
                <a:solidFill>
                  <a:srgbClr val="2E75B6"/>
                </a:solidFill>
                <a:latin typeface="Microsoft JhengHei" pitchFamily="34" charset="0"/>
                <a:ea typeface="Microsoft JhengHei" pitchFamily="34" charset="-122"/>
                <a:cs typeface="Microsoft JhengHei" pitchFamily="34" charset="-120"/>
              </a:rPr>
              <a:t>15</a:t>
            </a:r>
            <a:endParaRPr lang="en-US" sz="3400" dirty="0"/>
          </a:p>
        </p:txBody>
      </p:sp>
      <p:sp>
        <p:nvSpPr>
          <p:cNvPr id="7" name="Text 5"/>
          <p:cNvSpPr/>
          <p:nvPr/>
        </p:nvSpPr>
        <p:spPr>
          <a:xfrm>
            <a:off x="502920" y="2039112"/>
            <a:ext cx="1755648" cy="658368"/>
          </a:xfrm>
          <a:prstGeom prst="rect">
            <a:avLst/>
          </a:prstGeom>
          <a:noFill/>
          <a:ln/>
        </p:spPr>
        <p:txBody>
          <a:bodyPr wrap="square" lIns="0" tIns="0" rIns="0" bIns="0" rtlCol="0" anchor="ctr"/>
          <a:lstStyle/>
          <a:p>
            <a:pPr marL="0" indent="0" algn="ctr">
              <a:lnSpc>
                <a:spcPct val="105000"/>
              </a:lnSpc>
              <a:buNone/>
            </a:pPr>
            <a:r>
              <a:rPr lang="en-US" sz="1050" dirty="0">
                <a:solidFill>
                  <a:srgbClr val="1F2937"/>
                </a:solidFill>
                <a:latin typeface="Microsoft JhengHei" pitchFamily="34" charset="0"/>
                <a:ea typeface="Microsoft JhengHei" pitchFamily="34" charset="-122"/>
                <a:cs typeface="Microsoft JhengHei" pitchFamily="34" charset="-120"/>
              </a:rPr>
              <a:t>評分項目數（國考型；其他 10–15）</a:t>
            </a:r>
            <a:endParaRPr lang="en-US" sz="1050" dirty="0"/>
          </a:p>
        </p:txBody>
      </p:sp>
      <p:sp>
        <p:nvSpPr>
          <p:cNvPr id="8" name="Shape 6"/>
          <p:cNvSpPr/>
          <p:nvPr/>
        </p:nvSpPr>
        <p:spPr>
          <a:xfrm>
            <a:off x="2532888" y="1234440"/>
            <a:ext cx="1938528" cy="1508760"/>
          </a:xfrm>
          <a:prstGeom prst="rect">
            <a:avLst/>
          </a:prstGeom>
          <a:solidFill>
            <a:srgbClr val="DEEBF7"/>
          </a:solidFill>
          <a:ln/>
        </p:spPr>
        <p:txBody>
          <a:bodyPr/>
          <a:lstStyle/>
          <a:p>
            <a:endParaRPr lang="zh-TW" altLang="en-US"/>
          </a:p>
        </p:txBody>
      </p:sp>
      <p:sp>
        <p:nvSpPr>
          <p:cNvPr id="9" name="Text 7"/>
          <p:cNvSpPr/>
          <p:nvPr/>
        </p:nvSpPr>
        <p:spPr>
          <a:xfrm>
            <a:off x="2532888" y="1307592"/>
            <a:ext cx="1938528" cy="731520"/>
          </a:xfrm>
          <a:prstGeom prst="rect">
            <a:avLst/>
          </a:prstGeom>
          <a:noFill/>
          <a:ln/>
        </p:spPr>
        <p:txBody>
          <a:bodyPr wrap="square" lIns="0" tIns="0" rIns="0" bIns="0" rtlCol="0" anchor="ctr"/>
          <a:lstStyle/>
          <a:p>
            <a:pPr marL="0" indent="0" algn="ctr">
              <a:buNone/>
            </a:pPr>
            <a:r>
              <a:rPr lang="en-US" sz="3400" b="1" dirty="0">
                <a:solidFill>
                  <a:srgbClr val="2E75B6"/>
                </a:solidFill>
                <a:latin typeface="Microsoft JhengHei" pitchFamily="34" charset="0"/>
                <a:ea typeface="Microsoft JhengHei" pitchFamily="34" charset="-122"/>
                <a:cs typeface="Microsoft JhengHei" pitchFamily="34" charset="-120"/>
              </a:rPr>
              <a:t>0·1·2</a:t>
            </a:r>
            <a:endParaRPr lang="en-US" sz="3400" dirty="0"/>
          </a:p>
        </p:txBody>
      </p:sp>
      <p:sp>
        <p:nvSpPr>
          <p:cNvPr id="10" name="Text 8"/>
          <p:cNvSpPr/>
          <p:nvPr/>
        </p:nvSpPr>
        <p:spPr>
          <a:xfrm>
            <a:off x="2624328" y="2039112"/>
            <a:ext cx="1755648" cy="658368"/>
          </a:xfrm>
          <a:prstGeom prst="rect">
            <a:avLst/>
          </a:prstGeom>
          <a:noFill/>
          <a:ln/>
        </p:spPr>
        <p:txBody>
          <a:bodyPr wrap="square" lIns="0" tIns="0" rIns="0" bIns="0" rtlCol="0" anchor="ctr"/>
          <a:lstStyle/>
          <a:p>
            <a:pPr marL="0" indent="0" algn="ctr">
              <a:lnSpc>
                <a:spcPct val="105000"/>
              </a:lnSpc>
              <a:buNone/>
            </a:pPr>
            <a:r>
              <a:rPr lang="en-US" sz="1050" dirty="0">
                <a:solidFill>
                  <a:srgbClr val="1F2937"/>
                </a:solidFill>
                <a:latin typeface="Microsoft JhengHei" pitchFamily="34" charset="0"/>
                <a:ea typeface="Microsoft JhengHei" pitchFamily="34" charset="-122"/>
                <a:cs typeface="Microsoft JhengHei" pitchFamily="34" charset="-120"/>
              </a:rPr>
              <a:t>三級評分尺標，主流共識</a:t>
            </a:r>
            <a:endParaRPr lang="en-US" sz="1050" dirty="0"/>
          </a:p>
        </p:txBody>
      </p:sp>
      <p:sp>
        <p:nvSpPr>
          <p:cNvPr id="11" name="Shape 9"/>
          <p:cNvSpPr/>
          <p:nvPr/>
        </p:nvSpPr>
        <p:spPr>
          <a:xfrm>
            <a:off x="4654296" y="1234440"/>
            <a:ext cx="1938528" cy="1508760"/>
          </a:xfrm>
          <a:prstGeom prst="rect">
            <a:avLst/>
          </a:prstGeom>
          <a:solidFill>
            <a:srgbClr val="DEEBF7"/>
          </a:solidFill>
          <a:ln/>
        </p:spPr>
        <p:txBody>
          <a:bodyPr/>
          <a:lstStyle/>
          <a:p>
            <a:endParaRPr lang="zh-TW" altLang="en-US"/>
          </a:p>
        </p:txBody>
      </p:sp>
      <p:sp>
        <p:nvSpPr>
          <p:cNvPr id="12" name="Text 10"/>
          <p:cNvSpPr/>
          <p:nvPr/>
        </p:nvSpPr>
        <p:spPr>
          <a:xfrm>
            <a:off x="4654296" y="1307592"/>
            <a:ext cx="1938528" cy="731520"/>
          </a:xfrm>
          <a:prstGeom prst="rect">
            <a:avLst/>
          </a:prstGeom>
          <a:noFill/>
          <a:ln/>
        </p:spPr>
        <p:txBody>
          <a:bodyPr wrap="square" lIns="0" tIns="0" rIns="0" bIns="0" rtlCol="0" anchor="ctr"/>
          <a:lstStyle/>
          <a:p>
            <a:pPr marL="0" indent="0" algn="ctr">
              <a:buNone/>
            </a:pPr>
            <a:r>
              <a:rPr lang="en-US" sz="3400" b="1" dirty="0">
                <a:solidFill>
                  <a:srgbClr val="2E75B6"/>
                </a:solidFill>
                <a:latin typeface="Microsoft JhengHei" pitchFamily="34" charset="0"/>
                <a:ea typeface="Microsoft JhengHei" pitchFamily="34" charset="-122"/>
                <a:cs typeface="Microsoft JhengHei" pitchFamily="34" charset="-120"/>
              </a:rPr>
              <a:t>30</a:t>
            </a:r>
            <a:endParaRPr lang="en-US" sz="3400" dirty="0"/>
          </a:p>
        </p:txBody>
      </p:sp>
      <p:sp>
        <p:nvSpPr>
          <p:cNvPr id="13" name="Text 11"/>
          <p:cNvSpPr/>
          <p:nvPr/>
        </p:nvSpPr>
        <p:spPr>
          <a:xfrm>
            <a:off x="4745736" y="2039112"/>
            <a:ext cx="1755648" cy="658368"/>
          </a:xfrm>
          <a:prstGeom prst="rect">
            <a:avLst/>
          </a:prstGeom>
          <a:noFill/>
          <a:ln/>
        </p:spPr>
        <p:txBody>
          <a:bodyPr wrap="square" lIns="0" tIns="0" rIns="0" bIns="0" rtlCol="0" anchor="ctr"/>
          <a:lstStyle/>
          <a:p>
            <a:pPr marL="0" indent="0" algn="ctr">
              <a:lnSpc>
                <a:spcPct val="105000"/>
              </a:lnSpc>
              <a:buNone/>
            </a:pPr>
            <a:r>
              <a:rPr lang="en-US" sz="1050" dirty="0">
                <a:solidFill>
                  <a:srgbClr val="1F2937"/>
                </a:solidFill>
                <a:latin typeface="Microsoft JhengHei" pitchFamily="34" charset="0"/>
                <a:ea typeface="Microsoft JhengHei" pitchFamily="34" charset="-122"/>
                <a:cs typeface="Microsoft JhengHei" pitchFamily="34" charset="-120"/>
              </a:rPr>
              <a:t>滿分；另有整體表現 1–5 分</a:t>
            </a:r>
            <a:endParaRPr lang="en-US" sz="1050" dirty="0"/>
          </a:p>
        </p:txBody>
      </p:sp>
      <p:sp>
        <p:nvSpPr>
          <p:cNvPr id="14" name="Shape 12"/>
          <p:cNvSpPr/>
          <p:nvPr/>
        </p:nvSpPr>
        <p:spPr>
          <a:xfrm>
            <a:off x="6775704" y="1234440"/>
            <a:ext cx="1938528" cy="1508760"/>
          </a:xfrm>
          <a:prstGeom prst="rect">
            <a:avLst/>
          </a:prstGeom>
          <a:solidFill>
            <a:srgbClr val="DEEBF7"/>
          </a:solidFill>
          <a:ln/>
        </p:spPr>
        <p:txBody>
          <a:bodyPr/>
          <a:lstStyle/>
          <a:p>
            <a:endParaRPr lang="zh-TW" altLang="en-US"/>
          </a:p>
        </p:txBody>
      </p:sp>
      <p:sp>
        <p:nvSpPr>
          <p:cNvPr id="15" name="Text 13"/>
          <p:cNvSpPr/>
          <p:nvPr/>
        </p:nvSpPr>
        <p:spPr>
          <a:xfrm>
            <a:off x="6775704" y="1307592"/>
            <a:ext cx="1938528" cy="731520"/>
          </a:xfrm>
          <a:prstGeom prst="rect">
            <a:avLst/>
          </a:prstGeom>
          <a:noFill/>
          <a:ln/>
        </p:spPr>
        <p:txBody>
          <a:bodyPr wrap="square" lIns="0" tIns="0" rIns="0" bIns="0" rtlCol="0" anchor="ctr"/>
          <a:lstStyle/>
          <a:p>
            <a:pPr marL="0" indent="0" algn="ctr">
              <a:buNone/>
            </a:pPr>
            <a:r>
              <a:rPr lang="en-US" sz="3400" b="1" dirty="0">
                <a:solidFill>
                  <a:srgbClr val="2E75B6"/>
                </a:solidFill>
                <a:latin typeface="Microsoft JhengHei" pitchFamily="34" charset="0"/>
                <a:ea typeface="Microsoft JhengHei" pitchFamily="34" charset="-122"/>
                <a:cs typeface="Microsoft JhengHei" pitchFamily="34" charset="-120"/>
              </a:rPr>
              <a:t>2–5</a:t>
            </a:r>
            <a:endParaRPr lang="en-US" sz="3400" dirty="0"/>
          </a:p>
        </p:txBody>
      </p:sp>
      <p:sp>
        <p:nvSpPr>
          <p:cNvPr id="16" name="Text 14"/>
          <p:cNvSpPr/>
          <p:nvPr/>
        </p:nvSpPr>
        <p:spPr>
          <a:xfrm>
            <a:off x="6867144" y="2039112"/>
            <a:ext cx="1755648" cy="658368"/>
          </a:xfrm>
          <a:prstGeom prst="rect">
            <a:avLst/>
          </a:prstGeom>
          <a:noFill/>
          <a:ln/>
        </p:spPr>
        <p:txBody>
          <a:bodyPr wrap="square" lIns="0" tIns="0" rIns="0" bIns="0" rtlCol="0" anchor="ctr"/>
          <a:lstStyle/>
          <a:p>
            <a:pPr marL="0" indent="0" algn="ctr">
              <a:lnSpc>
                <a:spcPct val="105000"/>
              </a:lnSpc>
              <a:buNone/>
            </a:pPr>
            <a:r>
              <a:rPr lang="en-US" sz="1050" dirty="0">
                <a:solidFill>
                  <a:srgbClr val="1F2937"/>
                </a:solidFill>
                <a:latin typeface="Microsoft JhengHei" pitchFamily="34" charset="0"/>
                <a:ea typeface="Microsoft JhengHei" pitchFamily="34" charset="-122"/>
                <a:cs typeface="Microsoft JhengHei" pitchFamily="34" charset="-120"/>
              </a:rPr>
              <a:t>高鑑別力（★）項目數</a:t>
            </a:r>
            <a:endParaRPr lang="en-US" sz="1050" dirty="0"/>
          </a:p>
        </p:txBody>
      </p:sp>
      <p:sp>
        <p:nvSpPr>
          <p:cNvPr id="17" name="Shape 15"/>
          <p:cNvSpPr/>
          <p:nvPr/>
        </p:nvSpPr>
        <p:spPr>
          <a:xfrm>
            <a:off x="411480" y="2926080"/>
            <a:ext cx="1938528" cy="1508760"/>
          </a:xfrm>
          <a:prstGeom prst="rect">
            <a:avLst/>
          </a:prstGeom>
          <a:solidFill>
            <a:srgbClr val="DEEBF7"/>
          </a:solidFill>
          <a:ln/>
        </p:spPr>
        <p:txBody>
          <a:bodyPr/>
          <a:lstStyle/>
          <a:p>
            <a:endParaRPr lang="zh-TW" altLang="en-US"/>
          </a:p>
        </p:txBody>
      </p:sp>
      <p:sp>
        <p:nvSpPr>
          <p:cNvPr id="18" name="Text 16"/>
          <p:cNvSpPr/>
          <p:nvPr/>
        </p:nvSpPr>
        <p:spPr>
          <a:xfrm>
            <a:off x="411480" y="2999232"/>
            <a:ext cx="1938528" cy="731520"/>
          </a:xfrm>
          <a:prstGeom prst="rect">
            <a:avLst/>
          </a:prstGeom>
          <a:noFill/>
          <a:ln/>
        </p:spPr>
        <p:txBody>
          <a:bodyPr wrap="square" lIns="0" tIns="0" rIns="0" bIns="0" rtlCol="0" anchor="ctr"/>
          <a:lstStyle/>
          <a:p>
            <a:pPr marL="0" indent="0" algn="ctr">
              <a:buNone/>
            </a:pPr>
            <a:r>
              <a:rPr lang="en-US" sz="3400" b="1" dirty="0">
                <a:solidFill>
                  <a:srgbClr val="2E75B6"/>
                </a:solidFill>
                <a:latin typeface="Microsoft JhengHei" pitchFamily="34" charset="0"/>
                <a:ea typeface="Microsoft JhengHei" pitchFamily="34" charset="-122"/>
                <a:cs typeface="Microsoft JhengHei" pitchFamily="34" charset="-120"/>
              </a:rPr>
              <a:t>≤1</a:t>
            </a:r>
            <a:endParaRPr lang="en-US" sz="3400" dirty="0"/>
          </a:p>
        </p:txBody>
      </p:sp>
      <p:sp>
        <p:nvSpPr>
          <p:cNvPr id="19" name="Text 17"/>
          <p:cNvSpPr/>
          <p:nvPr/>
        </p:nvSpPr>
        <p:spPr>
          <a:xfrm>
            <a:off x="502920" y="3730752"/>
            <a:ext cx="1755648" cy="658368"/>
          </a:xfrm>
          <a:prstGeom prst="rect">
            <a:avLst/>
          </a:prstGeom>
          <a:noFill/>
          <a:ln/>
        </p:spPr>
        <p:txBody>
          <a:bodyPr wrap="square" lIns="0" tIns="0" rIns="0" bIns="0" rtlCol="0" anchor="ctr"/>
          <a:lstStyle/>
          <a:p>
            <a:pPr marL="0" indent="0" algn="ctr">
              <a:lnSpc>
                <a:spcPct val="105000"/>
              </a:lnSpc>
              <a:buNone/>
            </a:pPr>
            <a:r>
              <a:rPr lang="en-US" sz="1050" dirty="0">
                <a:solidFill>
                  <a:srgbClr val="1F2937"/>
                </a:solidFill>
                <a:latin typeface="Microsoft JhengHei" pitchFamily="34" charset="0"/>
                <a:ea typeface="Microsoft JhengHei" pitchFamily="34" charset="-122"/>
                <a:cs typeface="Microsoft JhengHei" pitchFamily="34" charset="-120"/>
              </a:rPr>
              <a:t>共通／通用項目上限</a:t>
            </a:r>
            <a:endParaRPr lang="en-US" sz="1050" dirty="0"/>
          </a:p>
        </p:txBody>
      </p:sp>
      <p:sp>
        <p:nvSpPr>
          <p:cNvPr id="20" name="Shape 18"/>
          <p:cNvSpPr/>
          <p:nvPr/>
        </p:nvSpPr>
        <p:spPr>
          <a:xfrm>
            <a:off x="2532888" y="2926080"/>
            <a:ext cx="1938528" cy="1508760"/>
          </a:xfrm>
          <a:prstGeom prst="rect">
            <a:avLst/>
          </a:prstGeom>
          <a:solidFill>
            <a:srgbClr val="DEEBF7"/>
          </a:solidFill>
          <a:ln/>
        </p:spPr>
        <p:txBody>
          <a:bodyPr/>
          <a:lstStyle/>
          <a:p>
            <a:endParaRPr lang="zh-TW" altLang="en-US"/>
          </a:p>
        </p:txBody>
      </p:sp>
      <p:sp>
        <p:nvSpPr>
          <p:cNvPr id="21" name="Text 19"/>
          <p:cNvSpPr/>
          <p:nvPr/>
        </p:nvSpPr>
        <p:spPr>
          <a:xfrm>
            <a:off x="2532888" y="2999232"/>
            <a:ext cx="1938528" cy="731520"/>
          </a:xfrm>
          <a:prstGeom prst="rect">
            <a:avLst/>
          </a:prstGeom>
          <a:noFill/>
          <a:ln/>
        </p:spPr>
        <p:txBody>
          <a:bodyPr wrap="square" lIns="0" tIns="0" rIns="0" bIns="0" rtlCol="0" anchor="ctr"/>
          <a:lstStyle/>
          <a:p>
            <a:pPr marL="0" indent="0" algn="ctr">
              <a:buNone/>
            </a:pPr>
            <a:r>
              <a:rPr lang="en-US" sz="3400" b="1" dirty="0">
                <a:solidFill>
                  <a:srgbClr val="2E75B6"/>
                </a:solidFill>
                <a:latin typeface="Microsoft JhengHei" pitchFamily="34" charset="0"/>
                <a:ea typeface="Microsoft JhengHei" pitchFamily="34" charset="-122"/>
                <a:cs typeface="Microsoft JhengHei" pitchFamily="34" charset="-120"/>
              </a:rPr>
              <a:t>≥50%</a:t>
            </a:r>
            <a:endParaRPr lang="en-US" sz="3400" dirty="0"/>
          </a:p>
        </p:txBody>
      </p:sp>
      <p:sp>
        <p:nvSpPr>
          <p:cNvPr id="22" name="Text 20"/>
          <p:cNvSpPr/>
          <p:nvPr/>
        </p:nvSpPr>
        <p:spPr>
          <a:xfrm>
            <a:off x="2624328" y="3730752"/>
            <a:ext cx="1755648" cy="658368"/>
          </a:xfrm>
          <a:prstGeom prst="rect">
            <a:avLst/>
          </a:prstGeom>
          <a:noFill/>
          <a:ln/>
        </p:spPr>
        <p:txBody>
          <a:bodyPr wrap="square" lIns="0" tIns="0" rIns="0" bIns="0" rtlCol="0" anchor="ctr"/>
          <a:lstStyle/>
          <a:p>
            <a:pPr marL="0" indent="0" algn="ctr">
              <a:lnSpc>
                <a:spcPct val="105000"/>
              </a:lnSpc>
              <a:buNone/>
            </a:pPr>
            <a:r>
              <a:rPr lang="en-US" sz="1050" dirty="0">
                <a:solidFill>
                  <a:srgbClr val="1F2937"/>
                </a:solidFill>
                <a:latin typeface="Microsoft JhengHei" pitchFamily="34" charset="0"/>
                <a:ea typeface="Microsoft JhengHei" pitchFamily="34" charset="-122"/>
                <a:cs typeface="Microsoft JhengHei" pitchFamily="34" charset="-120"/>
              </a:rPr>
              <a:t>主要評分範圍占比</a:t>
            </a:r>
            <a:endParaRPr lang="en-US" sz="1050" dirty="0"/>
          </a:p>
        </p:txBody>
      </p:sp>
      <p:sp>
        <p:nvSpPr>
          <p:cNvPr id="23" name="Shape 21"/>
          <p:cNvSpPr/>
          <p:nvPr/>
        </p:nvSpPr>
        <p:spPr>
          <a:xfrm>
            <a:off x="4654296" y="2926080"/>
            <a:ext cx="1938528" cy="1508760"/>
          </a:xfrm>
          <a:prstGeom prst="rect">
            <a:avLst/>
          </a:prstGeom>
          <a:solidFill>
            <a:srgbClr val="1F4E79"/>
          </a:solidFill>
          <a:ln/>
        </p:spPr>
        <p:txBody>
          <a:bodyPr/>
          <a:lstStyle/>
          <a:p>
            <a:endParaRPr lang="zh-TW" altLang="en-US"/>
          </a:p>
        </p:txBody>
      </p:sp>
      <p:sp>
        <p:nvSpPr>
          <p:cNvPr id="24" name="Text 22"/>
          <p:cNvSpPr/>
          <p:nvPr/>
        </p:nvSpPr>
        <p:spPr>
          <a:xfrm>
            <a:off x="4654296" y="2999232"/>
            <a:ext cx="1938528" cy="731520"/>
          </a:xfrm>
          <a:prstGeom prst="rect">
            <a:avLst/>
          </a:prstGeom>
          <a:noFill/>
          <a:ln/>
        </p:spPr>
        <p:txBody>
          <a:bodyPr wrap="square" lIns="0" tIns="0" rIns="0" bIns="0" rtlCol="0" anchor="ctr"/>
          <a:lstStyle/>
          <a:p>
            <a:pPr marL="0" indent="0" algn="ctr">
              <a:buNone/>
            </a:pPr>
            <a:r>
              <a:rPr lang="en-US" sz="3400" b="1" dirty="0">
                <a:solidFill>
                  <a:srgbClr val="FFFFFF"/>
                </a:solidFill>
                <a:latin typeface="Microsoft JhengHei" pitchFamily="34" charset="0"/>
                <a:ea typeface="Microsoft JhengHei" pitchFamily="34" charset="-122"/>
                <a:cs typeface="Microsoft JhengHei" pitchFamily="34" charset="-120"/>
              </a:rPr>
              <a:t>≤3</a:t>
            </a:r>
            <a:endParaRPr lang="en-US" sz="3400" dirty="0"/>
          </a:p>
        </p:txBody>
      </p:sp>
      <p:sp>
        <p:nvSpPr>
          <p:cNvPr id="25" name="Text 23"/>
          <p:cNvSpPr/>
          <p:nvPr/>
        </p:nvSpPr>
        <p:spPr>
          <a:xfrm>
            <a:off x="4745736" y="3730752"/>
            <a:ext cx="1755648" cy="658368"/>
          </a:xfrm>
          <a:prstGeom prst="rect">
            <a:avLst/>
          </a:prstGeom>
          <a:noFill/>
          <a:ln/>
        </p:spPr>
        <p:txBody>
          <a:bodyPr wrap="square" lIns="0" tIns="0" rIns="0" bIns="0" rtlCol="0" anchor="ctr"/>
          <a:lstStyle/>
          <a:p>
            <a:pPr marL="0" indent="0" algn="ctr">
              <a:lnSpc>
                <a:spcPct val="105000"/>
              </a:lnSpc>
              <a:buNone/>
            </a:pPr>
            <a:r>
              <a:rPr lang="en-US" sz="1050" dirty="0">
                <a:solidFill>
                  <a:srgbClr val="BDD7EE"/>
                </a:solidFill>
                <a:latin typeface="Microsoft JhengHei" pitchFamily="34" charset="0"/>
                <a:ea typeface="Microsoft JhengHei" pitchFamily="34" charset="-122"/>
                <a:cs typeface="Microsoft JhengHei" pitchFamily="34" charset="-120"/>
              </a:rPr>
              <a:t>每項的子項目上限——別問太多</a:t>
            </a:r>
            <a:endParaRPr lang="en-US" sz="1050" dirty="0"/>
          </a:p>
        </p:txBody>
      </p:sp>
      <p:sp>
        <p:nvSpPr>
          <p:cNvPr id="26" name="Text 24"/>
          <p:cNvSpPr/>
          <p:nvPr/>
        </p:nvSpPr>
        <p:spPr>
          <a:xfrm>
            <a:off x="2606040" y="3383280"/>
            <a:ext cx="6035040" cy="1005840"/>
          </a:xfrm>
          <a:prstGeom prst="rect">
            <a:avLst/>
          </a:prstGeom>
          <a:noFill/>
          <a:ln/>
        </p:spPr>
        <p:txBody>
          <a:bodyPr wrap="square" lIns="0" tIns="0" rIns="0" bIns="0" rtlCol="0" anchor="ctr"/>
          <a:lstStyle/>
          <a:p>
            <a:pPr marL="0" indent="0">
              <a:buNone/>
            </a:pPr>
            <a:r>
              <a:rPr lang="en-US" sz="1350" b="1" dirty="0">
                <a:solidFill>
                  <a:srgbClr val="1F4E79"/>
                </a:solidFill>
                <a:latin typeface="Microsoft JhengHei" pitchFamily="34" charset="0"/>
                <a:ea typeface="Microsoft JhengHei" pitchFamily="34" charset="-122"/>
                <a:cs typeface="Microsoft JhengHei" pitchFamily="34" charset="-120"/>
              </a:rPr>
              <a:t>＋每項描述「可觀察的具體行為」；同一行為不重複給分；不需隱性推論</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641080" y="4828032"/>
            <a:ext cx="365760" cy="274320"/>
          </a:xfrm>
          <a:prstGeom prst="rect">
            <a:avLst/>
          </a:prstGeom>
          <a:noFill/>
          <a:ln/>
        </p:spPr>
        <p:txBody>
          <a:bodyPr wrap="square" lIns="0" tIns="0" rIns="0" bIns="0" rtlCol="0" anchor="ctr"/>
          <a:lstStyle/>
          <a:p>
            <a:pPr marL="0" indent="0" algn="r">
              <a:buNone/>
            </a:pPr>
            <a:r>
              <a:rPr lang="en-US" sz="1000" dirty="0">
                <a:solidFill>
                  <a:srgbClr val="5B6B7F"/>
                </a:solidFill>
                <a:latin typeface="Microsoft JhengHei" pitchFamily="34" charset="0"/>
                <a:ea typeface="Microsoft JhengHei" pitchFamily="34" charset="-122"/>
                <a:cs typeface="Microsoft JhengHei" pitchFamily="34" charset="-120"/>
              </a:rPr>
              <a:t>12</a:t>
            </a:r>
            <a:endParaRPr lang="en-US" sz="1000" dirty="0"/>
          </a:p>
        </p:txBody>
      </p:sp>
      <p:sp>
        <p:nvSpPr>
          <p:cNvPr id="3" name="Text 1"/>
          <p:cNvSpPr/>
          <p:nvPr/>
        </p:nvSpPr>
        <p:spPr>
          <a:xfrm>
            <a:off x="502920" y="201168"/>
            <a:ext cx="8046720" cy="274320"/>
          </a:xfrm>
          <a:prstGeom prst="rect">
            <a:avLst/>
          </a:prstGeom>
          <a:noFill/>
          <a:ln/>
        </p:spPr>
        <p:txBody>
          <a:bodyPr wrap="square" lIns="0" tIns="0" rIns="0" bIns="0" rtlCol="0" anchor="ctr"/>
          <a:lstStyle/>
          <a:p>
            <a:pPr marL="0" indent="0">
              <a:buNone/>
            </a:pPr>
            <a:r>
              <a:rPr lang="en-US" sz="1200" b="1" kern="0" spc="200" dirty="0">
                <a:solidFill>
                  <a:srgbClr val="2E75B6"/>
                </a:solidFill>
                <a:latin typeface="Microsoft JhengHei" pitchFamily="34" charset="0"/>
                <a:ea typeface="Microsoft JhengHei" pitchFamily="34" charset="-122"/>
                <a:cs typeface="Microsoft JhengHei" pitchFamily="34" charset="-120"/>
              </a:rPr>
              <a:t>PITFALLS</a:t>
            </a:r>
            <a:endParaRPr lang="en-US" sz="1200" dirty="0"/>
          </a:p>
        </p:txBody>
      </p:sp>
      <p:sp>
        <p:nvSpPr>
          <p:cNvPr id="4" name="Text 2"/>
          <p:cNvSpPr/>
          <p:nvPr/>
        </p:nvSpPr>
        <p:spPr>
          <a:xfrm>
            <a:off x="502920" y="457200"/>
            <a:ext cx="8138160" cy="566928"/>
          </a:xfrm>
          <a:prstGeom prst="rect">
            <a:avLst/>
          </a:prstGeom>
          <a:noFill/>
          <a:ln/>
        </p:spPr>
        <p:txBody>
          <a:bodyPr wrap="square" lIns="0" tIns="0" rIns="0" bIns="0" rtlCol="0" anchor="ctr"/>
          <a:lstStyle/>
          <a:p>
            <a:pPr marL="0" indent="0">
              <a:buNone/>
            </a:pPr>
            <a:r>
              <a:rPr lang="en-US" sz="2700" b="1" dirty="0">
                <a:solidFill>
                  <a:srgbClr val="1F4E79"/>
                </a:solidFill>
                <a:latin typeface="Microsoft JhengHei" pitchFamily="34" charset="0"/>
                <a:ea typeface="Microsoft JhengHei" pitchFamily="34" charset="-122"/>
                <a:cs typeface="Microsoft JhengHei" pitchFamily="34" charset="-120"/>
              </a:rPr>
              <a:t>評分項目四大常見錯誤</a:t>
            </a:r>
            <a:endParaRPr lang="en-US" sz="2700" dirty="0"/>
          </a:p>
        </p:txBody>
      </p:sp>
      <p:sp>
        <p:nvSpPr>
          <p:cNvPr id="5" name="Shape 3"/>
          <p:cNvSpPr/>
          <p:nvPr/>
        </p:nvSpPr>
        <p:spPr>
          <a:xfrm>
            <a:off x="502920" y="1143000"/>
            <a:ext cx="8138160" cy="822960"/>
          </a:xfrm>
          <a:prstGeom prst="rect">
            <a:avLst/>
          </a:prstGeom>
          <a:solidFill>
            <a:srgbClr val="DEEBF7"/>
          </a:solidFill>
          <a:ln/>
        </p:spPr>
        <p:txBody>
          <a:bodyPr/>
          <a:lstStyle/>
          <a:p>
            <a:endParaRPr lang="zh-TW" altLang="en-US"/>
          </a:p>
        </p:txBody>
      </p:sp>
      <p:sp>
        <p:nvSpPr>
          <p:cNvPr id="6" name="Shape 4"/>
          <p:cNvSpPr/>
          <p:nvPr/>
        </p:nvSpPr>
        <p:spPr>
          <a:xfrm>
            <a:off x="502920" y="1143000"/>
            <a:ext cx="64008" cy="822960"/>
          </a:xfrm>
          <a:prstGeom prst="rect">
            <a:avLst/>
          </a:prstGeom>
          <a:solidFill>
            <a:srgbClr val="2E75B6"/>
          </a:solidFill>
          <a:ln/>
        </p:spPr>
        <p:txBody>
          <a:bodyPr/>
          <a:lstStyle/>
          <a:p>
            <a:endParaRPr lang="zh-TW" altLang="en-US"/>
          </a:p>
        </p:txBody>
      </p:sp>
      <p:sp>
        <p:nvSpPr>
          <p:cNvPr id="7" name="Text 5"/>
          <p:cNvSpPr/>
          <p:nvPr/>
        </p:nvSpPr>
        <p:spPr>
          <a:xfrm>
            <a:off x="713232" y="1143000"/>
            <a:ext cx="1783080" cy="822960"/>
          </a:xfrm>
          <a:prstGeom prst="rect">
            <a:avLst/>
          </a:prstGeom>
          <a:noFill/>
          <a:ln/>
        </p:spPr>
        <p:txBody>
          <a:bodyPr wrap="square" lIns="0" tIns="0" rIns="0" bIns="0" rtlCol="0" anchor="ctr"/>
          <a:lstStyle/>
          <a:p>
            <a:pPr marL="0" indent="0">
              <a:buNone/>
            </a:pPr>
            <a:r>
              <a:rPr lang="en-US" sz="1350" b="1" dirty="0">
                <a:solidFill>
                  <a:srgbClr val="1F4E79"/>
                </a:solidFill>
                <a:latin typeface="Microsoft JhengHei" pitchFamily="34" charset="0"/>
                <a:ea typeface="Microsoft JhengHei" pitchFamily="34" charset="-122"/>
                <a:cs typeface="Microsoft JhengHei" pitchFamily="34" charset="-120"/>
              </a:rPr>
              <a:t>複數目標行為</a:t>
            </a:r>
            <a:endParaRPr lang="en-US" sz="1350" dirty="0"/>
          </a:p>
        </p:txBody>
      </p:sp>
      <p:sp>
        <p:nvSpPr>
          <p:cNvPr id="8" name="Text 6"/>
          <p:cNvSpPr/>
          <p:nvPr/>
        </p:nvSpPr>
        <p:spPr>
          <a:xfrm>
            <a:off x="2606040" y="1197864"/>
            <a:ext cx="5897880" cy="731520"/>
          </a:xfrm>
          <a:prstGeom prst="rect">
            <a:avLst/>
          </a:prstGeom>
          <a:noFill/>
          <a:ln/>
        </p:spPr>
        <p:txBody>
          <a:bodyPr wrap="square" lIns="0" tIns="0" rIns="0" bIns="0" rtlCol="0" anchor="ctr"/>
          <a:lstStyle/>
          <a:p>
            <a:pPr marL="0" indent="0">
              <a:lnSpc>
                <a:spcPct val="115000"/>
              </a:lnSpc>
              <a:buNone/>
            </a:pPr>
            <a:r>
              <a:rPr lang="en-US" sz="1150" dirty="0">
                <a:solidFill>
                  <a:srgbClr val="C00000"/>
                </a:solidFill>
                <a:latin typeface="Microsoft JhengHei" pitchFamily="34" charset="0"/>
                <a:ea typeface="Microsoft JhengHei" pitchFamily="34" charset="-122"/>
                <a:cs typeface="Microsoft JhengHei" pitchFamily="34" charset="-120"/>
              </a:rPr>
              <a:t>✗「展現同理心並說明將進行之檢查」→ 部份做到，是哪個沒做到？</a:t>
            </a:r>
            <a:endParaRPr lang="en-US" sz="1150" dirty="0"/>
          </a:p>
          <a:p>
            <a:pPr marL="0" indent="0">
              <a:lnSpc>
                <a:spcPct val="115000"/>
              </a:lnSpc>
              <a:buNone/>
            </a:pPr>
            <a:r>
              <a:rPr lang="en-US" sz="1150" b="1" dirty="0">
                <a:solidFill>
                  <a:srgbClr val="1E7145"/>
                </a:solidFill>
                <a:latin typeface="Microsoft JhengHei" pitchFamily="34" charset="0"/>
                <a:ea typeface="Microsoft JhengHei" pitchFamily="34" charset="-122"/>
                <a:cs typeface="Microsoft JhengHei" pitchFamily="34" charset="-120"/>
              </a:rPr>
              <a:t>✓ 一項一目標；子項目 ≤3 個</a:t>
            </a:r>
            <a:endParaRPr lang="en-US" sz="1150" dirty="0"/>
          </a:p>
        </p:txBody>
      </p:sp>
      <p:sp>
        <p:nvSpPr>
          <p:cNvPr id="9" name="Shape 7"/>
          <p:cNvSpPr/>
          <p:nvPr/>
        </p:nvSpPr>
        <p:spPr>
          <a:xfrm>
            <a:off x="502920" y="2075688"/>
            <a:ext cx="8138160" cy="822960"/>
          </a:xfrm>
          <a:prstGeom prst="rect">
            <a:avLst/>
          </a:prstGeom>
          <a:solidFill>
            <a:srgbClr val="DEEBF7"/>
          </a:solidFill>
          <a:ln/>
        </p:spPr>
        <p:txBody>
          <a:bodyPr/>
          <a:lstStyle/>
          <a:p>
            <a:endParaRPr lang="zh-TW" altLang="en-US"/>
          </a:p>
        </p:txBody>
      </p:sp>
      <p:sp>
        <p:nvSpPr>
          <p:cNvPr id="10" name="Shape 8"/>
          <p:cNvSpPr/>
          <p:nvPr/>
        </p:nvSpPr>
        <p:spPr>
          <a:xfrm>
            <a:off x="502920" y="2075688"/>
            <a:ext cx="64008" cy="822960"/>
          </a:xfrm>
          <a:prstGeom prst="rect">
            <a:avLst/>
          </a:prstGeom>
          <a:solidFill>
            <a:srgbClr val="2E75B6"/>
          </a:solidFill>
          <a:ln/>
        </p:spPr>
        <p:txBody>
          <a:bodyPr/>
          <a:lstStyle/>
          <a:p>
            <a:endParaRPr lang="zh-TW" altLang="en-US"/>
          </a:p>
        </p:txBody>
      </p:sp>
      <p:sp>
        <p:nvSpPr>
          <p:cNvPr id="11" name="Text 9"/>
          <p:cNvSpPr/>
          <p:nvPr/>
        </p:nvSpPr>
        <p:spPr>
          <a:xfrm>
            <a:off x="713232" y="2075688"/>
            <a:ext cx="1783080" cy="822960"/>
          </a:xfrm>
          <a:prstGeom prst="rect">
            <a:avLst/>
          </a:prstGeom>
          <a:noFill/>
          <a:ln/>
        </p:spPr>
        <p:txBody>
          <a:bodyPr wrap="square" lIns="0" tIns="0" rIns="0" bIns="0" rtlCol="0" anchor="ctr"/>
          <a:lstStyle/>
          <a:p>
            <a:pPr marL="0" indent="0">
              <a:buNone/>
            </a:pPr>
            <a:r>
              <a:rPr lang="en-US" sz="1350" b="1" dirty="0">
                <a:solidFill>
                  <a:srgbClr val="1F4E79"/>
                </a:solidFill>
                <a:latin typeface="Microsoft JhengHei" pitchFamily="34" charset="0"/>
                <a:ea typeface="Microsoft JhengHei" pitchFamily="34" charset="-122"/>
                <a:cs typeface="Microsoft JhengHei" pitchFamily="34" charset="-120"/>
              </a:rPr>
              <a:t>只抄 SOP，沒顧可測性</a:t>
            </a:r>
            <a:endParaRPr lang="en-US" sz="1350" dirty="0"/>
          </a:p>
        </p:txBody>
      </p:sp>
      <p:sp>
        <p:nvSpPr>
          <p:cNvPr id="12" name="Text 10"/>
          <p:cNvSpPr/>
          <p:nvPr/>
        </p:nvSpPr>
        <p:spPr>
          <a:xfrm>
            <a:off x="2606040" y="2130552"/>
            <a:ext cx="5897880" cy="731520"/>
          </a:xfrm>
          <a:prstGeom prst="rect">
            <a:avLst/>
          </a:prstGeom>
          <a:noFill/>
          <a:ln/>
        </p:spPr>
        <p:txBody>
          <a:bodyPr wrap="square" lIns="0" tIns="0" rIns="0" bIns="0" rtlCol="0" anchor="ctr"/>
          <a:lstStyle/>
          <a:p>
            <a:pPr marL="0" indent="0">
              <a:lnSpc>
                <a:spcPct val="115000"/>
              </a:lnSpc>
              <a:buNone/>
            </a:pPr>
            <a:r>
              <a:rPr lang="en-US" sz="1150" dirty="0">
                <a:solidFill>
                  <a:srgbClr val="C00000"/>
                </a:solidFill>
                <a:latin typeface="Microsoft JhengHei" pitchFamily="34" charset="0"/>
                <a:ea typeface="Microsoft JhengHei" pitchFamily="34" charset="-122"/>
                <a:cs typeface="Microsoft JhengHei" pitchFamily="34" charset="-120"/>
              </a:rPr>
              <a:t>✗ 量血壓站：考生說 132/78，你能說劇本是 155/93 嗎？</a:t>
            </a:r>
            <a:endParaRPr lang="en-US" sz="1150" dirty="0"/>
          </a:p>
          <a:p>
            <a:pPr marL="0" indent="0">
              <a:lnSpc>
                <a:spcPct val="115000"/>
              </a:lnSpc>
              <a:buNone/>
            </a:pPr>
            <a:r>
              <a:rPr lang="en-US" sz="1150" b="1" dirty="0">
                <a:solidFill>
                  <a:srgbClr val="1E7145"/>
                </a:solidFill>
                <a:latin typeface="Microsoft JhengHei" pitchFamily="34" charset="0"/>
                <a:ea typeface="Microsoft JhengHei" pitchFamily="34" charset="-122"/>
                <a:cs typeface="Microsoft JhengHei" pitchFamily="34" charset="-120"/>
              </a:rPr>
              <a:t>✓ 評「操作正確」這類考官可直接觀察的行為</a:t>
            </a:r>
            <a:endParaRPr lang="en-US" sz="1150" dirty="0"/>
          </a:p>
        </p:txBody>
      </p:sp>
      <p:sp>
        <p:nvSpPr>
          <p:cNvPr id="13" name="Shape 11"/>
          <p:cNvSpPr/>
          <p:nvPr/>
        </p:nvSpPr>
        <p:spPr>
          <a:xfrm>
            <a:off x="502920" y="3008376"/>
            <a:ext cx="8138160" cy="822960"/>
          </a:xfrm>
          <a:prstGeom prst="rect">
            <a:avLst/>
          </a:prstGeom>
          <a:solidFill>
            <a:srgbClr val="DEEBF7"/>
          </a:solidFill>
          <a:ln/>
        </p:spPr>
        <p:txBody>
          <a:bodyPr/>
          <a:lstStyle/>
          <a:p>
            <a:endParaRPr lang="zh-TW" altLang="en-US"/>
          </a:p>
        </p:txBody>
      </p:sp>
      <p:sp>
        <p:nvSpPr>
          <p:cNvPr id="14" name="Shape 12"/>
          <p:cNvSpPr/>
          <p:nvPr/>
        </p:nvSpPr>
        <p:spPr>
          <a:xfrm>
            <a:off x="502920" y="3008376"/>
            <a:ext cx="64008" cy="822960"/>
          </a:xfrm>
          <a:prstGeom prst="rect">
            <a:avLst/>
          </a:prstGeom>
          <a:solidFill>
            <a:srgbClr val="2E75B6"/>
          </a:solidFill>
          <a:ln/>
        </p:spPr>
        <p:txBody>
          <a:bodyPr/>
          <a:lstStyle/>
          <a:p>
            <a:endParaRPr lang="zh-TW" altLang="en-US"/>
          </a:p>
        </p:txBody>
      </p:sp>
      <p:sp>
        <p:nvSpPr>
          <p:cNvPr id="15" name="Text 13"/>
          <p:cNvSpPr/>
          <p:nvPr/>
        </p:nvSpPr>
        <p:spPr>
          <a:xfrm>
            <a:off x="713232" y="3008376"/>
            <a:ext cx="1783080" cy="822960"/>
          </a:xfrm>
          <a:prstGeom prst="rect">
            <a:avLst/>
          </a:prstGeom>
          <a:noFill/>
          <a:ln/>
        </p:spPr>
        <p:txBody>
          <a:bodyPr wrap="square" lIns="0" tIns="0" rIns="0" bIns="0" rtlCol="0" anchor="ctr"/>
          <a:lstStyle/>
          <a:p>
            <a:pPr marL="0" indent="0">
              <a:buNone/>
            </a:pPr>
            <a:r>
              <a:rPr lang="en-US" sz="1350" b="1" dirty="0">
                <a:solidFill>
                  <a:srgbClr val="1F4E79"/>
                </a:solidFill>
                <a:latin typeface="Microsoft JhengHei" pitchFamily="34" charset="0"/>
                <a:ea typeface="Microsoft JhengHei" pitchFamily="34" charset="-122"/>
                <a:cs typeface="Microsoft JhengHei" pitchFamily="34" charset="-120"/>
              </a:rPr>
              <a:t>權重不分</a:t>
            </a:r>
            <a:endParaRPr lang="en-US" sz="1350" dirty="0"/>
          </a:p>
        </p:txBody>
      </p:sp>
      <p:sp>
        <p:nvSpPr>
          <p:cNvPr id="16" name="Text 14"/>
          <p:cNvSpPr/>
          <p:nvPr/>
        </p:nvSpPr>
        <p:spPr>
          <a:xfrm>
            <a:off x="2606040" y="3063240"/>
            <a:ext cx="5897880" cy="731520"/>
          </a:xfrm>
          <a:prstGeom prst="rect">
            <a:avLst/>
          </a:prstGeom>
          <a:noFill/>
          <a:ln/>
        </p:spPr>
        <p:txBody>
          <a:bodyPr wrap="square" lIns="0" tIns="0" rIns="0" bIns="0" rtlCol="0" anchor="ctr"/>
          <a:lstStyle/>
          <a:p>
            <a:pPr marL="0" indent="0">
              <a:lnSpc>
                <a:spcPct val="115000"/>
              </a:lnSpc>
              <a:buNone/>
            </a:pPr>
            <a:r>
              <a:rPr lang="en-US" sz="1150" dirty="0">
                <a:solidFill>
                  <a:srgbClr val="C00000"/>
                </a:solidFill>
                <a:latin typeface="Microsoft JhengHei" pitchFamily="34" charset="0"/>
                <a:ea typeface="Microsoft JhengHei" pitchFamily="34" charset="-122"/>
                <a:cs typeface="Microsoft JhengHei" pitchFamily="34" charset="-120"/>
              </a:rPr>
              <a:t>✗ 自我介紹和 LQQOPERA 在這題一樣重要嗎？</a:t>
            </a:r>
            <a:endParaRPr lang="en-US" sz="1150" dirty="0"/>
          </a:p>
          <a:p>
            <a:pPr marL="0" indent="0">
              <a:lnSpc>
                <a:spcPct val="115000"/>
              </a:lnSpc>
              <a:buNone/>
            </a:pPr>
            <a:r>
              <a:rPr lang="en-US" sz="1150" b="1" dirty="0">
                <a:solidFill>
                  <a:srgbClr val="1E7145"/>
                </a:solidFill>
                <a:latin typeface="Microsoft JhengHei" pitchFamily="34" charset="0"/>
                <a:ea typeface="Microsoft JhengHei" pitchFamily="34" charset="-122"/>
                <a:cs typeface="Microsoft JhengHei" pitchFamily="34" charset="-120"/>
              </a:rPr>
              <a:t>✓ 依重要性配分；高鑑別力項標 ★</a:t>
            </a:r>
            <a:endParaRPr lang="en-US" sz="1150" dirty="0"/>
          </a:p>
        </p:txBody>
      </p:sp>
      <p:sp>
        <p:nvSpPr>
          <p:cNvPr id="17" name="Shape 15"/>
          <p:cNvSpPr/>
          <p:nvPr/>
        </p:nvSpPr>
        <p:spPr>
          <a:xfrm>
            <a:off x="502920" y="3941064"/>
            <a:ext cx="8138160" cy="822960"/>
          </a:xfrm>
          <a:prstGeom prst="rect">
            <a:avLst/>
          </a:prstGeom>
          <a:solidFill>
            <a:srgbClr val="DEEBF7"/>
          </a:solidFill>
          <a:ln/>
        </p:spPr>
        <p:txBody>
          <a:bodyPr/>
          <a:lstStyle/>
          <a:p>
            <a:endParaRPr lang="zh-TW" altLang="en-US"/>
          </a:p>
        </p:txBody>
      </p:sp>
      <p:sp>
        <p:nvSpPr>
          <p:cNvPr id="18" name="Shape 16"/>
          <p:cNvSpPr/>
          <p:nvPr/>
        </p:nvSpPr>
        <p:spPr>
          <a:xfrm>
            <a:off x="502920" y="3941064"/>
            <a:ext cx="64008" cy="822960"/>
          </a:xfrm>
          <a:prstGeom prst="rect">
            <a:avLst/>
          </a:prstGeom>
          <a:solidFill>
            <a:srgbClr val="2E75B6"/>
          </a:solidFill>
          <a:ln/>
        </p:spPr>
        <p:txBody>
          <a:bodyPr/>
          <a:lstStyle/>
          <a:p>
            <a:endParaRPr lang="zh-TW" altLang="en-US"/>
          </a:p>
        </p:txBody>
      </p:sp>
      <p:sp>
        <p:nvSpPr>
          <p:cNvPr id="19" name="Text 17"/>
          <p:cNvSpPr/>
          <p:nvPr/>
        </p:nvSpPr>
        <p:spPr>
          <a:xfrm>
            <a:off x="713232" y="3941064"/>
            <a:ext cx="1783080" cy="822960"/>
          </a:xfrm>
          <a:prstGeom prst="rect">
            <a:avLst/>
          </a:prstGeom>
          <a:noFill/>
          <a:ln/>
        </p:spPr>
        <p:txBody>
          <a:bodyPr wrap="square" lIns="0" tIns="0" rIns="0" bIns="0" rtlCol="0" anchor="ctr"/>
          <a:lstStyle/>
          <a:p>
            <a:pPr marL="0" indent="0">
              <a:buNone/>
            </a:pPr>
            <a:r>
              <a:rPr lang="en-US" sz="1350" b="1" dirty="0">
                <a:solidFill>
                  <a:srgbClr val="1F4E79"/>
                </a:solidFill>
                <a:latin typeface="Microsoft JhengHei" pitchFamily="34" charset="0"/>
                <a:ea typeface="Microsoft JhengHei" pitchFamily="34" charset="-122"/>
                <a:cs typeface="Microsoft JhengHei" pitchFamily="34" charset="-120"/>
              </a:rPr>
              <a:t>抽象描述</a:t>
            </a:r>
            <a:endParaRPr lang="en-US" sz="1350" dirty="0"/>
          </a:p>
        </p:txBody>
      </p:sp>
      <p:sp>
        <p:nvSpPr>
          <p:cNvPr id="20" name="Text 18"/>
          <p:cNvSpPr/>
          <p:nvPr/>
        </p:nvSpPr>
        <p:spPr>
          <a:xfrm>
            <a:off x="2606040" y="3995928"/>
            <a:ext cx="5897880" cy="731520"/>
          </a:xfrm>
          <a:prstGeom prst="rect">
            <a:avLst/>
          </a:prstGeom>
          <a:noFill/>
          <a:ln/>
        </p:spPr>
        <p:txBody>
          <a:bodyPr wrap="square" lIns="0" tIns="0" rIns="0" bIns="0" rtlCol="0" anchor="ctr"/>
          <a:lstStyle/>
          <a:p>
            <a:pPr marL="0" indent="0">
              <a:lnSpc>
                <a:spcPct val="115000"/>
              </a:lnSpc>
              <a:buNone/>
            </a:pPr>
            <a:r>
              <a:rPr lang="en-US" sz="1150" dirty="0">
                <a:solidFill>
                  <a:srgbClr val="C00000"/>
                </a:solidFill>
                <a:latin typeface="Microsoft JhengHei" pitchFamily="34" charset="0"/>
                <a:ea typeface="Microsoft JhengHei" pitchFamily="34" charset="-122"/>
                <a:cs typeface="Microsoft JhengHei" pitchFamily="34" charset="-120"/>
              </a:rPr>
              <a:t>✗「適當地」「表現良好」——3 個以上項目都這樣寫？</a:t>
            </a:r>
            <a:endParaRPr lang="en-US" sz="1150" dirty="0"/>
          </a:p>
          <a:p>
            <a:pPr marL="0" indent="0">
              <a:lnSpc>
                <a:spcPct val="115000"/>
              </a:lnSpc>
              <a:buNone/>
            </a:pPr>
            <a:r>
              <a:rPr lang="en-US" sz="1150" b="1" dirty="0">
                <a:solidFill>
                  <a:srgbClr val="1E7145"/>
                </a:solidFill>
                <a:latin typeface="Microsoft JhengHei" pitchFamily="34" charset="0"/>
                <a:ea typeface="Microsoft JhengHei" pitchFamily="34" charset="-122"/>
                <a:cs typeface="Microsoft JhengHei" pitchFamily="34" charset="-120"/>
              </a:rPr>
              <a:t>✓ 寫成可觀察行為＋明確三級錨點</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641080" y="4828032"/>
            <a:ext cx="365760" cy="274320"/>
          </a:xfrm>
          <a:prstGeom prst="rect">
            <a:avLst/>
          </a:prstGeom>
          <a:noFill/>
          <a:ln/>
        </p:spPr>
        <p:txBody>
          <a:bodyPr wrap="square" lIns="0" tIns="0" rIns="0" bIns="0" rtlCol="0" anchor="ctr"/>
          <a:lstStyle/>
          <a:p>
            <a:pPr marL="0" indent="0" algn="r">
              <a:buNone/>
            </a:pPr>
            <a:r>
              <a:rPr lang="en-US" sz="1000" dirty="0">
                <a:solidFill>
                  <a:srgbClr val="5B6B7F"/>
                </a:solidFill>
                <a:latin typeface="Microsoft JhengHei" pitchFamily="34" charset="0"/>
                <a:ea typeface="Microsoft JhengHei" pitchFamily="34" charset="-122"/>
                <a:cs typeface="Microsoft JhengHei" pitchFamily="34" charset="-120"/>
              </a:rPr>
              <a:t>13</a:t>
            </a:r>
            <a:endParaRPr lang="en-US" sz="1000" dirty="0"/>
          </a:p>
        </p:txBody>
      </p:sp>
      <p:sp>
        <p:nvSpPr>
          <p:cNvPr id="3" name="Text 1"/>
          <p:cNvSpPr/>
          <p:nvPr/>
        </p:nvSpPr>
        <p:spPr>
          <a:xfrm>
            <a:off x="502920" y="201168"/>
            <a:ext cx="8046720" cy="274320"/>
          </a:xfrm>
          <a:prstGeom prst="rect">
            <a:avLst/>
          </a:prstGeom>
          <a:noFill/>
          <a:ln/>
        </p:spPr>
        <p:txBody>
          <a:bodyPr wrap="square" lIns="0" tIns="0" rIns="0" bIns="0" rtlCol="0" anchor="ctr"/>
          <a:lstStyle/>
          <a:p>
            <a:pPr marL="0" indent="0">
              <a:buNone/>
            </a:pPr>
            <a:r>
              <a:rPr lang="en-US" sz="1200" b="1" kern="0" spc="200" dirty="0">
                <a:solidFill>
                  <a:srgbClr val="2E75B6"/>
                </a:solidFill>
                <a:latin typeface="Microsoft JhengHei" pitchFamily="34" charset="0"/>
                <a:ea typeface="Microsoft JhengHei" pitchFamily="34" charset="-122"/>
                <a:cs typeface="Microsoft JhengHei" pitchFamily="34" charset="-120"/>
              </a:rPr>
              <a:t>RUBRIC</a:t>
            </a:r>
            <a:endParaRPr lang="en-US" sz="1200" dirty="0"/>
          </a:p>
        </p:txBody>
      </p:sp>
      <p:sp>
        <p:nvSpPr>
          <p:cNvPr id="4" name="Text 2"/>
          <p:cNvSpPr/>
          <p:nvPr/>
        </p:nvSpPr>
        <p:spPr>
          <a:xfrm>
            <a:off x="502920" y="457200"/>
            <a:ext cx="8138160" cy="566928"/>
          </a:xfrm>
          <a:prstGeom prst="rect">
            <a:avLst/>
          </a:prstGeom>
          <a:noFill/>
          <a:ln/>
        </p:spPr>
        <p:txBody>
          <a:bodyPr wrap="square" lIns="0" tIns="0" rIns="0" bIns="0" rtlCol="0" anchor="ctr"/>
          <a:lstStyle/>
          <a:p>
            <a:pPr marL="0" indent="0">
              <a:buNone/>
            </a:pPr>
            <a:r>
              <a:rPr lang="en-US" sz="2700" b="1" dirty="0">
                <a:solidFill>
                  <a:srgbClr val="1F4E79"/>
                </a:solidFill>
                <a:latin typeface="Microsoft JhengHei" pitchFamily="34" charset="0"/>
                <a:ea typeface="Microsoft JhengHei" pitchFamily="34" charset="-122"/>
                <a:cs typeface="Microsoft JhengHei" pitchFamily="34" charset="-120"/>
              </a:rPr>
              <a:t>評分操作型定義：每項都要有三級錨點</a:t>
            </a:r>
            <a:endParaRPr lang="en-US" sz="27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8138160" cy="1901952"/>
        </p:xfrm>
        <a:graphic>
          <a:graphicData uri="http://schemas.openxmlformats.org/drawingml/2006/table">
            <a:tbl>
              <a:tblPr/>
              <a:tblGrid>
                <a:gridCol w="2103120">
                  <a:extLst>
                    <a:ext uri="{9D8B030D-6E8A-4147-A177-3AD203B41FA5}">
                      <a16:colId xmlns:a16="http://schemas.microsoft.com/office/drawing/2014/main" val="20000"/>
                    </a:ext>
                  </a:extLst>
                </a:gridCol>
                <a:gridCol w="6035040">
                  <a:extLst>
                    <a:ext uri="{9D8B030D-6E8A-4147-A177-3AD203B41FA5}">
                      <a16:colId xmlns:a16="http://schemas.microsoft.com/office/drawing/2014/main" val="20001"/>
                    </a:ext>
                  </a:extLst>
                </a:gridCol>
              </a:tblGrid>
              <a:tr h="475488">
                <a:tc>
                  <a:txBody>
                    <a:bodyPr/>
                    <a:lstStyle/>
                    <a:p>
                      <a:pPr marL="0" indent="0" algn="ctr">
                        <a:buNone/>
                      </a:pPr>
                      <a:r>
                        <a:rPr lang="en-US" sz="1300" b="1" dirty="0">
                          <a:solidFill>
                            <a:srgbClr val="FFFFFF"/>
                          </a:solidFill>
                          <a:latin typeface="Microsoft JhengHei" pitchFamily="34" charset="0"/>
                          <a:ea typeface="Microsoft JhengHei" pitchFamily="34" charset="-122"/>
                          <a:cs typeface="Microsoft JhengHei" pitchFamily="34" charset="-120"/>
                        </a:rPr>
                        <a:t>等級</a:t>
                      </a:r>
                      <a:endParaRPr lang="en-US" sz="1300" dirty="0">
                        <a:latin typeface="Microsoft JhengHei" charset="0"/>
                        <a:ea typeface="Microsoft JhengHei" charset="0"/>
                        <a:cs typeface="Microsoft JhengHei" charset="0"/>
                      </a:endParaRPr>
                    </a:p>
                  </a:txBody>
                  <a:tcPr marL="109728" marR="109728" marT="54864" marB="54864" anchor="ctr">
                    <a:lnL w="9525" cap="flat" cmpd="sng" algn="ctr">
                      <a:solidFill>
                        <a:srgbClr val="BDD7EE"/>
                      </a:solidFill>
                      <a:prstDash val="solid"/>
                      <a:round/>
                      <a:headEnd type="none" w="med" len="med"/>
                      <a:tailEnd type="none" w="med" len="med"/>
                    </a:lnL>
                    <a:lnR w="9525" cap="flat" cmpd="sng" algn="ctr">
                      <a:solidFill>
                        <a:srgbClr val="BDD7EE"/>
                      </a:solidFill>
                      <a:prstDash val="solid"/>
                      <a:round/>
                      <a:headEnd type="none" w="med" len="med"/>
                      <a:tailEnd type="none" w="med" len="med"/>
                    </a:lnR>
                    <a:lnT w="9525" cap="flat" cmpd="sng" algn="ctr">
                      <a:solidFill>
                        <a:srgbClr val="BDD7EE"/>
                      </a:solidFill>
                      <a:prstDash val="solid"/>
                      <a:round/>
                      <a:headEnd type="none" w="med" len="med"/>
                      <a:tailEnd type="none" w="med" len="med"/>
                    </a:lnT>
                    <a:lnB w="9525" cap="flat" cmpd="sng" algn="ctr">
                      <a:solidFill>
                        <a:srgbClr val="BDD7EE"/>
                      </a:solidFill>
                      <a:prstDash val="solid"/>
                      <a:round/>
                      <a:headEnd type="none" w="med" len="med"/>
                      <a:tailEnd type="none" w="med" len="med"/>
                    </a:lnB>
                    <a:solidFill>
                      <a:srgbClr val="1F4E79"/>
                    </a:solidFill>
                  </a:tcPr>
                </a:tc>
                <a:tc>
                  <a:txBody>
                    <a:bodyPr/>
                    <a:lstStyle/>
                    <a:p>
                      <a:pPr marL="0" indent="0">
                        <a:buNone/>
                      </a:pPr>
                      <a:r>
                        <a:rPr lang="en-US" sz="1300" b="1" dirty="0">
                          <a:solidFill>
                            <a:srgbClr val="FFFFFF"/>
                          </a:solidFill>
                          <a:latin typeface="Microsoft JhengHei" pitchFamily="34" charset="0"/>
                          <a:ea typeface="Microsoft JhengHei" pitchFamily="34" charset="-122"/>
                          <a:cs typeface="Microsoft JhengHei" pitchFamily="34" charset="-120"/>
                        </a:rPr>
                        <a:t>範例：第 8 項　DOR／卵巢功能線索（★）</a:t>
                      </a:r>
                      <a:endParaRPr lang="en-US" sz="1300" dirty="0">
                        <a:latin typeface="Microsoft JhengHei" charset="0"/>
                        <a:ea typeface="Microsoft JhengHei" charset="0"/>
                        <a:cs typeface="Microsoft JhengHei" charset="0"/>
                      </a:endParaRPr>
                    </a:p>
                  </a:txBody>
                  <a:tcPr marL="109728" marR="109728" marT="54864" marB="54864" anchor="ctr">
                    <a:lnL w="9525" cap="flat" cmpd="sng" algn="ctr">
                      <a:solidFill>
                        <a:srgbClr val="BDD7EE"/>
                      </a:solidFill>
                      <a:prstDash val="solid"/>
                      <a:round/>
                      <a:headEnd type="none" w="med" len="med"/>
                      <a:tailEnd type="none" w="med" len="med"/>
                    </a:lnL>
                    <a:lnR w="9525" cap="flat" cmpd="sng" algn="ctr">
                      <a:solidFill>
                        <a:srgbClr val="BDD7EE"/>
                      </a:solidFill>
                      <a:prstDash val="solid"/>
                      <a:round/>
                      <a:headEnd type="none" w="med" len="med"/>
                      <a:tailEnd type="none" w="med" len="med"/>
                    </a:lnR>
                    <a:lnT w="9525" cap="flat" cmpd="sng" algn="ctr">
                      <a:solidFill>
                        <a:srgbClr val="BDD7EE"/>
                      </a:solidFill>
                      <a:prstDash val="solid"/>
                      <a:round/>
                      <a:headEnd type="none" w="med" len="med"/>
                      <a:tailEnd type="none" w="med" len="med"/>
                    </a:lnT>
                    <a:lnB w="9525" cap="flat" cmpd="sng" algn="ctr">
                      <a:solidFill>
                        <a:srgbClr val="BDD7EE"/>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475488">
                <a:tc>
                  <a:txBody>
                    <a:bodyPr/>
                    <a:lstStyle/>
                    <a:p>
                      <a:pPr marL="0" indent="0" algn="ctr">
                        <a:buNone/>
                      </a:pPr>
                      <a:r>
                        <a:rPr lang="en-US" sz="1250" b="1" dirty="0">
                          <a:solidFill>
                            <a:srgbClr val="1F4E79"/>
                          </a:solidFill>
                          <a:latin typeface="Microsoft JhengHei" pitchFamily="34" charset="0"/>
                          <a:ea typeface="Microsoft JhengHei" pitchFamily="34" charset="-122"/>
                          <a:cs typeface="Microsoft JhengHei" pitchFamily="34" charset="-120"/>
                        </a:rPr>
                        <a:t>完全做到（2分）</a:t>
                      </a:r>
                      <a:endParaRPr lang="en-US" sz="1250" dirty="0">
                        <a:latin typeface="Microsoft JhengHei" charset="0"/>
                        <a:ea typeface="Microsoft JhengHei" charset="0"/>
                        <a:cs typeface="Microsoft JhengHei" charset="0"/>
                      </a:endParaRPr>
                    </a:p>
                  </a:txBody>
                  <a:tcPr marL="109728" marR="109728" marT="54864" marB="54864" anchor="ctr">
                    <a:lnL w="9525" cap="flat" cmpd="sng" algn="ctr">
                      <a:solidFill>
                        <a:srgbClr val="BDD7EE"/>
                      </a:solidFill>
                      <a:prstDash val="solid"/>
                      <a:round/>
                      <a:headEnd type="none" w="med" len="med"/>
                      <a:tailEnd type="none" w="med" len="med"/>
                    </a:lnL>
                    <a:lnR w="9525" cap="flat" cmpd="sng" algn="ctr">
                      <a:solidFill>
                        <a:srgbClr val="BDD7EE"/>
                      </a:solidFill>
                      <a:prstDash val="solid"/>
                      <a:round/>
                      <a:headEnd type="none" w="med" len="med"/>
                      <a:tailEnd type="none" w="med" len="med"/>
                    </a:lnR>
                    <a:lnT w="9525" cap="flat" cmpd="sng" algn="ctr">
                      <a:solidFill>
                        <a:srgbClr val="BDD7EE"/>
                      </a:solidFill>
                      <a:prstDash val="solid"/>
                      <a:round/>
                      <a:headEnd type="none" w="med" len="med"/>
                      <a:tailEnd type="none" w="med" len="med"/>
                    </a:lnT>
                    <a:lnB w="9525" cap="flat" cmpd="sng" algn="ctr">
                      <a:solidFill>
                        <a:srgbClr val="BDD7EE"/>
                      </a:solidFill>
                      <a:prstDash val="solid"/>
                      <a:round/>
                      <a:headEnd type="none" w="med" len="med"/>
                      <a:tailEnd type="none" w="med" len="med"/>
                    </a:lnB>
                    <a:solidFill>
                      <a:srgbClr val="DEEBF7"/>
                    </a:solidFill>
                  </a:tcPr>
                </a:tc>
                <a:tc>
                  <a:txBody>
                    <a:bodyPr/>
                    <a:lstStyle/>
                    <a:p>
                      <a:pPr marL="0" indent="0">
                        <a:buNone/>
                      </a:pPr>
                      <a:r>
                        <a:rPr lang="en-US" sz="1250" dirty="0">
                          <a:solidFill>
                            <a:srgbClr val="1F2937"/>
                          </a:solidFill>
                          <a:latin typeface="Microsoft JhengHei" pitchFamily="34" charset="0"/>
                          <a:ea typeface="Microsoft JhengHei" pitchFamily="34" charset="-122"/>
                          <a:cs typeface="Microsoft JhengHei" pitchFamily="34" charset="-120"/>
                        </a:rPr>
                        <a:t>詢問 週期縮短＋潮熱盜汗＋化療／放療史 三項</a:t>
                      </a:r>
                      <a:endParaRPr lang="en-US" sz="1250" dirty="0">
                        <a:latin typeface="Microsoft JhengHei" charset="0"/>
                        <a:ea typeface="Microsoft JhengHei" charset="0"/>
                        <a:cs typeface="Microsoft JhengHei" charset="0"/>
                      </a:endParaRPr>
                    </a:p>
                  </a:txBody>
                  <a:tcPr marL="109728" marR="109728" marT="54864" marB="54864" anchor="ctr">
                    <a:lnL w="9525" cap="flat" cmpd="sng" algn="ctr">
                      <a:solidFill>
                        <a:srgbClr val="BDD7EE"/>
                      </a:solidFill>
                      <a:prstDash val="solid"/>
                      <a:round/>
                      <a:headEnd type="none" w="med" len="med"/>
                      <a:tailEnd type="none" w="med" len="med"/>
                    </a:lnL>
                    <a:lnR w="9525" cap="flat" cmpd="sng" algn="ctr">
                      <a:solidFill>
                        <a:srgbClr val="BDD7EE"/>
                      </a:solidFill>
                      <a:prstDash val="solid"/>
                      <a:round/>
                      <a:headEnd type="none" w="med" len="med"/>
                      <a:tailEnd type="none" w="med" len="med"/>
                    </a:lnR>
                    <a:lnT w="9525" cap="flat" cmpd="sng" algn="ctr">
                      <a:solidFill>
                        <a:srgbClr val="BDD7EE"/>
                      </a:solidFill>
                      <a:prstDash val="solid"/>
                      <a:round/>
                      <a:headEnd type="none" w="med" len="med"/>
                      <a:tailEnd type="none" w="med" len="med"/>
                    </a:lnT>
                    <a:lnB w="9525" cap="flat" cmpd="sng" algn="ctr">
                      <a:solidFill>
                        <a:srgbClr val="BDD7EE"/>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lgn="ctr">
                        <a:buNone/>
                      </a:pPr>
                      <a:r>
                        <a:rPr lang="en-US" sz="1250" b="1" dirty="0">
                          <a:solidFill>
                            <a:srgbClr val="1F4E79"/>
                          </a:solidFill>
                          <a:latin typeface="Microsoft JhengHei" pitchFamily="34" charset="0"/>
                          <a:ea typeface="Microsoft JhengHei" pitchFamily="34" charset="-122"/>
                          <a:cs typeface="Microsoft JhengHei" pitchFamily="34" charset="-120"/>
                        </a:rPr>
                        <a:t>部份做到（1分）</a:t>
                      </a:r>
                      <a:endParaRPr lang="en-US" sz="1250" dirty="0">
                        <a:latin typeface="Microsoft JhengHei" charset="0"/>
                        <a:ea typeface="Microsoft JhengHei" charset="0"/>
                        <a:cs typeface="Microsoft JhengHei" charset="0"/>
                      </a:endParaRPr>
                    </a:p>
                  </a:txBody>
                  <a:tcPr marL="109728" marR="109728" marT="54864" marB="54864" anchor="ctr">
                    <a:lnL w="9525" cap="flat" cmpd="sng" algn="ctr">
                      <a:solidFill>
                        <a:srgbClr val="BDD7EE"/>
                      </a:solidFill>
                      <a:prstDash val="solid"/>
                      <a:round/>
                      <a:headEnd type="none" w="med" len="med"/>
                      <a:tailEnd type="none" w="med" len="med"/>
                    </a:lnL>
                    <a:lnR w="9525" cap="flat" cmpd="sng" algn="ctr">
                      <a:solidFill>
                        <a:srgbClr val="BDD7EE"/>
                      </a:solidFill>
                      <a:prstDash val="solid"/>
                      <a:round/>
                      <a:headEnd type="none" w="med" len="med"/>
                      <a:tailEnd type="none" w="med" len="med"/>
                    </a:lnR>
                    <a:lnT w="9525" cap="flat" cmpd="sng" algn="ctr">
                      <a:solidFill>
                        <a:srgbClr val="BDD7EE"/>
                      </a:solidFill>
                      <a:prstDash val="solid"/>
                      <a:round/>
                      <a:headEnd type="none" w="med" len="med"/>
                      <a:tailEnd type="none" w="med" len="med"/>
                    </a:lnT>
                    <a:lnB w="9525" cap="flat" cmpd="sng" algn="ctr">
                      <a:solidFill>
                        <a:srgbClr val="BDD7EE"/>
                      </a:solidFill>
                      <a:prstDash val="solid"/>
                      <a:round/>
                      <a:headEnd type="none" w="med" len="med"/>
                      <a:tailEnd type="none" w="med" len="med"/>
                    </a:lnB>
                    <a:solidFill>
                      <a:srgbClr val="DEEBF7"/>
                    </a:solidFill>
                  </a:tcPr>
                </a:tc>
                <a:tc>
                  <a:txBody>
                    <a:bodyPr/>
                    <a:lstStyle/>
                    <a:p>
                      <a:pPr marL="0" indent="0">
                        <a:buNone/>
                      </a:pPr>
                      <a:r>
                        <a:rPr lang="en-US" sz="1250" dirty="0">
                          <a:solidFill>
                            <a:srgbClr val="1F2937"/>
                          </a:solidFill>
                          <a:latin typeface="Microsoft JhengHei" pitchFamily="34" charset="0"/>
                          <a:ea typeface="Microsoft JhengHei" pitchFamily="34" charset="-122"/>
                          <a:cs typeface="Microsoft JhengHei" pitchFamily="34" charset="-120"/>
                        </a:rPr>
                        <a:t>詢問其中 1–2 項</a:t>
                      </a:r>
                      <a:endParaRPr lang="en-US" sz="1250" dirty="0">
                        <a:latin typeface="Microsoft JhengHei" charset="0"/>
                        <a:ea typeface="Microsoft JhengHei" charset="0"/>
                        <a:cs typeface="Microsoft JhengHei" charset="0"/>
                      </a:endParaRPr>
                    </a:p>
                  </a:txBody>
                  <a:tcPr marL="109728" marR="109728" marT="54864" marB="54864" anchor="ctr">
                    <a:lnL w="9525" cap="flat" cmpd="sng" algn="ctr">
                      <a:solidFill>
                        <a:srgbClr val="BDD7EE"/>
                      </a:solidFill>
                      <a:prstDash val="solid"/>
                      <a:round/>
                      <a:headEnd type="none" w="med" len="med"/>
                      <a:tailEnd type="none" w="med" len="med"/>
                    </a:lnL>
                    <a:lnR w="9525" cap="flat" cmpd="sng" algn="ctr">
                      <a:solidFill>
                        <a:srgbClr val="BDD7EE"/>
                      </a:solidFill>
                      <a:prstDash val="solid"/>
                      <a:round/>
                      <a:headEnd type="none" w="med" len="med"/>
                      <a:tailEnd type="none" w="med" len="med"/>
                    </a:lnR>
                    <a:lnT w="9525" cap="flat" cmpd="sng" algn="ctr">
                      <a:solidFill>
                        <a:srgbClr val="BDD7EE"/>
                      </a:solidFill>
                      <a:prstDash val="solid"/>
                      <a:round/>
                      <a:headEnd type="none" w="med" len="med"/>
                      <a:tailEnd type="none" w="med" len="med"/>
                    </a:lnT>
                    <a:lnB w="9525" cap="flat" cmpd="sng" algn="ctr">
                      <a:solidFill>
                        <a:srgbClr val="BDD7EE"/>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lgn="ctr">
                        <a:buNone/>
                      </a:pPr>
                      <a:r>
                        <a:rPr lang="en-US" sz="1250" b="1" dirty="0">
                          <a:solidFill>
                            <a:srgbClr val="1F4E79"/>
                          </a:solidFill>
                          <a:latin typeface="Microsoft JhengHei" pitchFamily="34" charset="0"/>
                          <a:ea typeface="Microsoft JhengHei" pitchFamily="34" charset="-122"/>
                          <a:cs typeface="Microsoft JhengHei" pitchFamily="34" charset="-120"/>
                        </a:rPr>
                        <a:t>沒有做到（0分）</a:t>
                      </a:r>
                      <a:endParaRPr lang="en-US" sz="1250" dirty="0">
                        <a:latin typeface="Microsoft JhengHei" charset="0"/>
                        <a:ea typeface="Microsoft JhengHei" charset="0"/>
                        <a:cs typeface="Microsoft JhengHei" charset="0"/>
                      </a:endParaRPr>
                    </a:p>
                  </a:txBody>
                  <a:tcPr marL="109728" marR="109728" marT="54864" marB="54864" anchor="ctr">
                    <a:lnL w="9525" cap="flat" cmpd="sng" algn="ctr">
                      <a:solidFill>
                        <a:srgbClr val="BDD7EE"/>
                      </a:solidFill>
                      <a:prstDash val="solid"/>
                      <a:round/>
                      <a:headEnd type="none" w="med" len="med"/>
                      <a:tailEnd type="none" w="med" len="med"/>
                    </a:lnL>
                    <a:lnR w="9525" cap="flat" cmpd="sng" algn="ctr">
                      <a:solidFill>
                        <a:srgbClr val="BDD7EE"/>
                      </a:solidFill>
                      <a:prstDash val="solid"/>
                      <a:round/>
                      <a:headEnd type="none" w="med" len="med"/>
                      <a:tailEnd type="none" w="med" len="med"/>
                    </a:lnR>
                    <a:lnT w="9525" cap="flat" cmpd="sng" algn="ctr">
                      <a:solidFill>
                        <a:srgbClr val="BDD7EE"/>
                      </a:solidFill>
                      <a:prstDash val="solid"/>
                      <a:round/>
                      <a:headEnd type="none" w="med" len="med"/>
                      <a:tailEnd type="none" w="med" len="med"/>
                    </a:lnT>
                    <a:lnB w="9525" cap="flat" cmpd="sng" algn="ctr">
                      <a:solidFill>
                        <a:srgbClr val="BDD7EE"/>
                      </a:solidFill>
                      <a:prstDash val="solid"/>
                      <a:round/>
                      <a:headEnd type="none" w="med" len="med"/>
                      <a:tailEnd type="none" w="med" len="med"/>
                    </a:lnB>
                    <a:solidFill>
                      <a:srgbClr val="DEEBF7"/>
                    </a:solidFill>
                  </a:tcPr>
                </a:tc>
                <a:tc>
                  <a:txBody>
                    <a:bodyPr/>
                    <a:lstStyle/>
                    <a:p>
                      <a:pPr marL="0" indent="0">
                        <a:buNone/>
                      </a:pPr>
                      <a:r>
                        <a:rPr lang="en-US" sz="1250" dirty="0">
                          <a:solidFill>
                            <a:srgbClr val="1F2937"/>
                          </a:solidFill>
                          <a:latin typeface="Microsoft JhengHei" pitchFamily="34" charset="0"/>
                          <a:ea typeface="Microsoft JhengHei" pitchFamily="34" charset="-122"/>
                          <a:cs typeface="Microsoft JhengHei" pitchFamily="34" charset="-120"/>
                        </a:rPr>
                        <a:t>未詢問任何 DOR 相關線索</a:t>
                      </a:r>
                      <a:endParaRPr lang="en-US" sz="1250" dirty="0">
                        <a:latin typeface="Microsoft JhengHei" charset="0"/>
                        <a:ea typeface="Microsoft JhengHei" charset="0"/>
                        <a:cs typeface="Microsoft JhengHei" charset="0"/>
                      </a:endParaRPr>
                    </a:p>
                  </a:txBody>
                  <a:tcPr marL="109728" marR="109728" marT="54864" marB="54864" anchor="ctr">
                    <a:lnL w="9525" cap="flat" cmpd="sng" algn="ctr">
                      <a:solidFill>
                        <a:srgbClr val="BDD7EE"/>
                      </a:solidFill>
                      <a:prstDash val="solid"/>
                      <a:round/>
                      <a:headEnd type="none" w="med" len="med"/>
                      <a:tailEnd type="none" w="med" len="med"/>
                    </a:lnL>
                    <a:lnR w="9525" cap="flat" cmpd="sng" algn="ctr">
                      <a:solidFill>
                        <a:srgbClr val="BDD7EE"/>
                      </a:solidFill>
                      <a:prstDash val="solid"/>
                      <a:round/>
                      <a:headEnd type="none" w="med" len="med"/>
                      <a:tailEnd type="none" w="med" len="med"/>
                    </a:lnR>
                    <a:lnT w="9525" cap="flat" cmpd="sng" algn="ctr">
                      <a:solidFill>
                        <a:srgbClr val="BDD7EE"/>
                      </a:solidFill>
                      <a:prstDash val="solid"/>
                      <a:round/>
                      <a:headEnd type="none" w="med" len="med"/>
                      <a:tailEnd type="none" w="med" len="med"/>
                    </a:lnT>
                    <a:lnB w="9525" cap="flat" cmpd="sng" algn="ctr">
                      <a:solidFill>
                        <a:srgbClr val="BDD7EE"/>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Text 3"/>
          <p:cNvSpPr/>
          <p:nvPr/>
        </p:nvSpPr>
        <p:spPr>
          <a:xfrm>
            <a:off x="548640" y="3703320"/>
            <a:ext cx="8046720" cy="118872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1F2937"/>
                </a:solidFill>
                <a:latin typeface="Microsoft JhengHei" pitchFamily="34" charset="0"/>
                <a:ea typeface="Microsoft JhengHei" pitchFamily="34" charset="-122"/>
                <a:cs typeface="Microsoft JhengHei" pitchFamily="34" charset="-120"/>
              </a:rPr>
              <a:t>對每個分數等級「界定可觀察的表現特徵」，評分才會客觀一致</a:t>
            </a:r>
            <a:endParaRPr lang="en-US" sz="1300" dirty="0"/>
          </a:p>
          <a:p>
            <a:pPr marL="342900" indent="-342900">
              <a:spcAft>
                <a:spcPts val="600"/>
              </a:spcAft>
              <a:buSzPct val="100000"/>
              <a:buChar char="•"/>
            </a:pPr>
            <a:r>
              <a:rPr lang="en-US" sz="1300" dirty="0">
                <a:solidFill>
                  <a:srgbClr val="1F2937"/>
                </a:solidFill>
                <a:latin typeface="Microsoft JhengHei" pitchFamily="34" charset="0"/>
                <a:ea typeface="Microsoft JhengHei" pitchFamily="34" charset="-122"/>
                <a:cs typeface="Microsoft JhengHei" pitchFamily="34" charset="-120"/>
              </a:rPr>
              <a:t>讓代打考官、不同梯次考官都評得出一樣的分數</a:t>
            </a:r>
            <a:endParaRPr lang="en-US" sz="1300" dirty="0"/>
          </a:p>
          <a:p>
            <a:pPr marL="342900" indent="-342900">
              <a:spcAft>
                <a:spcPts val="600"/>
              </a:spcAft>
              <a:buSzPct val="100000"/>
              <a:buChar char="•"/>
            </a:pPr>
            <a:r>
              <a:rPr lang="en-US" sz="1300" dirty="0">
                <a:solidFill>
                  <a:srgbClr val="1F2937"/>
                </a:solidFill>
                <a:latin typeface="Microsoft JhengHei" pitchFamily="34" charset="0"/>
                <a:ea typeface="Microsoft JhengHei" pitchFamily="34" charset="-122"/>
                <a:cs typeface="Microsoft JhengHei" pitchFamily="34" charset="-120"/>
              </a:rPr>
              <a:t>也幫助考生了解表現如何被評分（考後回饋）</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641080" y="4828032"/>
            <a:ext cx="365760" cy="274320"/>
          </a:xfrm>
          <a:prstGeom prst="rect">
            <a:avLst/>
          </a:prstGeom>
          <a:noFill/>
          <a:ln/>
        </p:spPr>
        <p:txBody>
          <a:bodyPr wrap="square" lIns="0" tIns="0" rIns="0" bIns="0" rtlCol="0" anchor="ctr"/>
          <a:lstStyle/>
          <a:p>
            <a:pPr marL="0" indent="0" algn="r">
              <a:buNone/>
            </a:pPr>
            <a:r>
              <a:rPr lang="en-US" sz="1000" dirty="0">
                <a:solidFill>
                  <a:srgbClr val="5B6B7F"/>
                </a:solidFill>
                <a:latin typeface="Microsoft JhengHei" pitchFamily="34" charset="0"/>
                <a:ea typeface="Microsoft JhengHei" pitchFamily="34" charset="-122"/>
                <a:cs typeface="Microsoft JhengHei" pitchFamily="34" charset="-120"/>
              </a:rPr>
              <a:t>14</a:t>
            </a:r>
            <a:endParaRPr lang="en-US" sz="1000" dirty="0"/>
          </a:p>
        </p:txBody>
      </p:sp>
      <p:sp>
        <p:nvSpPr>
          <p:cNvPr id="3" name="Text 1"/>
          <p:cNvSpPr/>
          <p:nvPr/>
        </p:nvSpPr>
        <p:spPr>
          <a:xfrm>
            <a:off x="502920" y="201168"/>
            <a:ext cx="8046720" cy="274320"/>
          </a:xfrm>
          <a:prstGeom prst="rect">
            <a:avLst/>
          </a:prstGeom>
          <a:noFill/>
          <a:ln/>
        </p:spPr>
        <p:txBody>
          <a:bodyPr wrap="square" lIns="0" tIns="0" rIns="0" bIns="0" rtlCol="0" anchor="ctr"/>
          <a:lstStyle/>
          <a:p>
            <a:pPr marL="0" indent="0">
              <a:buNone/>
            </a:pPr>
            <a:r>
              <a:rPr lang="en-US" sz="1200" b="1" kern="0" spc="200" dirty="0">
                <a:solidFill>
                  <a:srgbClr val="2E75B6"/>
                </a:solidFill>
                <a:latin typeface="Microsoft JhengHei" pitchFamily="34" charset="0"/>
                <a:ea typeface="Microsoft JhengHei" pitchFamily="34" charset="-122"/>
                <a:cs typeface="Microsoft JhengHei" pitchFamily="34" charset="-120"/>
              </a:rPr>
              <a:t>STATION TYPE 1</a:t>
            </a:r>
            <a:endParaRPr lang="en-US" sz="1200" dirty="0"/>
          </a:p>
        </p:txBody>
      </p:sp>
      <p:sp>
        <p:nvSpPr>
          <p:cNvPr id="4" name="Text 2"/>
          <p:cNvSpPr/>
          <p:nvPr/>
        </p:nvSpPr>
        <p:spPr>
          <a:xfrm>
            <a:off x="502920" y="457200"/>
            <a:ext cx="8138160" cy="566928"/>
          </a:xfrm>
          <a:prstGeom prst="rect">
            <a:avLst/>
          </a:prstGeom>
          <a:noFill/>
          <a:ln/>
        </p:spPr>
        <p:txBody>
          <a:bodyPr wrap="square" lIns="0" tIns="0" rIns="0" bIns="0" rtlCol="0" anchor="ctr"/>
          <a:lstStyle/>
          <a:p>
            <a:pPr marL="0" indent="0">
              <a:buNone/>
            </a:pPr>
            <a:r>
              <a:rPr lang="en-US" sz="2700" b="1" dirty="0">
                <a:solidFill>
                  <a:srgbClr val="1F4E79"/>
                </a:solidFill>
                <a:latin typeface="Microsoft JhengHei" pitchFamily="34" charset="0"/>
                <a:ea typeface="Microsoft JhengHei" pitchFamily="34" charset="-122"/>
                <a:cs typeface="Microsoft JhengHei" pitchFamily="34" charset="-120"/>
              </a:rPr>
              <a:t>病史詢問站：15 項怎麼分配</a:t>
            </a:r>
            <a:endParaRPr lang="en-US" sz="2700" dirty="0"/>
          </a:p>
        </p:txBody>
      </p:sp>
      <p:sp>
        <p:nvSpPr>
          <p:cNvPr id="5" name="Shape 3"/>
          <p:cNvSpPr/>
          <p:nvPr/>
        </p:nvSpPr>
        <p:spPr>
          <a:xfrm>
            <a:off x="502920" y="1170432"/>
            <a:ext cx="2606040" cy="731520"/>
          </a:xfrm>
          <a:prstGeom prst="rect">
            <a:avLst/>
          </a:prstGeom>
          <a:solidFill>
            <a:srgbClr val="DEEBF7"/>
          </a:solidFill>
          <a:ln/>
        </p:spPr>
        <p:txBody>
          <a:bodyPr/>
          <a:lstStyle/>
          <a:p>
            <a:endParaRPr lang="zh-TW" altLang="en-US"/>
          </a:p>
        </p:txBody>
      </p:sp>
      <p:sp>
        <p:nvSpPr>
          <p:cNvPr id="6" name="Shape 4"/>
          <p:cNvSpPr/>
          <p:nvPr/>
        </p:nvSpPr>
        <p:spPr>
          <a:xfrm>
            <a:off x="502920" y="1170432"/>
            <a:ext cx="64008" cy="731520"/>
          </a:xfrm>
          <a:prstGeom prst="rect">
            <a:avLst/>
          </a:prstGeom>
          <a:solidFill>
            <a:srgbClr val="2E75B6"/>
          </a:solidFill>
          <a:ln/>
        </p:spPr>
        <p:txBody>
          <a:bodyPr/>
          <a:lstStyle/>
          <a:p>
            <a:endParaRPr lang="zh-TW" altLang="en-US"/>
          </a:p>
        </p:txBody>
      </p:sp>
      <p:sp>
        <p:nvSpPr>
          <p:cNvPr id="7" name="Text 5"/>
          <p:cNvSpPr/>
          <p:nvPr/>
        </p:nvSpPr>
        <p:spPr>
          <a:xfrm>
            <a:off x="685800" y="1170432"/>
            <a:ext cx="1783080" cy="731520"/>
          </a:xfrm>
          <a:prstGeom prst="rect">
            <a:avLst/>
          </a:prstGeom>
          <a:noFill/>
          <a:ln/>
        </p:spPr>
        <p:txBody>
          <a:bodyPr wrap="square" lIns="0" tIns="0" rIns="0" bIns="0" rtlCol="0" anchor="ctr"/>
          <a:lstStyle/>
          <a:p>
            <a:pPr marL="0" indent="0">
              <a:buNone/>
            </a:pPr>
            <a:r>
              <a:rPr lang="en-US" sz="1300" b="1" dirty="0">
                <a:solidFill>
                  <a:srgbClr val="1F4E79"/>
                </a:solidFill>
                <a:latin typeface="Microsoft JhengHei" pitchFamily="34" charset="0"/>
                <a:ea typeface="Microsoft JhengHei" pitchFamily="34" charset="-122"/>
                <a:cs typeface="Microsoft JhengHei" pitchFamily="34" charset="-120"/>
              </a:rPr>
              <a:t>開場禮儀</a:t>
            </a:r>
            <a:endParaRPr lang="en-US" sz="1300" dirty="0"/>
          </a:p>
        </p:txBody>
      </p:sp>
      <p:sp>
        <p:nvSpPr>
          <p:cNvPr id="8" name="Text 6"/>
          <p:cNvSpPr/>
          <p:nvPr/>
        </p:nvSpPr>
        <p:spPr>
          <a:xfrm>
            <a:off x="2377440" y="1170432"/>
            <a:ext cx="640080" cy="731520"/>
          </a:xfrm>
          <a:prstGeom prst="rect">
            <a:avLst/>
          </a:prstGeom>
          <a:noFill/>
          <a:ln/>
        </p:spPr>
        <p:txBody>
          <a:bodyPr wrap="square" lIns="0" tIns="0" rIns="0" bIns="0" rtlCol="0" anchor="ctr"/>
          <a:lstStyle/>
          <a:p>
            <a:pPr marL="0" indent="0" algn="ctr">
              <a:buNone/>
            </a:pPr>
            <a:r>
              <a:rPr lang="en-US" sz="1700" b="1" dirty="0">
                <a:solidFill>
                  <a:srgbClr val="2E75B6"/>
                </a:solidFill>
                <a:latin typeface="Microsoft JhengHei" pitchFamily="34" charset="0"/>
                <a:ea typeface="Microsoft JhengHei" pitchFamily="34" charset="-122"/>
                <a:cs typeface="Microsoft JhengHei" pitchFamily="34" charset="-120"/>
              </a:rPr>
              <a:t>1</a:t>
            </a:r>
            <a:endParaRPr lang="en-US" sz="1700" dirty="0"/>
          </a:p>
        </p:txBody>
      </p:sp>
      <p:sp>
        <p:nvSpPr>
          <p:cNvPr id="9" name="Shape 7"/>
          <p:cNvSpPr/>
          <p:nvPr/>
        </p:nvSpPr>
        <p:spPr>
          <a:xfrm>
            <a:off x="3310128" y="1170432"/>
            <a:ext cx="2606040" cy="731520"/>
          </a:xfrm>
          <a:prstGeom prst="rect">
            <a:avLst/>
          </a:prstGeom>
          <a:solidFill>
            <a:srgbClr val="DEEBF7"/>
          </a:solidFill>
          <a:ln/>
        </p:spPr>
        <p:txBody>
          <a:bodyPr/>
          <a:lstStyle/>
          <a:p>
            <a:endParaRPr lang="zh-TW" altLang="en-US"/>
          </a:p>
        </p:txBody>
      </p:sp>
      <p:sp>
        <p:nvSpPr>
          <p:cNvPr id="10" name="Shape 8"/>
          <p:cNvSpPr/>
          <p:nvPr/>
        </p:nvSpPr>
        <p:spPr>
          <a:xfrm>
            <a:off x="3310128" y="1170432"/>
            <a:ext cx="64008" cy="731520"/>
          </a:xfrm>
          <a:prstGeom prst="rect">
            <a:avLst/>
          </a:prstGeom>
          <a:solidFill>
            <a:srgbClr val="2E75B6"/>
          </a:solidFill>
          <a:ln/>
        </p:spPr>
        <p:txBody>
          <a:bodyPr/>
          <a:lstStyle/>
          <a:p>
            <a:endParaRPr lang="zh-TW" altLang="en-US"/>
          </a:p>
        </p:txBody>
      </p:sp>
      <p:sp>
        <p:nvSpPr>
          <p:cNvPr id="11" name="Text 9"/>
          <p:cNvSpPr/>
          <p:nvPr/>
        </p:nvSpPr>
        <p:spPr>
          <a:xfrm>
            <a:off x="3493008" y="1170432"/>
            <a:ext cx="1783080" cy="731520"/>
          </a:xfrm>
          <a:prstGeom prst="rect">
            <a:avLst/>
          </a:prstGeom>
          <a:noFill/>
          <a:ln/>
        </p:spPr>
        <p:txBody>
          <a:bodyPr wrap="square" lIns="0" tIns="0" rIns="0" bIns="0" rtlCol="0" anchor="ctr"/>
          <a:lstStyle/>
          <a:p>
            <a:pPr marL="0" indent="0">
              <a:buNone/>
            </a:pPr>
            <a:r>
              <a:rPr lang="en-US" sz="1300" b="1" dirty="0">
                <a:solidFill>
                  <a:srgbClr val="1F4E79"/>
                </a:solidFill>
                <a:latin typeface="Microsoft JhengHei" pitchFamily="34" charset="0"/>
                <a:ea typeface="Microsoft JhengHei" pitchFamily="34" charset="-122"/>
                <a:cs typeface="Microsoft JhengHei" pitchFamily="34" charset="-120"/>
              </a:rPr>
              <a:t>LQQOPERA</a:t>
            </a:r>
            <a:endParaRPr lang="en-US" sz="1300" dirty="0"/>
          </a:p>
        </p:txBody>
      </p:sp>
      <p:sp>
        <p:nvSpPr>
          <p:cNvPr id="12" name="Text 10"/>
          <p:cNvSpPr/>
          <p:nvPr/>
        </p:nvSpPr>
        <p:spPr>
          <a:xfrm>
            <a:off x="5184648" y="1170432"/>
            <a:ext cx="640080" cy="731520"/>
          </a:xfrm>
          <a:prstGeom prst="rect">
            <a:avLst/>
          </a:prstGeom>
          <a:noFill/>
          <a:ln/>
        </p:spPr>
        <p:txBody>
          <a:bodyPr wrap="square" lIns="0" tIns="0" rIns="0" bIns="0" rtlCol="0" anchor="ctr"/>
          <a:lstStyle/>
          <a:p>
            <a:pPr marL="0" indent="0" algn="ctr">
              <a:buNone/>
            </a:pPr>
            <a:r>
              <a:rPr lang="en-US" sz="1700" b="1" dirty="0">
                <a:solidFill>
                  <a:srgbClr val="2E75B6"/>
                </a:solidFill>
                <a:latin typeface="Microsoft JhengHei" pitchFamily="34" charset="0"/>
                <a:ea typeface="Microsoft JhengHei" pitchFamily="34" charset="-122"/>
                <a:cs typeface="Microsoft JhengHei" pitchFamily="34" charset="-120"/>
              </a:rPr>
              <a:t>≤4</a:t>
            </a:r>
            <a:endParaRPr lang="en-US" sz="1700" dirty="0"/>
          </a:p>
        </p:txBody>
      </p:sp>
      <p:sp>
        <p:nvSpPr>
          <p:cNvPr id="13" name="Shape 11"/>
          <p:cNvSpPr/>
          <p:nvPr/>
        </p:nvSpPr>
        <p:spPr>
          <a:xfrm>
            <a:off x="6117336" y="1170432"/>
            <a:ext cx="2606040" cy="731520"/>
          </a:xfrm>
          <a:prstGeom prst="rect">
            <a:avLst/>
          </a:prstGeom>
          <a:solidFill>
            <a:srgbClr val="DEEBF7"/>
          </a:solidFill>
          <a:ln/>
        </p:spPr>
        <p:txBody>
          <a:bodyPr/>
          <a:lstStyle/>
          <a:p>
            <a:endParaRPr lang="zh-TW" altLang="en-US"/>
          </a:p>
        </p:txBody>
      </p:sp>
      <p:sp>
        <p:nvSpPr>
          <p:cNvPr id="14" name="Shape 12"/>
          <p:cNvSpPr/>
          <p:nvPr/>
        </p:nvSpPr>
        <p:spPr>
          <a:xfrm>
            <a:off x="6117336" y="1170432"/>
            <a:ext cx="64008" cy="731520"/>
          </a:xfrm>
          <a:prstGeom prst="rect">
            <a:avLst/>
          </a:prstGeom>
          <a:solidFill>
            <a:srgbClr val="2E75B6"/>
          </a:solidFill>
          <a:ln/>
        </p:spPr>
        <p:txBody>
          <a:bodyPr/>
          <a:lstStyle/>
          <a:p>
            <a:endParaRPr lang="zh-TW" altLang="en-US"/>
          </a:p>
        </p:txBody>
      </p:sp>
      <p:sp>
        <p:nvSpPr>
          <p:cNvPr id="15" name="Text 13"/>
          <p:cNvSpPr/>
          <p:nvPr/>
        </p:nvSpPr>
        <p:spPr>
          <a:xfrm>
            <a:off x="6300216" y="1170432"/>
            <a:ext cx="1783080" cy="731520"/>
          </a:xfrm>
          <a:prstGeom prst="rect">
            <a:avLst/>
          </a:prstGeom>
          <a:noFill/>
          <a:ln/>
        </p:spPr>
        <p:txBody>
          <a:bodyPr wrap="square" lIns="0" tIns="0" rIns="0" bIns="0" rtlCol="0" anchor="ctr"/>
          <a:lstStyle/>
          <a:p>
            <a:pPr marL="0" indent="0">
              <a:buNone/>
            </a:pPr>
            <a:r>
              <a:rPr lang="en-US" sz="1300" b="1" dirty="0">
                <a:solidFill>
                  <a:srgbClr val="1F4E79"/>
                </a:solidFill>
                <a:latin typeface="Microsoft JhengHei" pitchFamily="34" charset="0"/>
                <a:ea typeface="Microsoft JhengHei" pitchFamily="34" charset="-122"/>
                <a:cs typeface="Microsoft JhengHei" pitchFamily="34" charset="-120"/>
              </a:rPr>
              <a:t>過去病史／手術</a:t>
            </a:r>
            <a:endParaRPr lang="en-US" sz="1300" dirty="0"/>
          </a:p>
        </p:txBody>
      </p:sp>
      <p:sp>
        <p:nvSpPr>
          <p:cNvPr id="16" name="Text 14"/>
          <p:cNvSpPr/>
          <p:nvPr/>
        </p:nvSpPr>
        <p:spPr>
          <a:xfrm>
            <a:off x="7991856" y="1170432"/>
            <a:ext cx="640080" cy="731520"/>
          </a:xfrm>
          <a:prstGeom prst="rect">
            <a:avLst/>
          </a:prstGeom>
          <a:noFill/>
          <a:ln/>
        </p:spPr>
        <p:txBody>
          <a:bodyPr wrap="square" lIns="0" tIns="0" rIns="0" bIns="0" rtlCol="0" anchor="ctr"/>
          <a:lstStyle/>
          <a:p>
            <a:pPr marL="0" indent="0" algn="ctr">
              <a:buNone/>
            </a:pPr>
            <a:r>
              <a:rPr lang="en-US" sz="1700" b="1" dirty="0">
                <a:solidFill>
                  <a:srgbClr val="2E75B6"/>
                </a:solidFill>
                <a:latin typeface="Microsoft JhengHei" pitchFamily="34" charset="0"/>
                <a:ea typeface="Microsoft JhengHei" pitchFamily="34" charset="-122"/>
                <a:cs typeface="Microsoft JhengHei" pitchFamily="34" charset="-120"/>
              </a:rPr>
              <a:t>1</a:t>
            </a:r>
            <a:endParaRPr lang="en-US" sz="1700" dirty="0"/>
          </a:p>
        </p:txBody>
      </p:sp>
      <p:sp>
        <p:nvSpPr>
          <p:cNvPr id="17" name="Shape 15"/>
          <p:cNvSpPr/>
          <p:nvPr/>
        </p:nvSpPr>
        <p:spPr>
          <a:xfrm>
            <a:off x="502920" y="2039112"/>
            <a:ext cx="2606040" cy="731520"/>
          </a:xfrm>
          <a:prstGeom prst="rect">
            <a:avLst/>
          </a:prstGeom>
          <a:solidFill>
            <a:srgbClr val="DEEBF7"/>
          </a:solidFill>
          <a:ln/>
        </p:spPr>
        <p:txBody>
          <a:bodyPr/>
          <a:lstStyle/>
          <a:p>
            <a:endParaRPr lang="zh-TW" altLang="en-US"/>
          </a:p>
        </p:txBody>
      </p:sp>
      <p:sp>
        <p:nvSpPr>
          <p:cNvPr id="18" name="Shape 16"/>
          <p:cNvSpPr/>
          <p:nvPr/>
        </p:nvSpPr>
        <p:spPr>
          <a:xfrm>
            <a:off x="502920" y="2039112"/>
            <a:ext cx="64008" cy="731520"/>
          </a:xfrm>
          <a:prstGeom prst="rect">
            <a:avLst/>
          </a:prstGeom>
          <a:solidFill>
            <a:srgbClr val="2E75B6"/>
          </a:solidFill>
          <a:ln/>
        </p:spPr>
        <p:txBody>
          <a:bodyPr/>
          <a:lstStyle/>
          <a:p>
            <a:endParaRPr lang="zh-TW" altLang="en-US"/>
          </a:p>
        </p:txBody>
      </p:sp>
      <p:sp>
        <p:nvSpPr>
          <p:cNvPr id="19" name="Text 17"/>
          <p:cNvSpPr/>
          <p:nvPr/>
        </p:nvSpPr>
        <p:spPr>
          <a:xfrm>
            <a:off x="685800" y="2039112"/>
            <a:ext cx="1783080" cy="731520"/>
          </a:xfrm>
          <a:prstGeom prst="rect">
            <a:avLst/>
          </a:prstGeom>
          <a:noFill/>
          <a:ln/>
        </p:spPr>
        <p:txBody>
          <a:bodyPr wrap="square" lIns="0" tIns="0" rIns="0" bIns="0" rtlCol="0" anchor="ctr"/>
          <a:lstStyle/>
          <a:p>
            <a:pPr marL="0" indent="0">
              <a:buNone/>
            </a:pPr>
            <a:r>
              <a:rPr lang="en-US" sz="1300" b="1" dirty="0">
                <a:solidFill>
                  <a:srgbClr val="1F4E79"/>
                </a:solidFill>
                <a:latin typeface="Microsoft JhengHei" pitchFamily="34" charset="0"/>
                <a:ea typeface="Microsoft JhengHei" pitchFamily="34" charset="-122"/>
                <a:cs typeface="Microsoft JhengHei" pitchFamily="34" charset="-120"/>
              </a:rPr>
              <a:t>藥物／過敏</a:t>
            </a:r>
            <a:endParaRPr lang="en-US" sz="1300" dirty="0"/>
          </a:p>
        </p:txBody>
      </p:sp>
      <p:sp>
        <p:nvSpPr>
          <p:cNvPr id="20" name="Text 18"/>
          <p:cNvSpPr/>
          <p:nvPr/>
        </p:nvSpPr>
        <p:spPr>
          <a:xfrm>
            <a:off x="2377440" y="2039112"/>
            <a:ext cx="640080" cy="731520"/>
          </a:xfrm>
          <a:prstGeom prst="rect">
            <a:avLst/>
          </a:prstGeom>
          <a:noFill/>
          <a:ln/>
        </p:spPr>
        <p:txBody>
          <a:bodyPr wrap="square" lIns="0" tIns="0" rIns="0" bIns="0" rtlCol="0" anchor="ctr"/>
          <a:lstStyle/>
          <a:p>
            <a:pPr marL="0" indent="0" algn="ctr">
              <a:buNone/>
            </a:pPr>
            <a:r>
              <a:rPr lang="en-US" sz="1700" b="1" dirty="0">
                <a:solidFill>
                  <a:srgbClr val="2E75B6"/>
                </a:solidFill>
                <a:latin typeface="Microsoft JhengHei" pitchFamily="34" charset="0"/>
                <a:ea typeface="Microsoft JhengHei" pitchFamily="34" charset="-122"/>
                <a:cs typeface="Microsoft JhengHei" pitchFamily="34" charset="-120"/>
              </a:rPr>
              <a:t>1</a:t>
            </a:r>
            <a:endParaRPr lang="en-US" sz="1700" dirty="0"/>
          </a:p>
        </p:txBody>
      </p:sp>
      <p:sp>
        <p:nvSpPr>
          <p:cNvPr id="21" name="Shape 19"/>
          <p:cNvSpPr/>
          <p:nvPr/>
        </p:nvSpPr>
        <p:spPr>
          <a:xfrm>
            <a:off x="3310128" y="2039112"/>
            <a:ext cx="2606040" cy="731520"/>
          </a:xfrm>
          <a:prstGeom prst="rect">
            <a:avLst/>
          </a:prstGeom>
          <a:solidFill>
            <a:srgbClr val="DEEBF7"/>
          </a:solidFill>
          <a:ln/>
        </p:spPr>
        <p:txBody>
          <a:bodyPr/>
          <a:lstStyle/>
          <a:p>
            <a:endParaRPr lang="zh-TW" altLang="en-US"/>
          </a:p>
        </p:txBody>
      </p:sp>
      <p:sp>
        <p:nvSpPr>
          <p:cNvPr id="22" name="Shape 20"/>
          <p:cNvSpPr/>
          <p:nvPr/>
        </p:nvSpPr>
        <p:spPr>
          <a:xfrm>
            <a:off x="3310128" y="2039112"/>
            <a:ext cx="64008" cy="731520"/>
          </a:xfrm>
          <a:prstGeom prst="rect">
            <a:avLst/>
          </a:prstGeom>
          <a:solidFill>
            <a:srgbClr val="2E75B6"/>
          </a:solidFill>
          <a:ln/>
        </p:spPr>
        <p:txBody>
          <a:bodyPr/>
          <a:lstStyle/>
          <a:p>
            <a:endParaRPr lang="zh-TW" altLang="en-US"/>
          </a:p>
        </p:txBody>
      </p:sp>
      <p:sp>
        <p:nvSpPr>
          <p:cNvPr id="23" name="Text 21"/>
          <p:cNvSpPr/>
          <p:nvPr/>
        </p:nvSpPr>
        <p:spPr>
          <a:xfrm>
            <a:off x="3493008" y="2039112"/>
            <a:ext cx="1783080" cy="731520"/>
          </a:xfrm>
          <a:prstGeom prst="rect">
            <a:avLst/>
          </a:prstGeom>
          <a:noFill/>
          <a:ln/>
        </p:spPr>
        <p:txBody>
          <a:bodyPr wrap="square" lIns="0" tIns="0" rIns="0" bIns="0" rtlCol="0" anchor="ctr"/>
          <a:lstStyle/>
          <a:p>
            <a:pPr marL="0" indent="0">
              <a:buNone/>
            </a:pPr>
            <a:r>
              <a:rPr lang="en-US" sz="1300" b="1" dirty="0">
                <a:solidFill>
                  <a:srgbClr val="1F4E79"/>
                </a:solidFill>
                <a:latin typeface="Microsoft JhengHei" pitchFamily="34" charset="0"/>
                <a:ea typeface="Microsoft JhengHei" pitchFamily="34" charset="-122"/>
                <a:cs typeface="Microsoft JhengHei" pitchFamily="34" charset="-120"/>
              </a:rPr>
              <a:t>家族史</a:t>
            </a:r>
            <a:endParaRPr lang="en-US" sz="1300" dirty="0"/>
          </a:p>
        </p:txBody>
      </p:sp>
      <p:sp>
        <p:nvSpPr>
          <p:cNvPr id="24" name="Text 22"/>
          <p:cNvSpPr/>
          <p:nvPr/>
        </p:nvSpPr>
        <p:spPr>
          <a:xfrm>
            <a:off x="5184648" y="2039112"/>
            <a:ext cx="640080" cy="731520"/>
          </a:xfrm>
          <a:prstGeom prst="rect">
            <a:avLst/>
          </a:prstGeom>
          <a:noFill/>
          <a:ln/>
        </p:spPr>
        <p:txBody>
          <a:bodyPr wrap="square" lIns="0" tIns="0" rIns="0" bIns="0" rtlCol="0" anchor="ctr"/>
          <a:lstStyle/>
          <a:p>
            <a:pPr marL="0" indent="0" algn="ctr">
              <a:buNone/>
            </a:pPr>
            <a:r>
              <a:rPr lang="en-US" sz="1700" b="1" dirty="0">
                <a:solidFill>
                  <a:srgbClr val="2E75B6"/>
                </a:solidFill>
                <a:latin typeface="Microsoft JhengHei" pitchFamily="34" charset="0"/>
                <a:ea typeface="Microsoft JhengHei" pitchFamily="34" charset="-122"/>
                <a:cs typeface="Microsoft JhengHei" pitchFamily="34" charset="-120"/>
              </a:rPr>
              <a:t>1</a:t>
            </a:r>
            <a:endParaRPr lang="en-US" sz="1700" dirty="0"/>
          </a:p>
        </p:txBody>
      </p:sp>
      <p:sp>
        <p:nvSpPr>
          <p:cNvPr id="25" name="Shape 23"/>
          <p:cNvSpPr/>
          <p:nvPr/>
        </p:nvSpPr>
        <p:spPr>
          <a:xfrm>
            <a:off x="6117336" y="2039112"/>
            <a:ext cx="2606040" cy="731520"/>
          </a:xfrm>
          <a:prstGeom prst="rect">
            <a:avLst/>
          </a:prstGeom>
          <a:solidFill>
            <a:srgbClr val="DEEBF7"/>
          </a:solidFill>
          <a:ln/>
        </p:spPr>
        <p:txBody>
          <a:bodyPr/>
          <a:lstStyle/>
          <a:p>
            <a:endParaRPr lang="zh-TW" altLang="en-US"/>
          </a:p>
        </p:txBody>
      </p:sp>
      <p:sp>
        <p:nvSpPr>
          <p:cNvPr id="26" name="Shape 24"/>
          <p:cNvSpPr/>
          <p:nvPr/>
        </p:nvSpPr>
        <p:spPr>
          <a:xfrm>
            <a:off x="6117336" y="2039112"/>
            <a:ext cx="64008" cy="731520"/>
          </a:xfrm>
          <a:prstGeom prst="rect">
            <a:avLst/>
          </a:prstGeom>
          <a:solidFill>
            <a:srgbClr val="2E75B6"/>
          </a:solidFill>
          <a:ln/>
        </p:spPr>
        <p:txBody>
          <a:bodyPr/>
          <a:lstStyle/>
          <a:p>
            <a:endParaRPr lang="zh-TW" altLang="en-US"/>
          </a:p>
        </p:txBody>
      </p:sp>
      <p:sp>
        <p:nvSpPr>
          <p:cNvPr id="27" name="Text 25"/>
          <p:cNvSpPr/>
          <p:nvPr/>
        </p:nvSpPr>
        <p:spPr>
          <a:xfrm>
            <a:off x="6300216" y="2039112"/>
            <a:ext cx="1783080" cy="731520"/>
          </a:xfrm>
          <a:prstGeom prst="rect">
            <a:avLst/>
          </a:prstGeom>
          <a:noFill/>
          <a:ln/>
        </p:spPr>
        <p:txBody>
          <a:bodyPr wrap="square" lIns="0" tIns="0" rIns="0" bIns="0" rtlCol="0" anchor="ctr"/>
          <a:lstStyle/>
          <a:p>
            <a:pPr marL="0" indent="0">
              <a:buNone/>
            </a:pPr>
            <a:r>
              <a:rPr lang="en-US" sz="1300" b="1" dirty="0">
                <a:solidFill>
                  <a:srgbClr val="1F4E79"/>
                </a:solidFill>
                <a:latin typeface="Microsoft JhengHei" pitchFamily="34" charset="0"/>
                <a:ea typeface="Microsoft JhengHei" pitchFamily="34" charset="-122"/>
                <a:cs typeface="Microsoft JhengHei" pitchFamily="34" charset="-120"/>
              </a:rPr>
              <a:t>社會／旅遊史</a:t>
            </a:r>
            <a:endParaRPr lang="en-US" sz="1300" dirty="0"/>
          </a:p>
        </p:txBody>
      </p:sp>
      <p:sp>
        <p:nvSpPr>
          <p:cNvPr id="28" name="Text 26"/>
          <p:cNvSpPr/>
          <p:nvPr/>
        </p:nvSpPr>
        <p:spPr>
          <a:xfrm>
            <a:off x="7991856" y="2039112"/>
            <a:ext cx="640080" cy="731520"/>
          </a:xfrm>
          <a:prstGeom prst="rect">
            <a:avLst/>
          </a:prstGeom>
          <a:noFill/>
          <a:ln/>
        </p:spPr>
        <p:txBody>
          <a:bodyPr wrap="square" lIns="0" tIns="0" rIns="0" bIns="0" rtlCol="0" anchor="ctr"/>
          <a:lstStyle/>
          <a:p>
            <a:pPr marL="0" indent="0" algn="ctr">
              <a:buNone/>
            </a:pPr>
            <a:r>
              <a:rPr lang="en-US" sz="1700" b="1" dirty="0">
                <a:solidFill>
                  <a:srgbClr val="2E75B6"/>
                </a:solidFill>
                <a:latin typeface="Microsoft JhengHei" pitchFamily="34" charset="0"/>
                <a:ea typeface="Microsoft JhengHei" pitchFamily="34" charset="-122"/>
                <a:cs typeface="Microsoft JhengHei" pitchFamily="34" charset="-120"/>
              </a:rPr>
              <a:t>1</a:t>
            </a:r>
            <a:endParaRPr lang="en-US" sz="1700" dirty="0"/>
          </a:p>
        </p:txBody>
      </p:sp>
      <p:sp>
        <p:nvSpPr>
          <p:cNvPr id="29" name="Shape 27"/>
          <p:cNvSpPr/>
          <p:nvPr/>
        </p:nvSpPr>
        <p:spPr>
          <a:xfrm>
            <a:off x="502920" y="2907792"/>
            <a:ext cx="2606040" cy="731520"/>
          </a:xfrm>
          <a:prstGeom prst="rect">
            <a:avLst/>
          </a:prstGeom>
          <a:solidFill>
            <a:srgbClr val="DEEBF7"/>
          </a:solidFill>
          <a:ln/>
        </p:spPr>
        <p:txBody>
          <a:bodyPr/>
          <a:lstStyle/>
          <a:p>
            <a:endParaRPr lang="zh-TW" altLang="en-US"/>
          </a:p>
        </p:txBody>
      </p:sp>
      <p:sp>
        <p:nvSpPr>
          <p:cNvPr id="30" name="Shape 28"/>
          <p:cNvSpPr/>
          <p:nvPr/>
        </p:nvSpPr>
        <p:spPr>
          <a:xfrm>
            <a:off x="502920" y="2907792"/>
            <a:ext cx="64008" cy="731520"/>
          </a:xfrm>
          <a:prstGeom prst="rect">
            <a:avLst/>
          </a:prstGeom>
          <a:solidFill>
            <a:srgbClr val="2E75B6"/>
          </a:solidFill>
          <a:ln/>
        </p:spPr>
        <p:txBody>
          <a:bodyPr/>
          <a:lstStyle/>
          <a:p>
            <a:endParaRPr lang="zh-TW" altLang="en-US"/>
          </a:p>
        </p:txBody>
      </p:sp>
      <p:sp>
        <p:nvSpPr>
          <p:cNvPr id="31" name="Text 29"/>
          <p:cNvSpPr/>
          <p:nvPr/>
        </p:nvSpPr>
        <p:spPr>
          <a:xfrm>
            <a:off x="685800" y="2907792"/>
            <a:ext cx="1783080" cy="731520"/>
          </a:xfrm>
          <a:prstGeom prst="rect">
            <a:avLst/>
          </a:prstGeom>
          <a:noFill/>
          <a:ln/>
        </p:spPr>
        <p:txBody>
          <a:bodyPr wrap="square" lIns="0" tIns="0" rIns="0" bIns="0" rtlCol="0" anchor="ctr"/>
          <a:lstStyle/>
          <a:p>
            <a:pPr marL="0" indent="0">
              <a:buNone/>
            </a:pPr>
            <a:r>
              <a:rPr lang="en-US" sz="1300" b="1" dirty="0">
                <a:solidFill>
                  <a:srgbClr val="1F4E79"/>
                </a:solidFill>
                <a:latin typeface="Microsoft JhengHei" pitchFamily="34" charset="0"/>
                <a:ea typeface="Microsoft JhengHei" pitchFamily="34" charset="-122"/>
                <a:cs typeface="Microsoft JhengHei" pitchFamily="34" charset="-120"/>
              </a:rPr>
              <a:t>系統回顧</a:t>
            </a:r>
            <a:endParaRPr lang="en-US" sz="1300" dirty="0"/>
          </a:p>
        </p:txBody>
      </p:sp>
      <p:sp>
        <p:nvSpPr>
          <p:cNvPr id="32" name="Text 30"/>
          <p:cNvSpPr/>
          <p:nvPr/>
        </p:nvSpPr>
        <p:spPr>
          <a:xfrm>
            <a:off x="2377440" y="2907792"/>
            <a:ext cx="640080" cy="731520"/>
          </a:xfrm>
          <a:prstGeom prst="rect">
            <a:avLst/>
          </a:prstGeom>
          <a:noFill/>
          <a:ln/>
        </p:spPr>
        <p:txBody>
          <a:bodyPr wrap="square" lIns="0" tIns="0" rIns="0" bIns="0" rtlCol="0" anchor="ctr"/>
          <a:lstStyle/>
          <a:p>
            <a:pPr marL="0" indent="0" algn="ctr">
              <a:buNone/>
            </a:pPr>
            <a:r>
              <a:rPr lang="en-US" sz="1700" b="1" dirty="0">
                <a:solidFill>
                  <a:srgbClr val="2E75B6"/>
                </a:solidFill>
                <a:latin typeface="Microsoft JhengHei" pitchFamily="34" charset="0"/>
                <a:ea typeface="Microsoft JhengHei" pitchFamily="34" charset="-122"/>
                <a:cs typeface="Microsoft JhengHei" pitchFamily="34" charset="-120"/>
              </a:rPr>
              <a:t>1</a:t>
            </a:r>
            <a:endParaRPr lang="en-US" sz="1700" dirty="0"/>
          </a:p>
        </p:txBody>
      </p:sp>
      <p:sp>
        <p:nvSpPr>
          <p:cNvPr id="33" name="Shape 31"/>
          <p:cNvSpPr/>
          <p:nvPr/>
        </p:nvSpPr>
        <p:spPr>
          <a:xfrm>
            <a:off x="3310128" y="2907792"/>
            <a:ext cx="2606040" cy="731520"/>
          </a:xfrm>
          <a:prstGeom prst="rect">
            <a:avLst/>
          </a:prstGeom>
          <a:solidFill>
            <a:srgbClr val="DEEBF7"/>
          </a:solidFill>
          <a:ln/>
        </p:spPr>
        <p:txBody>
          <a:bodyPr/>
          <a:lstStyle/>
          <a:p>
            <a:endParaRPr lang="zh-TW" altLang="en-US"/>
          </a:p>
        </p:txBody>
      </p:sp>
      <p:sp>
        <p:nvSpPr>
          <p:cNvPr id="34" name="Shape 32"/>
          <p:cNvSpPr/>
          <p:nvPr/>
        </p:nvSpPr>
        <p:spPr>
          <a:xfrm>
            <a:off x="3310128" y="2907792"/>
            <a:ext cx="64008" cy="731520"/>
          </a:xfrm>
          <a:prstGeom prst="rect">
            <a:avLst/>
          </a:prstGeom>
          <a:solidFill>
            <a:srgbClr val="2E75B6"/>
          </a:solidFill>
          <a:ln/>
        </p:spPr>
        <p:txBody>
          <a:bodyPr/>
          <a:lstStyle/>
          <a:p>
            <a:endParaRPr lang="zh-TW" altLang="en-US"/>
          </a:p>
        </p:txBody>
      </p:sp>
      <p:sp>
        <p:nvSpPr>
          <p:cNvPr id="35" name="Text 33"/>
          <p:cNvSpPr/>
          <p:nvPr/>
        </p:nvSpPr>
        <p:spPr>
          <a:xfrm>
            <a:off x="3493008" y="2907792"/>
            <a:ext cx="1783080" cy="731520"/>
          </a:xfrm>
          <a:prstGeom prst="rect">
            <a:avLst/>
          </a:prstGeom>
          <a:noFill/>
          <a:ln/>
        </p:spPr>
        <p:txBody>
          <a:bodyPr wrap="square" lIns="0" tIns="0" rIns="0" bIns="0" rtlCol="0" anchor="ctr"/>
          <a:lstStyle/>
          <a:p>
            <a:pPr marL="0" indent="0">
              <a:buNone/>
            </a:pPr>
            <a:r>
              <a:rPr lang="en-US" sz="1300" b="1" dirty="0">
                <a:solidFill>
                  <a:srgbClr val="1F4E79"/>
                </a:solidFill>
                <a:latin typeface="Microsoft JhengHei" pitchFamily="34" charset="0"/>
                <a:ea typeface="Microsoft JhengHei" pitchFamily="34" charset="-122"/>
                <a:cs typeface="Microsoft JhengHei" pitchFamily="34" charset="-120"/>
              </a:rPr>
              <a:t>作結＋ICE</a:t>
            </a:r>
            <a:endParaRPr lang="en-US" sz="1300" dirty="0"/>
          </a:p>
        </p:txBody>
      </p:sp>
      <p:sp>
        <p:nvSpPr>
          <p:cNvPr id="36" name="Text 34"/>
          <p:cNvSpPr/>
          <p:nvPr/>
        </p:nvSpPr>
        <p:spPr>
          <a:xfrm>
            <a:off x="5184648" y="2907792"/>
            <a:ext cx="640080" cy="731520"/>
          </a:xfrm>
          <a:prstGeom prst="rect">
            <a:avLst/>
          </a:prstGeom>
          <a:noFill/>
          <a:ln/>
        </p:spPr>
        <p:txBody>
          <a:bodyPr wrap="square" lIns="0" tIns="0" rIns="0" bIns="0" rtlCol="0" anchor="ctr"/>
          <a:lstStyle/>
          <a:p>
            <a:pPr marL="0" indent="0" algn="ctr">
              <a:buNone/>
            </a:pPr>
            <a:r>
              <a:rPr lang="en-US" sz="1700" b="1" dirty="0">
                <a:solidFill>
                  <a:srgbClr val="2E75B6"/>
                </a:solidFill>
                <a:latin typeface="Microsoft JhengHei" pitchFamily="34" charset="0"/>
                <a:ea typeface="Microsoft JhengHei" pitchFamily="34" charset="-122"/>
                <a:cs typeface="Microsoft JhengHei" pitchFamily="34" charset="-120"/>
              </a:rPr>
              <a:t>1</a:t>
            </a:r>
            <a:endParaRPr lang="en-US" sz="1700" dirty="0"/>
          </a:p>
        </p:txBody>
      </p:sp>
      <p:sp>
        <p:nvSpPr>
          <p:cNvPr id="37" name="Shape 35"/>
          <p:cNvSpPr/>
          <p:nvPr/>
        </p:nvSpPr>
        <p:spPr>
          <a:xfrm>
            <a:off x="6117336" y="2907792"/>
            <a:ext cx="2606040" cy="731520"/>
          </a:xfrm>
          <a:prstGeom prst="rect">
            <a:avLst/>
          </a:prstGeom>
          <a:solidFill>
            <a:srgbClr val="DEEBF7"/>
          </a:solidFill>
          <a:ln/>
        </p:spPr>
        <p:txBody>
          <a:bodyPr/>
          <a:lstStyle/>
          <a:p>
            <a:endParaRPr lang="zh-TW" altLang="en-US"/>
          </a:p>
        </p:txBody>
      </p:sp>
      <p:sp>
        <p:nvSpPr>
          <p:cNvPr id="38" name="Shape 36"/>
          <p:cNvSpPr/>
          <p:nvPr/>
        </p:nvSpPr>
        <p:spPr>
          <a:xfrm>
            <a:off x="6117336" y="2907792"/>
            <a:ext cx="64008" cy="731520"/>
          </a:xfrm>
          <a:prstGeom prst="rect">
            <a:avLst/>
          </a:prstGeom>
          <a:solidFill>
            <a:srgbClr val="2E75B6"/>
          </a:solidFill>
          <a:ln/>
        </p:spPr>
        <p:txBody>
          <a:bodyPr/>
          <a:lstStyle/>
          <a:p>
            <a:endParaRPr lang="zh-TW" altLang="en-US"/>
          </a:p>
        </p:txBody>
      </p:sp>
      <p:sp>
        <p:nvSpPr>
          <p:cNvPr id="39" name="Text 37"/>
          <p:cNvSpPr/>
          <p:nvPr/>
        </p:nvSpPr>
        <p:spPr>
          <a:xfrm>
            <a:off x="6300216" y="2907792"/>
            <a:ext cx="1783080" cy="731520"/>
          </a:xfrm>
          <a:prstGeom prst="rect">
            <a:avLst/>
          </a:prstGeom>
          <a:noFill/>
          <a:ln/>
        </p:spPr>
        <p:txBody>
          <a:bodyPr wrap="square" lIns="0" tIns="0" rIns="0" bIns="0" rtlCol="0" anchor="ctr"/>
          <a:lstStyle/>
          <a:p>
            <a:pPr marL="0" indent="0">
              <a:buNone/>
            </a:pPr>
            <a:r>
              <a:rPr lang="en-US" sz="1300" b="1" dirty="0">
                <a:solidFill>
                  <a:srgbClr val="1F4E79"/>
                </a:solidFill>
                <a:latin typeface="Microsoft JhengHei" pitchFamily="34" charset="0"/>
                <a:ea typeface="Microsoft JhengHei" pitchFamily="34" charset="-122"/>
                <a:cs typeface="Microsoft JhengHei" pitchFamily="34" charset="-120"/>
              </a:rPr>
              <a:t>主題特異項（★）</a:t>
            </a:r>
            <a:endParaRPr lang="en-US" sz="1300" dirty="0"/>
          </a:p>
        </p:txBody>
      </p:sp>
      <p:sp>
        <p:nvSpPr>
          <p:cNvPr id="40" name="Text 38"/>
          <p:cNvSpPr/>
          <p:nvPr/>
        </p:nvSpPr>
        <p:spPr>
          <a:xfrm>
            <a:off x="7991856" y="2907792"/>
            <a:ext cx="640080" cy="731520"/>
          </a:xfrm>
          <a:prstGeom prst="rect">
            <a:avLst/>
          </a:prstGeom>
          <a:noFill/>
          <a:ln/>
        </p:spPr>
        <p:txBody>
          <a:bodyPr wrap="square" lIns="0" tIns="0" rIns="0" bIns="0" rtlCol="0" anchor="ctr"/>
          <a:lstStyle/>
          <a:p>
            <a:pPr marL="0" indent="0" algn="ctr">
              <a:buNone/>
            </a:pPr>
            <a:r>
              <a:rPr lang="en-US" sz="1700" b="1" dirty="0">
                <a:solidFill>
                  <a:srgbClr val="2E75B6"/>
                </a:solidFill>
                <a:latin typeface="Microsoft JhengHei" pitchFamily="34" charset="0"/>
                <a:ea typeface="Microsoft JhengHei" pitchFamily="34" charset="-122"/>
                <a:cs typeface="Microsoft JhengHei" pitchFamily="34" charset="-120"/>
              </a:rPr>
              <a:t>4–5</a:t>
            </a:r>
            <a:endParaRPr lang="en-US" sz="1700" dirty="0"/>
          </a:p>
        </p:txBody>
      </p:sp>
      <p:sp>
        <p:nvSpPr>
          <p:cNvPr id="41" name="Shape 39"/>
          <p:cNvSpPr/>
          <p:nvPr/>
        </p:nvSpPr>
        <p:spPr>
          <a:xfrm>
            <a:off x="502920" y="3886200"/>
            <a:ext cx="8138160" cy="777240"/>
          </a:xfrm>
          <a:prstGeom prst="rect">
            <a:avLst/>
          </a:prstGeom>
          <a:solidFill>
            <a:srgbClr val="1F4E79"/>
          </a:solidFill>
          <a:ln/>
        </p:spPr>
        <p:txBody>
          <a:bodyPr/>
          <a:lstStyle/>
          <a:p>
            <a:endParaRPr lang="zh-TW" altLang="en-US"/>
          </a:p>
        </p:txBody>
      </p:sp>
      <p:sp>
        <p:nvSpPr>
          <p:cNvPr id="42" name="Text 40"/>
          <p:cNvSpPr/>
          <p:nvPr/>
        </p:nvSpPr>
        <p:spPr>
          <a:xfrm>
            <a:off x="777240" y="3886200"/>
            <a:ext cx="7680960" cy="777240"/>
          </a:xfrm>
          <a:prstGeom prst="rect">
            <a:avLst/>
          </a:prstGeom>
          <a:noFill/>
          <a:ln/>
        </p:spPr>
        <p:txBody>
          <a:bodyPr wrap="square" lIns="0" tIns="0" rIns="0" bIns="0" rtlCol="0" anchor="ctr"/>
          <a:lstStyle/>
          <a:p>
            <a:pPr marL="0" indent="0">
              <a:lnSpc>
                <a:spcPct val="110000"/>
              </a:lnSpc>
              <a:buNone/>
            </a:pPr>
            <a:r>
              <a:rPr lang="en-US" sz="1350" b="1" dirty="0">
                <a:solidFill>
                  <a:srgbClr val="FFFFFF"/>
                </a:solidFill>
                <a:latin typeface="Microsoft JhengHei" pitchFamily="34" charset="0"/>
                <a:ea typeface="Microsoft JhengHei" pitchFamily="34" charset="-122"/>
                <a:cs typeface="Microsoft JhengHei" pitchFamily="34" charset="-120"/>
              </a:rPr>
              <a:t>國考檢核紅線：LQQOPERA 群組不得超過總項目 30%。</a:t>
            </a:r>
            <a:endParaRPr lang="en-US" sz="1350" dirty="0"/>
          </a:p>
          <a:p>
            <a:pPr marL="0" indent="0">
              <a:lnSpc>
                <a:spcPct val="110000"/>
              </a:lnSpc>
              <a:buNone/>
            </a:pPr>
            <a:r>
              <a:rPr lang="en-US" sz="1200" dirty="0">
                <a:solidFill>
                  <a:srgbClr val="BDD7EE"/>
                </a:solidFill>
                <a:latin typeface="Microsoft JhengHei" pitchFamily="34" charset="0"/>
                <a:ea typeface="Microsoft JhengHei" pitchFamily="34" charset="-122"/>
                <a:cs typeface="Microsoft JhengHei" pitchFamily="34" charset="-120"/>
              </a:rPr>
              <a:t>把分數留給鑑別診斷線索、危險因子、ICE——那才是高鑑別力所在</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641080" y="4828032"/>
            <a:ext cx="365760" cy="274320"/>
          </a:xfrm>
          <a:prstGeom prst="rect">
            <a:avLst/>
          </a:prstGeom>
          <a:noFill/>
          <a:ln/>
        </p:spPr>
        <p:txBody>
          <a:bodyPr wrap="square" lIns="0" tIns="0" rIns="0" bIns="0" rtlCol="0" anchor="ctr"/>
          <a:lstStyle/>
          <a:p>
            <a:pPr marL="0" indent="0" algn="r">
              <a:buNone/>
            </a:pPr>
            <a:r>
              <a:rPr lang="en-US" sz="1000" dirty="0">
                <a:solidFill>
                  <a:srgbClr val="5B6B7F"/>
                </a:solidFill>
                <a:latin typeface="Microsoft JhengHei" pitchFamily="34" charset="0"/>
                <a:ea typeface="Microsoft JhengHei" pitchFamily="34" charset="-122"/>
                <a:cs typeface="Microsoft JhengHei" pitchFamily="34" charset="-120"/>
              </a:rPr>
              <a:t>15</a:t>
            </a:r>
            <a:endParaRPr lang="en-US" sz="1000" dirty="0"/>
          </a:p>
        </p:txBody>
      </p:sp>
      <p:sp>
        <p:nvSpPr>
          <p:cNvPr id="3" name="Text 1"/>
          <p:cNvSpPr/>
          <p:nvPr/>
        </p:nvSpPr>
        <p:spPr>
          <a:xfrm>
            <a:off x="502920" y="201168"/>
            <a:ext cx="8046720" cy="274320"/>
          </a:xfrm>
          <a:prstGeom prst="rect">
            <a:avLst/>
          </a:prstGeom>
          <a:noFill/>
          <a:ln/>
        </p:spPr>
        <p:txBody>
          <a:bodyPr wrap="square" lIns="0" tIns="0" rIns="0" bIns="0" rtlCol="0" anchor="ctr"/>
          <a:lstStyle/>
          <a:p>
            <a:pPr marL="0" indent="0">
              <a:buNone/>
            </a:pPr>
            <a:r>
              <a:rPr lang="en-US" sz="1200" b="1" kern="0" spc="200" dirty="0">
                <a:solidFill>
                  <a:srgbClr val="2E75B6"/>
                </a:solidFill>
                <a:latin typeface="Microsoft JhengHei" pitchFamily="34" charset="0"/>
                <a:ea typeface="Microsoft JhengHei" pitchFamily="34" charset="-122"/>
                <a:cs typeface="Microsoft JhengHei" pitchFamily="34" charset="-120"/>
              </a:rPr>
              <a:t>STATION TYPE 2</a:t>
            </a:r>
            <a:endParaRPr lang="en-US" sz="1200" dirty="0"/>
          </a:p>
        </p:txBody>
      </p:sp>
      <p:sp>
        <p:nvSpPr>
          <p:cNvPr id="4" name="Text 2"/>
          <p:cNvSpPr/>
          <p:nvPr/>
        </p:nvSpPr>
        <p:spPr>
          <a:xfrm>
            <a:off x="502920" y="457200"/>
            <a:ext cx="8138160" cy="566928"/>
          </a:xfrm>
          <a:prstGeom prst="rect">
            <a:avLst/>
          </a:prstGeom>
          <a:noFill/>
          <a:ln/>
        </p:spPr>
        <p:txBody>
          <a:bodyPr wrap="square" lIns="0" tIns="0" rIns="0" bIns="0" rtlCol="0" anchor="ctr"/>
          <a:lstStyle/>
          <a:p>
            <a:pPr marL="0" indent="0">
              <a:buNone/>
            </a:pPr>
            <a:r>
              <a:rPr lang="en-US" sz="2700" b="1" dirty="0">
                <a:solidFill>
                  <a:srgbClr val="1F4E79"/>
                </a:solidFill>
                <a:latin typeface="Microsoft JhengHei" pitchFamily="34" charset="0"/>
                <a:ea typeface="Microsoft JhengHei" pitchFamily="34" charset="-122"/>
                <a:cs typeface="Microsoft JhengHei" pitchFamily="34" charset="-120"/>
              </a:rPr>
              <a:t>身體檢查站：IAPP 順序與可觀察步驟</a:t>
            </a:r>
            <a:endParaRPr lang="en-US" sz="2700" dirty="0"/>
          </a:p>
        </p:txBody>
      </p:sp>
      <p:sp>
        <p:nvSpPr>
          <p:cNvPr id="5" name="Shape 3"/>
          <p:cNvSpPr/>
          <p:nvPr/>
        </p:nvSpPr>
        <p:spPr>
          <a:xfrm>
            <a:off x="502920" y="1234440"/>
            <a:ext cx="1828800" cy="960120"/>
          </a:xfrm>
          <a:prstGeom prst="rect">
            <a:avLst/>
          </a:prstGeom>
          <a:solidFill>
            <a:srgbClr val="DEEBF7"/>
          </a:solidFill>
          <a:ln/>
        </p:spPr>
        <p:txBody>
          <a:bodyPr/>
          <a:lstStyle/>
          <a:p>
            <a:endParaRPr lang="zh-TW" altLang="en-US"/>
          </a:p>
        </p:txBody>
      </p:sp>
      <p:sp>
        <p:nvSpPr>
          <p:cNvPr id="6" name="Text 4"/>
          <p:cNvSpPr/>
          <p:nvPr/>
        </p:nvSpPr>
        <p:spPr>
          <a:xfrm>
            <a:off x="502920" y="1234440"/>
            <a:ext cx="1828800" cy="960120"/>
          </a:xfrm>
          <a:prstGeom prst="rect">
            <a:avLst/>
          </a:prstGeom>
          <a:noFill/>
          <a:ln/>
        </p:spPr>
        <p:txBody>
          <a:bodyPr wrap="square" lIns="0" tIns="0" rIns="0" bIns="0" rtlCol="0" anchor="ctr"/>
          <a:lstStyle/>
          <a:p>
            <a:pPr marL="0" indent="0" algn="ctr">
              <a:buNone/>
            </a:pPr>
            <a:r>
              <a:rPr lang="en-US" sz="1600" b="1" dirty="0">
                <a:solidFill>
                  <a:srgbClr val="1F4E79"/>
                </a:solidFill>
                <a:latin typeface="Microsoft JhengHei" pitchFamily="34" charset="0"/>
                <a:ea typeface="Microsoft JhengHei" pitchFamily="34" charset="-122"/>
                <a:cs typeface="Microsoft JhengHei" pitchFamily="34" charset="-120"/>
              </a:rPr>
              <a:t>視診</a:t>
            </a:r>
            <a:endParaRPr lang="en-US" sz="1600" dirty="0"/>
          </a:p>
          <a:p>
            <a:pPr marL="0" indent="0" algn="ctr">
              <a:buNone/>
            </a:pPr>
            <a:r>
              <a:rPr lang="en-US" sz="1050" dirty="0">
                <a:solidFill>
                  <a:srgbClr val="5B6B7F"/>
                </a:solidFill>
                <a:latin typeface="Microsoft JhengHei" pitchFamily="34" charset="0"/>
                <a:ea typeface="Microsoft JhengHei" pitchFamily="34" charset="-122"/>
                <a:cs typeface="Microsoft JhengHei" pitchFamily="34" charset="-120"/>
              </a:rPr>
              <a:t>Inspection</a:t>
            </a:r>
            <a:endParaRPr lang="en-US" sz="1600" dirty="0"/>
          </a:p>
        </p:txBody>
      </p:sp>
      <p:sp>
        <p:nvSpPr>
          <p:cNvPr id="7" name="Text 5"/>
          <p:cNvSpPr/>
          <p:nvPr/>
        </p:nvSpPr>
        <p:spPr>
          <a:xfrm>
            <a:off x="2313432" y="1234440"/>
            <a:ext cx="329184" cy="960120"/>
          </a:xfrm>
          <a:prstGeom prst="rect">
            <a:avLst/>
          </a:prstGeom>
          <a:noFill/>
          <a:ln/>
        </p:spPr>
        <p:txBody>
          <a:bodyPr wrap="square" lIns="0" tIns="0" rIns="0" bIns="0" rtlCol="0" anchor="ctr"/>
          <a:lstStyle/>
          <a:p>
            <a:pPr marL="0" indent="0" algn="ctr">
              <a:buNone/>
            </a:pPr>
            <a:r>
              <a:rPr lang="en-US" sz="1800" b="1" dirty="0">
                <a:solidFill>
                  <a:srgbClr val="2E75B6"/>
                </a:solidFill>
                <a:latin typeface="Microsoft JhengHei" pitchFamily="34" charset="0"/>
                <a:ea typeface="Microsoft JhengHei" pitchFamily="34" charset="-122"/>
                <a:cs typeface="Microsoft JhengHei" pitchFamily="34" charset="-120"/>
              </a:rPr>
              <a:t>→</a:t>
            </a:r>
            <a:endParaRPr lang="en-US" sz="1800" dirty="0"/>
          </a:p>
        </p:txBody>
      </p:sp>
      <p:sp>
        <p:nvSpPr>
          <p:cNvPr id="8" name="Shape 6"/>
          <p:cNvSpPr/>
          <p:nvPr/>
        </p:nvSpPr>
        <p:spPr>
          <a:xfrm>
            <a:off x="2624328" y="1234440"/>
            <a:ext cx="1828800" cy="960120"/>
          </a:xfrm>
          <a:prstGeom prst="rect">
            <a:avLst/>
          </a:prstGeom>
          <a:solidFill>
            <a:srgbClr val="1F4E79"/>
          </a:solidFill>
          <a:ln/>
        </p:spPr>
        <p:txBody>
          <a:bodyPr/>
          <a:lstStyle/>
          <a:p>
            <a:endParaRPr lang="zh-TW" altLang="en-US"/>
          </a:p>
        </p:txBody>
      </p:sp>
      <p:sp>
        <p:nvSpPr>
          <p:cNvPr id="9" name="Text 7"/>
          <p:cNvSpPr/>
          <p:nvPr/>
        </p:nvSpPr>
        <p:spPr>
          <a:xfrm>
            <a:off x="2624328" y="1234440"/>
            <a:ext cx="1828800" cy="960120"/>
          </a:xfrm>
          <a:prstGeom prst="rect">
            <a:avLst/>
          </a:prstGeom>
          <a:noFill/>
          <a:ln/>
        </p:spPr>
        <p:txBody>
          <a:bodyPr wrap="square" lIns="0" tIns="0" rIns="0" bIns="0" rtlCol="0" anchor="ctr"/>
          <a:lstStyle/>
          <a:p>
            <a:pPr marL="0" indent="0" algn="ctr">
              <a:buNone/>
            </a:pPr>
            <a:r>
              <a:rPr lang="en-US" sz="1600" b="1" dirty="0">
                <a:solidFill>
                  <a:srgbClr val="FFFFFF"/>
                </a:solidFill>
                <a:latin typeface="Microsoft JhengHei" pitchFamily="34" charset="0"/>
                <a:ea typeface="Microsoft JhengHei" pitchFamily="34" charset="-122"/>
                <a:cs typeface="Microsoft JhengHei" pitchFamily="34" charset="-120"/>
              </a:rPr>
              <a:t>聽診</a:t>
            </a:r>
            <a:endParaRPr lang="en-US" sz="1600" dirty="0"/>
          </a:p>
          <a:p>
            <a:pPr marL="0" indent="0" algn="ctr">
              <a:buNone/>
            </a:pPr>
            <a:r>
              <a:rPr lang="en-US" sz="1050" dirty="0">
                <a:solidFill>
                  <a:srgbClr val="BDD7EE"/>
                </a:solidFill>
                <a:latin typeface="Microsoft JhengHei" pitchFamily="34" charset="0"/>
                <a:ea typeface="Microsoft JhengHei" pitchFamily="34" charset="-122"/>
                <a:cs typeface="Microsoft JhengHei" pitchFamily="34" charset="-120"/>
              </a:rPr>
              <a:t>Auscultation</a:t>
            </a:r>
            <a:endParaRPr lang="en-US" sz="1600" dirty="0"/>
          </a:p>
        </p:txBody>
      </p:sp>
      <p:sp>
        <p:nvSpPr>
          <p:cNvPr id="10" name="Text 8"/>
          <p:cNvSpPr/>
          <p:nvPr/>
        </p:nvSpPr>
        <p:spPr>
          <a:xfrm>
            <a:off x="4434840" y="1234440"/>
            <a:ext cx="329184" cy="960120"/>
          </a:xfrm>
          <a:prstGeom prst="rect">
            <a:avLst/>
          </a:prstGeom>
          <a:noFill/>
          <a:ln/>
        </p:spPr>
        <p:txBody>
          <a:bodyPr wrap="square" lIns="0" tIns="0" rIns="0" bIns="0" rtlCol="0" anchor="ctr"/>
          <a:lstStyle/>
          <a:p>
            <a:pPr marL="0" indent="0" algn="ctr">
              <a:buNone/>
            </a:pPr>
            <a:r>
              <a:rPr lang="en-US" sz="1800" b="1" dirty="0">
                <a:solidFill>
                  <a:srgbClr val="2E75B6"/>
                </a:solidFill>
                <a:latin typeface="Microsoft JhengHei" pitchFamily="34" charset="0"/>
                <a:ea typeface="Microsoft JhengHei" pitchFamily="34" charset="-122"/>
                <a:cs typeface="Microsoft JhengHei" pitchFamily="34" charset="-120"/>
              </a:rPr>
              <a:t>→</a:t>
            </a:r>
            <a:endParaRPr lang="en-US" sz="1800" dirty="0"/>
          </a:p>
        </p:txBody>
      </p:sp>
      <p:sp>
        <p:nvSpPr>
          <p:cNvPr id="11" name="Shape 9"/>
          <p:cNvSpPr/>
          <p:nvPr/>
        </p:nvSpPr>
        <p:spPr>
          <a:xfrm>
            <a:off x="4745736" y="1234440"/>
            <a:ext cx="1828800" cy="960120"/>
          </a:xfrm>
          <a:prstGeom prst="rect">
            <a:avLst/>
          </a:prstGeom>
          <a:solidFill>
            <a:srgbClr val="DEEBF7"/>
          </a:solidFill>
          <a:ln/>
        </p:spPr>
        <p:txBody>
          <a:bodyPr/>
          <a:lstStyle/>
          <a:p>
            <a:endParaRPr lang="zh-TW" altLang="en-US"/>
          </a:p>
        </p:txBody>
      </p:sp>
      <p:sp>
        <p:nvSpPr>
          <p:cNvPr id="12" name="Text 10"/>
          <p:cNvSpPr/>
          <p:nvPr/>
        </p:nvSpPr>
        <p:spPr>
          <a:xfrm>
            <a:off x="4745736" y="1234440"/>
            <a:ext cx="1828800" cy="960120"/>
          </a:xfrm>
          <a:prstGeom prst="rect">
            <a:avLst/>
          </a:prstGeom>
          <a:noFill/>
          <a:ln/>
        </p:spPr>
        <p:txBody>
          <a:bodyPr wrap="square" lIns="0" tIns="0" rIns="0" bIns="0" rtlCol="0" anchor="ctr"/>
          <a:lstStyle/>
          <a:p>
            <a:pPr marL="0" indent="0" algn="ctr">
              <a:buNone/>
            </a:pPr>
            <a:r>
              <a:rPr lang="en-US" sz="1600" b="1" dirty="0">
                <a:solidFill>
                  <a:srgbClr val="1F4E79"/>
                </a:solidFill>
                <a:latin typeface="Microsoft JhengHei" pitchFamily="34" charset="0"/>
                <a:ea typeface="Microsoft JhengHei" pitchFamily="34" charset="-122"/>
                <a:cs typeface="Microsoft JhengHei" pitchFamily="34" charset="-120"/>
              </a:rPr>
              <a:t>叩診</a:t>
            </a:r>
            <a:endParaRPr lang="en-US" sz="1600" dirty="0"/>
          </a:p>
          <a:p>
            <a:pPr marL="0" indent="0" algn="ctr">
              <a:buNone/>
            </a:pPr>
            <a:r>
              <a:rPr lang="en-US" sz="1050" dirty="0">
                <a:solidFill>
                  <a:srgbClr val="5B6B7F"/>
                </a:solidFill>
                <a:latin typeface="Microsoft JhengHei" pitchFamily="34" charset="0"/>
                <a:ea typeface="Microsoft JhengHei" pitchFamily="34" charset="-122"/>
                <a:cs typeface="Microsoft JhengHei" pitchFamily="34" charset="-120"/>
              </a:rPr>
              <a:t>Percussion</a:t>
            </a:r>
            <a:endParaRPr lang="en-US" sz="1600" dirty="0"/>
          </a:p>
        </p:txBody>
      </p:sp>
      <p:sp>
        <p:nvSpPr>
          <p:cNvPr id="13" name="Text 11"/>
          <p:cNvSpPr/>
          <p:nvPr/>
        </p:nvSpPr>
        <p:spPr>
          <a:xfrm>
            <a:off x="6556248" y="1234440"/>
            <a:ext cx="329184" cy="960120"/>
          </a:xfrm>
          <a:prstGeom prst="rect">
            <a:avLst/>
          </a:prstGeom>
          <a:noFill/>
          <a:ln/>
        </p:spPr>
        <p:txBody>
          <a:bodyPr wrap="square" lIns="0" tIns="0" rIns="0" bIns="0" rtlCol="0" anchor="ctr"/>
          <a:lstStyle/>
          <a:p>
            <a:pPr marL="0" indent="0" algn="ctr">
              <a:buNone/>
            </a:pPr>
            <a:r>
              <a:rPr lang="en-US" sz="1800" b="1" dirty="0">
                <a:solidFill>
                  <a:srgbClr val="2E75B6"/>
                </a:solidFill>
                <a:latin typeface="Microsoft JhengHei" pitchFamily="34" charset="0"/>
                <a:ea typeface="Microsoft JhengHei" pitchFamily="34" charset="-122"/>
                <a:cs typeface="Microsoft JhengHei" pitchFamily="34" charset="-120"/>
              </a:rPr>
              <a:t>→</a:t>
            </a:r>
            <a:endParaRPr lang="en-US" sz="1800" dirty="0"/>
          </a:p>
        </p:txBody>
      </p:sp>
      <p:sp>
        <p:nvSpPr>
          <p:cNvPr id="14" name="Shape 12"/>
          <p:cNvSpPr/>
          <p:nvPr/>
        </p:nvSpPr>
        <p:spPr>
          <a:xfrm>
            <a:off x="6867144" y="1234440"/>
            <a:ext cx="1828800" cy="960120"/>
          </a:xfrm>
          <a:prstGeom prst="rect">
            <a:avLst/>
          </a:prstGeom>
          <a:solidFill>
            <a:srgbClr val="DEEBF7"/>
          </a:solidFill>
          <a:ln/>
        </p:spPr>
        <p:txBody>
          <a:bodyPr/>
          <a:lstStyle/>
          <a:p>
            <a:endParaRPr lang="zh-TW" altLang="en-US"/>
          </a:p>
        </p:txBody>
      </p:sp>
      <p:sp>
        <p:nvSpPr>
          <p:cNvPr id="15" name="Text 13"/>
          <p:cNvSpPr/>
          <p:nvPr/>
        </p:nvSpPr>
        <p:spPr>
          <a:xfrm>
            <a:off x="6867144" y="1234440"/>
            <a:ext cx="1828800" cy="960120"/>
          </a:xfrm>
          <a:prstGeom prst="rect">
            <a:avLst/>
          </a:prstGeom>
          <a:noFill/>
          <a:ln/>
        </p:spPr>
        <p:txBody>
          <a:bodyPr wrap="square" lIns="0" tIns="0" rIns="0" bIns="0" rtlCol="0" anchor="ctr"/>
          <a:lstStyle/>
          <a:p>
            <a:pPr marL="0" indent="0" algn="ctr">
              <a:buNone/>
            </a:pPr>
            <a:r>
              <a:rPr lang="en-US" sz="1600" b="1" dirty="0">
                <a:solidFill>
                  <a:srgbClr val="1F4E79"/>
                </a:solidFill>
                <a:latin typeface="Microsoft JhengHei" pitchFamily="34" charset="0"/>
                <a:ea typeface="Microsoft JhengHei" pitchFamily="34" charset="-122"/>
                <a:cs typeface="Microsoft JhengHei" pitchFamily="34" charset="-120"/>
              </a:rPr>
              <a:t>觸診</a:t>
            </a:r>
            <a:endParaRPr lang="en-US" sz="1600" dirty="0"/>
          </a:p>
          <a:p>
            <a:pPr marL="0" indent="0" algn="ctr">
              <a:buNone/>
            </a:pPr>
            <a:r>
              <a:rPr lang="en-US" sz="1050" dirty="0">
                <a:solidFill>
                  <a:srgbClr val="5B6B7F"/>
                </a:solidFill>
                <a:latin typeface="Microsoft JhengHei" pitchFamily="34" charset="0"/>
                <a:ea typeface="Microsoft JhengHei" pitchFamily="34" charset="-122"/>
                <a:cs typeface="Microsoft JhengHei" pitchFamily="34" charset="-120"/>
              </a:rPr>
              <a:t>Palpation</a:t>
            </a:r>
            <a:endParaRPr lang="en-US" sz="1600" dirty="0"/>
          </a:p>
        </p:txBody>
      </p:sp>
      <p:sp>
        <p:nvSpPr>
          <p:cNvPr id="16" name="Text 14"/>
          <p:cNvSpPr/>
          <p:nvPr/>
        </p:nvSpPr>
        <p:spPr>
          <a:xfrm>
            <a:off x="502920" y="2331720"/>
            <a:ext cx="8138160" cy="320040"/>
          </a:xfrm>
          <a:prstGeom prst="rect">
            <a:avLst/>
          </a:prstGeom>
          <a:noFill/>
          <a:ln/>
        </p:spPr>
        <p:txBody>
          <a:bodyPr wrap="square" lIns="0" tIns="0" rIns="0" bIns="0" rtlCol="0" anchor="ctr"/>
          <a:lstStyle/>
          <a:p>
            <a:pPr marL="0" indent="0">
              <a:buNone/>
            </a:pPr>
            <a:r>
              <a:rPr lang="en-US" sz="1300" b="1" dirty="0">
                <a:solidFill>
                  <a:srgbClr val="C00000"/>
                </a:solidFill>
                <a:latin typeface="Microsoft JhengHei" pitchFamily="34" charset="0"/>
                <a:ea typeface="Microsoft JhengHei" pitchFamily="34" charset="-122"/>
                <a:cs typeface="Microsoft JhengHei" pitchFamily="34" charset="-120"/>
              </a:rPr>
              <a:t>腹部檢查：聽診必須在叩診、觸診之前——順序錯，腸音就被你揉出來了</a:t>
            </a:r>
            <a:endParaRPr lang="en-US" sz="1300" dirty="0"/>
          </a:p>
        </p:txBody>
      </p:sp>
      <p:sp>
        <p:nvSpPr>
          <p:cNvPr id="17" name="Text 15"/>
          <p:cNvSpPr/>
          <p:nvPr/>
        </p:nvSpPr>
        <p:spPr>
          <a:xfrm>
            <a:off x="548640" y="2834640"/>
            <a:ext cx="8092440" cy="192024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1F2937"/>
                </a:solidFill>
                <a:latin typeface="Microsoft JhengHei" pitchFamily="34" charset="0"/>
                <a:ea typeface="Microsoft JhengHei" pitchFamily="34" charset="-122"/>
                <a:cs typeface="Microsoft JhengHei" pitchFamily="34" charset="-120"/>
              </a:rPr>
              <a:t>項目分配：基本態度（2）→ 視診（1–2）→ IAPP 系統檢查（4–6）→ 診斷特定徵象（4–6）→ 作結口頭報告（1–2）</a:t>
            </a:r>
            <a:endParaRPr lang="en-US" sz="1300" dirty="0"/>
          </a:p>
          <a:p>
            <a:pPr marL="342900" indent="-342900">
              <a:spcAft>
                <a:spcPts val="800"/>
              </a:spcAft>
              <a:buSzPct val="100000"/>
              <a:buChar char="•"/>
            </a:pPr>
            <a:r>
              <a:rPr lang="en-US" sz="1300" dirty="0">
                <a:solidFill>
                  <a:srgbClr val="1F2937"/>
                </a:solidFill>
                <a:latin typeface="Microsoft JhengHei" pitchFamily="34" charset="0"/>
                <a:ea typeface="Microsoft JhengHei" pitchFamily="34" charset="-122"/>
                <a:cs typeface="Microsoft JhengHei" pitchFamily="34" charset="-120"/>
              </a:rPr>
              <a:t>考生指引必須明示「檢查部位／系統」與「不評分項目」（例：本站不評分病史詢問）</a:t>
            </a:r>
            <a:endParaRPr lang="en-US" sz="1300" dirty="0"/>
          </a:p>
          <a:p>
            <a:pPr marL="342900" indent="-342900">
              <a:spcAft>
                <a:spcPts val="800"/>
              </a:spcAft>
              <a:buSzPct val="100000"/>
              <a:buChar char="•"/>
            </a:pPr>
            <a:r>
              <a:rPr lang="en-US" sz="1300" dirty="0">
                <a:solidFill>
                  <a:srgbClr val="1F2937"/>
                </a:solidFill>
                <a:latin typeface="Microsoft JhengHei" pitchFamily="34" charset="0"/>
                <a:ea typeface="Microsoft JhengHei" pitchFamily="34" charset="-122"/>
                <a:cs typeface="Microsoft JhengHei" pitchFamily="34" charset="-120"/>
              </a:rPr>
              <a:t>用聚焦、可觀察的步驟評分；「腹部檢查表現良好」這種含糊給分不可</a:t>
            </a:r>
            <a:endParaRPr lang="en-US" sz="1300" dirty="0"/>
          </a:p>
          <a:p>
            <a:pPr marL="342900" indent="-342900">
              <a:spcAft>
                <a:spcPts val="800"/>
              </a:spcAft>
              <a:buSzPct val="100000"/>
              <a:buChar char="•"/>
            </a:pPr>
            <a:r>
              <a:rPr lang="en-US" sz="1300" dirty="0">
                <a:solidFill>
                  <a:srgbClr val="1F2937"/>
                </a:solidFill>
                <a:latin typeface="Microsoft JhengHei" pitchFamily="34" charset="0"/>
                <a:ea typeface="Microsoft JhengHei" pitchFamily="34" charset="-122"/>
                <a:cs typeface="Microsoft JhengHei" pitchFamily="34" charset="-120"/>
              </a:rPr>
              <a:t>無法模擬的徵象（黃疸、紅疹、傷口）用照片或報告呈現，並定義考生如何辨識</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641080" y="4828032"/>
            <a:ext cx="365760" cy="274320"/>
          </a:xfrm>
          <a:prstGeom prst="rect">
            <a:avLst/>
          </a:prstGeom>
          <a:noFill/>
          <a:ln/>
        </p:spPr>
        <p:txBody>
          <a:bodyPr wrap="square" lIns="0" tIns="0" rIns="0" bIns="0" rtlCol="0" anchor="ctr"/>
          <a:lstStyle/>
          <a:p>
            <a:pPr marL="0" indent="0" algn="r">
              <a:buNone/>
            </a:pPr>
            <a:r>
              <a:rPr lang="en-US" sz="1000" dirty="0">
                <a:solidFill>
                  <a:srgbClr val="5B6B7F"/>
                </a:solidFill>
                <a:latin typeface="Microsoft JhengHei" pitchFamily="34" charset="0"/>
                <a:ea typeface="Microsoft JhengHei" pitchFamily="34" charset="-122"/>
                <a:cs typeface="Microsoft JhengHei" pitchFamily="34" charset="-120"/>
              </a:rPr>
              <a:t>16</a:t>
            </a:r>
            <a:endParaRPr lang="en-US" sz="1000" dirty="0"/>
          </a:p>
        </p:txBody>
      </p:sp>
      <p:sp>
        <p:nvSpPr>
          <p:cNvPr id="3" name="Text 1"/>
          <p:cNvSpPr/>
          <p:nvPr/>
        </p:nvSpPr>
        <p:spPr>
          <a:xfrm>
            <a:off x="502920" y="201168"/>
            <a:ext cx="8046720" cy="274320"/>
          </a:xfrm>
          <a:prstGeom prst="rect">
            <a:avLst/>
          </a:prstGeom>
          <a:noFill/>
          <a:ln/>
        </p:spPr>
        <p:txBody>
          <a:bodyPr wrap="square" lIns="0" tIns="0" rIns="0" bIns="0" rtlCol="0" anchor="ctr"/>
          <a:lstStyle/>
          <a:p>
            <a:pPr marL="0" indent="0">
              <a:buNone/>
            </a:pPr>
            <a:r>
              <a:rPr lang="en-US" sz="1200" b="1" kern="0" spc="200" dirty="0">
                <a:solidFill>
                  <a:srgbClr val="2E75B6"/>
                </a:solidFill>
                <a:latin typeface="Microsoft JhengHei" pitchFamily="34" charset="0"/>
                <a:ea typeface="Microsoft JhengHei" pitchFamily="34" charset="-122"/>
                <a:cs typeface="Microsoft JhengHei" pitchFamily="34" charset="-120"/>
              </a:rPr>
              <a:t>STATION TYPE 3–4</a:t>
            </a:r>
            <a:endParaRPr lang="en-US" sz="1200" dirty="0"/>
          </a:p>
        </p:txBody>
      </p:sp>
      <p:sp>
        <p:nvSpPr>
          <p:cNvPr id="4" name="Text 2"/>
          <p:cNvSpPr/>
          <p:nvPr/>
        </p:nvSpPr>
        <p:spPr>
          <a:xfrm>
            <a:off x="502920" y="457200"/>
            <a:ext cx="8138160" cy="566928"/>
          </a:xfrm>
          <a:prstGeom prst="rect">
            <a:avLst/>
          </a:prstGeom>
          <a:noFill/>
          <a:ln/>
        </p:spPr>
        <p:txBody>
          <a:bodyPr wrap="square" lIns="0" tIns="0" rIns="0" bIns="0" rtlCol="0" anchor="ctr"/>
          <a:lstStyle/>
          <a:p>
            <a:pPr marL="0" indent="0">
              <a:buNone/>
            </a:pPr>
            <a:r>
              <a:rPr lang="en-US" sz="2700" b="1" dirty="0">
                <a:solidFill>
                  <a:srgbClr val="1F4E79"/>
                </a:solidFill>
                <a:latin typeface="Microsoft JhengHei" pitchFamily="34" charset="0"/>
                <a:ea typeface="Microsoft JhengHei" pitchFamily="34" charset="-122"/>
                <a:cs typeface="Microsoft JhengHei" pitchFamily="34" charset="-120"/>
              </a:rPr>
              <a:t>溝通衛教站／病情解釋站</a:t>
            </a:r>
            <a:endParaRPr lang="en-US" sz="2700" dirty="0"/>
          </a:p>
        </p:txBody>
      </p:sp>
      <p:sp>
        <p:nvSpPr>
          <p:cNvPr id="5" name="Shape 3"/>
          <p:cNvSpPr/>
          <p:nvPr/>
        </p:nvSpPr>
        <p:spPr>
          <a:xfrm>
            <a:off x="502920" y="1188720"/>
            <a:ext cx="3931920" cy="3017520"/>
          </a:xfrm>
          <a:prstGeom prst="rect">
            <a:avLst/>
          </a:prstGeom>
          <a:solidFill>
            <a:srgbClr val="DEEBF7"/>
          </a:solidFill>
          <a:ln/>
        </p:spPr>
        <p:txBody>
          <a:bodyPr/>
          <a:lstStyle/>
          <a:p>
            <a:endParaRPr lang="zh-TW" altLang="en-US"/>
          </a:p>
        </p:txBody>
      </p:sp>
      <p:sp>
        <p:nvSpPr>
          <p:cNvPr id="6" name="Shape 4"/>
          <p:cNvSpPr/>
          <p:nvPr/>
        </p:nvSpPr>
        <p:spPr>
          <a:xfrm>
            <a:off x="502920" y="1188720"/>
            <a:ext cx="64008" cy="3017520"/>
          </a:xfrm>
          <a:prstGeom prst="rect">
            <a:avLst/>
          </a:prstGeom>
          <a:solidFill>
            <a:srgbClr val="2E75B6"/>
          </a:solidFill>
          <a:ln/>
        </p:spPr>
        <p:txBody>
          <a:bodyPr/>
          <a:lstStyle/>
          <a:p>
            <a:endParaRPr lang="zh-TW" altLang="en-US"/>
          </a:p>
        </p:txBody>
      </p:sp>
      <p:sp>
        <p:nvSpPr>
          <p:cNvPr id="7" name="Text 5"/>
          <p:cNvSpPr/>
          <p:nvPr/>
        </p:nvSpPr>
        <p:spPr>
          <a:xfrm>
            <a:off x="731520" y="1298448"/>
            <a:ext cx="3474720" cy="320040"/>
          </a:xfrm>
          <a:prstGeom prst="rect">
            <a:avLst/>
          </a:prstGeom>
          <a:noFill/>
          <a:ln/>
        </p:spPr>
        <p:txBody>
          <a:bodyPr wrap="square" lIns="0" tIns="0" rIns="0" bIns="0" rtlCol="0" anchor="ctr"/>
          <a:lstStyle/>
          <a:p>
            <a:pPr marL="0" indent="0">
              <a:buNone/>
            </a:pPr>
            <a:r>
              <a:rPr lang="en-US" sz="1500" b="1" dirty="0">
                <a:solidFill>
                  <a:srgbClr val="1F4E79"/>
                </a:solidFill>
                <a:latin typeface="Microsoft JhengHei" pitchFamily="34" charset="0"/>
                <a:ea typeface="Microsoft JhengHei" pitchFamily="34" charset="-122"/>
                <a:cs typeface="Microsoft JhengHei" pitchFamily="34" charset="-120"/>
              </a:rPr>
              <a:t>醫病溝通與衛教</a:t>
            </a:r>
            <a:endParaRPr lang="en-US" sz="1500" dirty="0"/>
          </a:p>
        </p:txBody>
      </p:sp>
      <p:sp>
        <p:nvSpPr>
          <p:cNvPr id="8" name="Text 6"/>
          <p:cNvSpPr/>
          <p:nvPr/>
        </p:nvSpPr>
        <p:spPr>
          <a:xfrm>
            <a:off x="731520" y="1691640"/>
            <a:ext cx="3520440" cy="182880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1F2937"/>
                </a:solidFill>
                <a:latin typeface="Microsoft JhengHei" pitchFamily="34" charset="0"/>
                <a:ea typeface="Microsoft JhengHei" pitchFamily="34" charset="-122"/>
                <a:cs typeface="Microsoft JhengHei" pitchFamily="34" charset="-120"/>
              </a:rPr>
              <a:t>建立關係／同理（2）</a:t>
            </a:r>
            <a:endParaRPr lang="en-US" sz="1250" dirty="0"/>
          </a:p>
          <a:p>
            <a:pPr marL="342900" indent="-342900">
              <a:spcAft>
                <a:spcPts val="600"/>
              </a:spcAft>
              <a:buSzPct val="100000"/>
              <a:buChar char="•"/>
            </a:pPr>
            <a:r>
              <a:rPr lang="en-US" sz="1250" dirty="0">
                <a:solidFill>
                  <a:srgbClr val="1F2937"/>
                </a:solidFill>
                <a:latin typeface="Microsoft JhengHei" pitchFamily="34" charset="0"/>
                <a:ea typeface="Microsoft JhengHei" pitchFamily="34" charset="-122"/>
                <a:cs typeface="Microsoft JhengHei" pitchFamily="34" charset="-120"/>
              </a:rPr>
              <a:t>確認現況理解（1）</a:t>
            </a:r>
            <a:endParaRPr lang="en-US" sz="1250" dirty="0"/>
          </a:p>
          <a:p>
            <a:pPr marL="342900" indent="-342900">
              <a:spcAft>
                <a:spcPts val="600"/>
              </a:spcAft>
              <a:buSzPct val="100000"/>
              <a:buChar char="•"/>
            </a:pPr>
            <a:r>
              <a:rPr lang="en-US" sz="1250" dirty="0">
                <a:solidFill>
                  <a:srgbClr val="1F2937"/>
                </a:solidFill>
                <a:latin typeface="Microsoft JhengHei" pitchFamily="34" charset="0"/>
                <a:ea typeface="Microsoft JhengHei" pitchFamily="34" charset="-122"/>
                <a:cs typeface="Microsoft JhengHei" pitchFamily="34" charset="-120"/>
              </a:rPr>
              <a:t>衛教資訊分塊給（6–8）</a:t>
            </a:r>
            <a:endParaRPr lang="en-US" sz="1250" dirty="0"/>
          </a:p>
          <a:p>
            <a:pPr marL="342900" indent="-342900">
              <a:spcAft>
                <a:spcPts val="600"/>
              </a:spcAft>
              <a:buSzPct val="100000"/>
              <a:buChar char="•"/>
            </a:pPr>
            <a:r>
              <a:rPr lang="en-US" sz="1250" b="1" dirty="0">
                <a:solidFill>
                  <a:srgbClr val="C00000"/>
                </a:solidFill>
                <a:latin typeface="Microsoft JhengHei" pitchFamily="34" charset="0"/>
                <a:ea typeface="Microsoft JhengHei" pitchFamily="34" charset="-122"/>
                <a:cs typeface="Microsoft JhengHei" pitchFamily="34" charset="-120"/>
              </a:rPr>
              <a:t>Teach-back（1）——不可省略</a:t>
            </a:r>
            <a:endParaRPr lang="en-US" sz="1250" dirty="0"/>
          </a:p>
          <a:p>
            <a:pPr marL="342900" indent="-342900">
              <a:spcAft>
                <a:spcPts val="600"/>
              </a:spcAft>
              <a:buSzPct val="100000"/>
              <a:buChar char="•"/>
            </a:pPr>
            <a:r>
              <a:rPr lang="en-US" sz="1250" dirty="0">
                <a:solidFill>
                  <a:srgbClr val="1F2937"/>
                </a:solidFill>
                <a:latin typeface="Microsoft JhengHei" pitchFamily="34" charset="0"/>
                <a:ea typeface="Microsoft JhengHei" pitchFamily="34" charset="-122"/>
                <a:cs typeface="Microsoft JhengHei" pitchFamily="34" charset="-120"/>
              </a:rPr>
              <a:t>結尾／追蹤（2–3）</a:t>
            </a:r>
            <a:endParaRPr lang="en-US" sz="1250" dirty="0"/>
          </a:p>
        </p:txBody>
      </p:sp>
      <p:sp>
        <p:nvSpPr>
          <p:cNvPr id="9" name="Text 7"/>
          <p:cNvSpPr/>
          <p:nvPr/>
        </p:nvSpPr>
        <p:spPr>
          <a:xfrm>
            <a:off x="731520" y="3703320"/>
            <a:ext cx="3520440" cy="457200"/>
          </a:xfrm>
          <a:prstGeom prst="rect">
            <a:avLst/>
          </a:prstGeom>
          <a:noFill/>
          <a:ln/>
        </p:spPr>
        <p:txBody>
          <a:bodyPr wrap="square" lIns="0" tIns="0" rIns="0" bIns="0" rtlCol="0" anchor="ctr"/>
          <a:lstStyle/>
          <a:p>
            <a:pPr marL="0" indent="0">
              <a:buNone/>
            </a:pPr>
            <a:r>
              <a:rPr lang="en-US" sz="1100" i="1" dirty="0">
                <a:solidFill>
                  <a:srgbClr val="5B6B7F"/>
                </a:solidFill>
                <a:latin typeface="Microsoft JhengHei" pitchFamily="34" charset="0"/>
                <a:ea typeface="Microsoft JhengHei" pitchFamily="34" charset="-122"/>
                <a:cs typeface="Microsoft JhengHei" pitchFamily="34" charset="-120"/>
              </a:rPr>
              <a:t>別讓禮貌性項目主導評分——溝通品質要支持臨床任務</a:t>
            </a:r>
            <a:endParaRPr lang="en-US" sz="1100" dirty="0"/>
          </a:p>
        </p:txBody>
      </p:sp>
      <p:sp>
        <p:nvSpPr>
          <p:cNvPr id="10" name="Shape 8"/>
          <p:cNvSpPr/>
          <p:nvPr/>
        </p:nvSpPr>
        <p:spPr>
          <a:xfrm>
            <a:off x="4709160" y="1188720"/>
            <a:ext cx="3931920" cy="3017520"/>
          </a:xfrm>
          <a:prstGeom prst="rect">
            <a:avLst/>
          </a:prstGeom>
          <a:solidFill>
            <a:srgbClr val="DEEBF7"/>
          </a:solidFill>
          <a:ln/>
        </p:spPr>
        <p:txBody>
          <a:bodyPr/>
          <a:lstStyle/>
          <a:p>
            <a:endParaRPr lang="zh-TW" altLang="en-US"/>
          </a:p>
        </p:txBody>
      </p:sp>
      <p:sp>
        <p:nvSpPr>
          <p:cNvPr id="11" name="Shape 9"/>
          <p:cNvSpPr/>
          <p:nvPr/>
        </p:nvSpPr>
        <p:spPr>
          <a:xfrm>
            <a:off x="4709160" y="1188720"/>
            <a:ext cx="64008" cy="3017520"/>
          </a:xfrm>
          <a:prstGeom prst="rect">
            <a:avLst/>
          </a:prstGeom>
          <a:solidFill>
            <a:srgbClr val="2E75B6"/>
          </a:solidFill>
          <a:ln/>
        </p:spPr>
        <p:txBody>
          <a:bodyPr/>
          <a:lstStyle/>
          <a:p>
            <a:endParaRPr lang="zh-TW" altLang="en-US"/>
          </a:p>
        </p:txBody>
      </p:sp>
      <p:sp>
        <p:nvSpPr>
          <p:cNvPr id="12" name="Text 10"/>
          <p:cNvSpPr/>
          <p:nvPr/>
        </p:nvSpPr>
        <p:spPr>
          <a:xfrm>
            <a:off x="4937760" y="1298448"/>
            <a:ext cx="3474720" cy="320040"/>
          </a:xfrm>
          <a:prstGeom prst="rect">
            <a:avLst/>
          </a:prstGeom>
          <a:noFill/>
          <a:ln/>
        </p:spPr>
        <p:txBody>
          <a:bodyPr wrap="square" lIns="0" tIns="0" rIns="0" bIns="0" rtlCol="0" anchor="ctr"/>
          <a:lstStyle/>
          <a:p>
            <a:pPr marL="0" indent="0">
              <a:buNone/>
            </a:pPr>
            <a:r>
              <a:rPr lang="en-US" sz="1500" b="1" dirty="0">
                <a:solidFill>
                  <a:srgbClr val="1F4E79"/>
                </a:solidFill>
                <a:latin typeface="Microsoft JhengHei" pitchFamily="34" charset="0"/>
                <a:ea typeface="Microsoft JhengHei" pitchFamily="34" charset="-122"/>
                <a:cs typeface="Microsoft JhengHei" pitchFamily="34" charset="-120"/>
              </a:rPr>
              <a:t>病情解釋及臨床處置</a:t>
            </a:r>
            <a:endParaRPr lang="en-US" sz="1500" dirty="0"/>
          </a:p>
        </p:txBody>
      </p:sp>
      <p:sp>
        <p:nvSpPr>
          <p:cNvPr id="13" name="Text 11"/>
          <p:cNvSpPr/>
          <p:nvPr/>
        </p:nvSpPr>
        <p:spPr>
          <a:xfrm>
            <a:off x="4937760" y="1691640"/>
            <a:ext cx="3520440" cy="182880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1F2937"/>
                </a:solidFill>
                <a:latin typeface="Microsoft JhengHei" pitchFamily="34" charset="0"/>
                <a:ea typeface="Microsoft JhengHei" pitchFamily="34" charset="-122"/>
                <a:cs typeface="Microsoft JhengHei" pitchFamily="34" charset="-120"/>
              </a:rPr>
              <a:t>準備／開場（1）</a:t>
            </a:r>
            <a:endParaRPr lang="en-US" sz="1250" dirty="0"/>
          </a:p>
          <a:p>
            <a:pPr marL="342900" indent="-342900">
              <a:spcAft>
                <a:spcPts val="600"/>
              </a:spcAft>
              <a:buSzPct val="100000"/>
              <a:buChar char="•"/>
            </a:pPr>
            <a:r>
              <a:rPr lang="en-US" sz="1250" dirty="0">
                <a:solidFill>
                  <a:srgbClr val="1F2937"/>
                </a:solidFill>
                <a:latin typeface="Microsoft JhengHei" pitchFamily="34" charset="0"/>
                <a:ea typeface="Microsoft JhengHei" pitchFamily="34" charset="-122"/>
                <a:cs typeface="Microsoft JhengHei" pitchFamily="34" charset="-120"/>
              </a:rPr>
              <a:t>告知病情（3–4）</a:t>
            </a:r>
            <a:endParaRPr lang="en-US" sz="1250" dirty="0"/>
          </a:p>
          <a:p>
            <a:pPr marL="342900" indent="-342900">
              <a:spcAft>
                <a:spcPts val="600"/>
              </a:spcAft>
              <a:buSzPct val="100000"/>
              <a:buChar char="•"/>
            </a:pPr>
            <a:r>
              <a:rPr lang="en-US" sz="1250" dirty="0">
                <a:solidFill>
                  <a:srgbClr val="1F2937"/>
                </a:solidFill>
                <a:latin typeface="Microsoft JhengHei" pitchFamily="34" charset="0"/>
                <a:ea typeface="Microsoft JhengHei" pitchFamily="34" charset="-122"/>
                <a:cs typeface="Microsoft JhengHei" pitchFamily="34" charset="-120"/>
              </a:rPr>
              <a:t>解釋診斷／檢查／處置（4–5）</a:t>
            </a:r>
            <a:endParaRPr lang="en-US" sz="1250" dirty="0"/>
          </a:p>
          <a:p>
            <a:pPr marL="342900" indent="-342900">
              <a:spcAft>
                <a:spcPts val="600"/>
              </a:spcAft>
              <a:buSzPct val="100000"/>
              <a:buChar char="•"/>
            </a:pPr>
            <a:r>
              <a:rPr lang="en-US" sz="1250" b="1" dirty="0">
                <a:solidFill>
                  <a:srgbClr val="2E75B6"/>
                </a:solidFill>
                <a:latin typeface="Microsoft JhengHei" pitchFamily="34" charset="0"/>
                <a:ea typeface="Microsoft JhengHei" pitchFamily="34" charset="-122"/>
                <a:cs typeface="Microsoft JhengHei" pitchFamily="34" charset="-120"/>
              </a:rPr>
              <a:t>共同決策（2–3）</a:t>
            </a:r>
            <a:endParaRPr lang="en-US" sz="1250" dirty="0"/>
          </a:p>
          <a:p>
            <a:pPr marL="342900" indent="-342900">
              <a:spcAft>
                <a:spcPts val="600"/>
              </a:spcAft>
              <a:buSzPct val="100000"/>
              <a:buChar char="•"/>
            </a:pPr>
            <a:r>
              <a:rPr lang="en-US" sz="1250" dirty="0">
                <a:solidFill>
                  <a:srgbClr val="1F2937"/>
                </a:solidFill>
                <a:latin typeface="Microsoft JhengHei" pitchFamily="34" charset="0"/>
                <a:ea typeface="Microsoft JhengHei" pitchFamily="34" charset="-122"/>
                <a:cs typeface="Microsoft JhengHei" pitchFamily="34" charset="-120"/>
              </a:rPr>
              <a:t>Teach-back＋結尾（2）</a:t>
            </a:r>
            <a:endParaRPr lang="en-US" sz="1250" dirty="0"/>
          </a:p>
        </p:txBody>
      </p:sp>
      <p:sp>
        <p:nvSpPr>
          <p:cNvPr id="14" name="Text 12"/>
          <p:cNvSpPr/>
          <p:nvPr/>
        </p:nvSpPr>
        <p:spPr>
          <a:xfrm>
            <a:off x="4937760" y="3703320"/>
            <a:ext cx="3520440" cy="457200"/>
          </a:xfrm>
          <a:prstGeom prst="rect">
            <a:avLst/>
          </a:prstGeom>
          <a:noFill/>
          <a:ln/>
        </p:spPr>
        <p:txBody>
          <a:bodyPr wrap="square" lIns="0" tIns="0" rIns="0" bIns="0" rtlCol="0" anchor="ctr"/>
          <a:lstStyle/>
          <a:p>
            <a:pPr marL="0" indent="0">
              <a:buNone/>
            </a:pPr>
            <a:r>
              <a:rPr lang="en-US" sz="1100" i="1" dirty="0">
                <a:solidFill>
                  <a:srgbClr val="5B6B7F"/>
                </a:solidFill>
                <a:latin typeface="Microsoft JhengHei" pitchFamily="34" charset="0"/>
                <a:ea typeface="Microsoft JhengHei" pitchFamily="34" charset="-122"/>
                <a:cs typeface="Microsoft JhengHei" pitchFamily="34" charset="-120"/>
              </a:rPr>
              <a:t>任務不能變成朗讀檢查結果；SP 提問測試清晰度與安全網</a:t>
            </a:r>
            <a:endParaRPr lang="en-US" sz="1100" dirty="0"/>
          </a:p>
        </p:txBody>
      </p:sp>
      <p:sp>
        <p:nvSpPr>
          <p:cNvPr id="15" name="Text 13"/>
          <p:cNvSpPr/>
          <p:nvPr/>
        </p:nvSpPr>
        <p:spPr>
          <a:xfrm>
            <a:off x="502920" y="4434840"/>
            <a:ext cx="8138160" cy="365760"/>
          </a:xfrm>
          <a:prstGeom prst="rect">
            <a:avLst/>
          </a:prstGeom>
          <a:noFill/>
          <a:ln/>
        </p:spPr>
        <p:txBody>
          <a:bodyPr wrap="square" lIns="0" tIns="0" rIns="0" bIns="0" rtlCol="0" anchor="ctr"/>
          <a:lstStyle/>
          <a:p>
            <a:pPr marL="0" indent="0" algn="ctr">
              <a:buNone/>
            </a:pPr>
            <a:r>
              <a:rPr lang="en-US" sz="1300" b="1" dirty="0">
                <a:solidFill>
                  <a:srgbClr val="1F4E79"/>
                </a:solidFill>
                <a:latin typeface="Microsoft JhengHei" pitchFamily="34" charset="0"/>
                <a:ea typeface="Microsoft JhengHei" pitchFamily="34" charset="-122"/>
                <a:cs typeface="Microsoft JhengHei" pitchFamily="34" charset="-120"/>
              </a:rPr>
              <a:t>Teach-back＝請病人用自己的話說一遍——兩種站型共同的高鑑別力項目</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投影片編號版面配置區 5">
            <a:extLst>
              <a:ext uri="{FF2B5EF4-FFF2-40B4-BE49-F238E27FC236}">
                <a16:creationId xmlns:a16="http://schemas.microsoft.com/office/drawing/2014/main" id="{445DDD48-00EA-DF36-7884-A44B74A8C7E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1pPr>
            <a:lvl2pPr marL="557213" indent="-214313">
              <a:spcBef>
                <a:spcPct val="20000"/>
              </a:spcBef>
              <a:buFont typeface="Arial" panose="020B0604020202020204" pitchFamily="34" charset="0"/>
              <a:buChar char="–"/>
              <a:defRPr kumimoji="1" sz="2100">
                <a:solidFill>
                  <a:schemeClr val="tx1"/>
                </a:solidFill>
                <a:latin typeface="Calibri" panose="020F0502020204030204" pitchFamily="34" charset="0"/>
                <a:ea typeface="新細明體" panose="02020500000000000000" pitchFamily="18" charset="-120"/>
              </a:defRPr>
            </a:lvl2pPr>
            <a:lvl3pPr marL="857250" indent="-171450">
              <a:spcBef>
                <a:spcPct val="20000"/>
              </a:spcBef>
              <a:buFont typeface="Arial" panose="020B0604020202020204" pitchFamily="34" charset="0"/>
              <a:buChar char="•"/>
              <a:defRPr kumimoji="1" sz="1800">
                <a:solidFill>
                  <a:schemeClr val="tx1"/>
                </a:solidFill>
                <a:latin typeface="Calibri" panose="020F0502020204030204" pitchFamily="34" charset="0"/>
                <a:ea typeface="新細明體" panose="02020500000000000000" pitchFamily="18" charset="-120"/>
              </a:defRPr>
            </a:lvl3pPr>
            <a:lvl4pPr marL="1200150" indent="-171450">
              <a:spcBef>
                <a:spcPct val="20000"/>
              </a:spcBef>
              <a:buFont typeface="Arial" panose="020B0604020202020204" pitchFamily="34" charset="0"/>
              <a:buChar char="–"/>
              <a:defRPr kumimoji="1" sz="1500">
                <a:solidFill>
                  <a:schemeClr val="tx1"/>
                </a:solidFill>
                <a:latin typeface="Calibri" panose="020F0502020204030204" pitchFamily="34" charset="0"/>
                <a:ea typeface="新細明體" panose="02020500000000000000" pitchFamily="18" charset="-120"/>
              </a:defRPr>
            </a:lvl4pPr>
            <a:lvl5pPr marL="1543050" indent="-171450">
              <a:spcBef>
                <a:spcPct val="20000"/>
              </a:spcBef>
              <a:buFont typeface="Arial" panose="020B0604020202020204" pitchFamily="34" charset="0"/>
              <a:buChar char="»"/>
              <a:defRPr kumimoji="1" sz="1500">
                <a:solidFill>
                  <a:schemeClr val="tx1"/>
                </a:solidFill>
                <a:latin typeface="Calibri" panose="020F0502020204030204" pitchFamily="34" charset="0"/>
                <a:ea typeface="新細明體" panose="02020500000000000000" pitchFamily="18" charset="-120"/>
              </a:defRPr>
            </a:lvl5pPr>
            <a:lvl6pPr marL="1885950" indent="-171450" eaLnBrk="0" fontAlgn="base" hangingPunct="0">
              <a:spcBef>
                <a:spcPct val="20000"/>
              </a:spcBef>
              <a:spcAft>
                <a:spcPct val="0"/>
              </a:spcAft>
              <a:buFont typeface="Arial" panose="020B0604020202020204" pitchFamily="34" charset="0"/>
              <a:buChar char="»"/>
              <a:defRPr kumimoji="1" sz="1500">
                <a:solidFill>
                  <a:schemeClr val="tx1"/>
                </a:solidFill>
                <a:latin typeface="Calibri" panose="020F0502020204030204" pitchFamily="34" charset="0"/>
                <a:ea typeface="新細明體" panose="02020500000000000000" pitchFamily="18" charset="-120"/>
              </a:defRPr>
            </a:lvl6pPr>
            <a:lvl7pPr marL="2228850" indent="-171450" eaLnBrk="0" fontAlgn="base" hangingPunct="0">
              <a:spcBef>
                <a:spcPct val="20000"/>
              </a:spcBef>
              <a:spcAft>
                <a:spcPct val="0"/>
              </a:spcAft>
              <a:buFont typeface="Arial" panose="020B0604020202020204" pitchFamily="34" charset="0"/>
              <a:buChar char="»"/>
              <a:defRPr kumimoji="1" sz="1500">
                <a:solidFill>
                  <a:schemeClr val="tx1"/>
                </a:solidFill>
                <a:latin typeface="Calibri" panose="020F0502020204030204" pitchFamily="34" charset="0"/>
                <a:ea typeface="新細明體" panose="02020500000000000000" pitchFamily="18" charset="-120"/>
              </a:defRPr>
            </a:lvl7pPr>
            <a:lvl8pPr marL="2571750" indent="-171450" eaLnBrk="0" fontAlgn="base" hangingPunct="0">
              <a:spcBef>
                <a:spcPct val="20000"/>
              </a:spcBef>
              <a:spcAft>
                <a:spcPct val="0"/>
              </a:spcAft>
              <a:buFont typeface="Arial" panose="020B0604020202020204" pitchFamily="34" charset="0"/>
              <a:buChar char="»"/>
              <a:defRPr kumimoji="1" sz="1500">
                <a:solidFill>
                  <a:schemeClr val="tx1"/>
                </a:solidFill>
                <a:latin typeface="Calibri" panose="020F0502020204030204" pitchFamily="34" charset="0"/>
                <a:ea typeface="新細明體" panose="02020500000000000000" pitchFamily="18" charset="-120"/>
              </a:defRPr>
            </a:lvl8pPr>
            <a:lvl9pPr marL="2914650" indent="-171450" eaLnBrk="0" fontAlgn="base" hangingPunct="0">
              <a:spcBef>
                <a:spcPct val="20000"/>
              </a:spcBef>
              <a:spcAft>
                <a:spcPct val="0"/>
              </a:spcAft>
              <a:buFont typeface="Arial" panose="020B0604020202020204" pitchFamily="34" charset="0"/>
              <a:buChar char="»"/>
              <a:defRPr kumimoji="1" sz="1500">
                <a:solidFill>
                  <a:schemeClr val="tx1"/>
                </a:solidFill>
                <a:latin typeface="Calibri" panose="020F0502020204030204" pitchFamily="34" charset="0"/>
                <a:ea typeface="新細明體" panose="02020500000000000000" pitchFamily="18" charset="-120"/>
              </a:defRPr>
            </a:lvl9pPr>
          </a:lstStyle>
          <a:p>
            <a:pPr algn="l">
              <a:spcBef>
                <a:spcPct val="0"/>
              </a:spcBef>
              <a:buFontTx/>
              <a:buNone/>
            </a:pPr>
            <a:fld id="{A6B13BBF-7FCD-4E39-B5D3-B6220CF5743C}" type="slidenum">
              <a:rPr kumimoji="0" lang="zh-TW" altLang="en-US" sz="900">
                <a:solidFill>
                  <a:srgbClr val="898989"/>
                </a:solidFill>
              </a:rPr>
              <a:pPr>
                <a:spcBef>
                  <a:spcPct val="0"/>
                </a:spcBef>
                <a:buFontTx/>
                <a:buNone/>
              </a:pPr>
              <a:t>28</a:t>
            </a:fld>
            <a:endParaRPr kumimoji="0" lang="en-US" altLang="zh-TW" sz="900">
              <a:solidFill>
                <a:srgbClr val="898989"/>
              </a:solidFill>
            </a:endParaRPr>
          </a:p>
        </p:txBody>
      </p:sp>
      <p:sp>
        <p:nvSpPr>
          <p:cNvPr id="33795" name="Rectangle 2">
            <a:extLst>
              <a:ext uri="{FF2B5EF4-FFF2-40B4-BE49-F238E27FC236}">
                <a16:creationId xmlns:a16="http://schemas.microsoft.com/office/drawing/2014/main" id="{F6BCB7C3-82ED-A81E-3517-563D7FF84D01}"/>
              </a:ext>
            </a:extLst>
          </p:cNvPr>
          <p:cNvSpPr>
            <a:spLocks noGrp="1"/>
          </p:cNvSpPr>
          <p:nvPr>
            <p:ph type="title" idx="4294967295"/>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r>
              <a:rPr lang="zh-TW" altLang="en-US">
                <a:latin typeface="Microsoft JhengHei"/>
                <a:ea typeface="Microsoft JhengHei"/>
                <a:cs typeface="Microsoft JhengHei"/>
              </a:rPr>
              <a:t>按一下以編輯母片標題樣式</a:t>
            </a:r>
            <a:endParaRPr lang="zh-TW" altLang="en-US" b="1">
              <a:solidFill>
                <a:srgbClr val="800000"/>
              </a:solidFill>
              <a:latin typeface="Times New Roman" panose="02020603050405020304" pitchFamily="18" charset="0"/>
              <a:ea typeface="標楷體" panose="03000509000000000000" pitchFamily="65" charset="-120"/>
            </a:endParaRPr>
          </a:p>
        </p:txBody>
      </p:sp>
      <p:sp>
        <p:nvSpPr>
          <p:cNvPr id="33796" name="Text Box 3">
            <a:extLst>
              <a:ext uri="{FF2B5EF4-FFF2-40B4-BE49-F238E27FC236}">
                <a16:creationId xmlns:a16="http://schemas.microsoft.com/office/drawing/2014/main" id="{C8D88FC5-B339-50E3-22F6-99BFF7891E0D}"/>
              </a:ext>
            </a:extLst>
          </p:cNvPr>
          <p:cNvSpPr txBox="1">
            <a:spLocks noChangeArrowheads="1"/>
          </p:cNvSpPr>
          <p:nvPr/>
        </p:nvSpPr>
        <p:spPr bwMode="auto">
          <a:xfrm>
            <a:off x="2405555" y="1502569"/>
            <a:ext cx="392415"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algn="l">
              <a:spcBef>
                <a:spcPct val="50000"/>
              </a:spcBef>
              <a:buFontTx/>
              <a:buNone/>
            </a:pPr>
            <a:endParaRPr lang="zh-TW" altLang="en-US" sz="1350">
              <a:latin typeface="Arial" panose="020B0604020202020204" pitchFamily="34" charset="0"/>
            </a:endParaRPr>
          </a:p>
        </p:txBody>
      </p:sp>
      <p:sp>
        <p:nvSpPr>
          <p:cNvPr id="33797" name="Text Box 4">
            <a:extLst>
              <a:ext uri="{FF2B5EF4-FFF2-40B4-BE49-F238E27FC236}">
                <a16:creationId xmlns:a16="http://schemas.microsoft.com/office/drawing/2014/main" id="{933F78B6-5246-C0B7-173F-8A04BEB39E4B}"/>
              </a:ext>
            </a:extLst>
          </p:cNvPr>
          <p:cNvSpPr txBox="1">
            <a:spLocks noChangeArrowheads="1"/>
          </p:cNvSpPr>
          <p:nvPr/>
        </p:nvSpPr>
        <p:spPr bwMode="auto">
          <a:xfrm>
            <a:off x="1871664" y="1203723"/>
            <a:ext cx="1835944" cy="41549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algn="l">
              <a:spcBef>
                <a:spcPct val="50000"/>
              </a:spcBef>
              <a:buFontTx/>
              <a:buNone/>
            </a:pPr>
            <a:r>
              <a:rPr lang="zh-TW" altLang="en-US" sz="2100" b="1">
                <a:solidFill>
                  <a:srgbClr val="000066"/>
                </a:solidFill>
                <a:latin typeface="Microsoft JhengHei" panose="020B0604020202020204" pitchFamily="34" charset="0"/>
                <a:ea typeface="Microsoft JhengHei" panose="03000509000000000000" pitchFamily="65" charset="-120"/>
                <a:cs typeface="Microsoft JhengHei"/>
              </a:rPr>
              <a:t>確認評估目標</a:t>
            </a:r>
          </a:p>
        </p:txBody>
      </p:sp>
      <p:sp>
        <p:nvSpPr>
          <p:cNvPr id="33798" name="Text Box 5">
            <a:extLst>
              <a:ext uri="{FF2B5EF4-FFF2-40B4-BE49-F238E27FC236}">
                <a16:creationId xmlns:a16="http://schemas.microsoft.com/office/drawing/2014/main" id="{E5490F2F-3E7E-6EF0-FA22-41DECA25BAF6}"/>
              </a:ext>
            </a:extLst>
          </p:cNvPr>
          <p:cNvSpPr txBox="1">
            <a:spLocks noChangeArrowheads="1"/>
          </p:cNvSpPr>
          <p:nvPr/>
        </p:nvSpPr>
        <p:spPr bwMode="auto">
          <a:xfrm>
            <a:off x="4616054" y="2896791"/>
            <a:ext cx="323850" cy="71558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algn="l">
              <a:spcBef>
                <a:spcPct val="50000"/>
              </a:spcBef>
              <a:buFontTx/>
              <a:buNone/>
            </a:pPr>
            <a:r>
              <a:rPr lang="zh-TW" altLang="en-US" sz="1350" b="1">
                <a:solidFill>
                  <a:srgbClr val="000066"/>
                </a:solidFill>
                <a:latin typeface="Microsoft JhengHei" panose="020B0604020202020204" pitchFamily="34" charset="0"/>
                <a:ea typeface="Microsoft JhengHei" panose="03000509000000000000" pitchFamily="65" charset="-120"/>
                <a:cs typeface="Microsoft JhengHei"/>
              </a:rPr>
              <a:t>同理心</a:t>
            </a:r>
          </a:p>
        </p:txBody>
      </p:sp>
      <p:sp>
        <p:nvSpPr>
          <p:cNvPr id="33799" name="Text Box 6">
            <a:extLst>
              <a:ext uri="{FF2B5EF4-FFF2-40B4-BE49-F238E27FC236}">
                <a16:creationId xmlns:a16="http://schemas.microsoft.com/office/drawing/2014/main" id="{E0F22ED8-0656-9DF8-F50F-A6779A75CA02}"/>
              </a:ext>
            </a:extLst>
          </p:cNvPr>
          <p:cNvSpPr txBox="1">
            <a:spLocks noChangeArrowheads="1"/>
          </p:cNvSpPr>
          <p:nvPr/>
        </p:nvSpPr>
        <p:spPr bwMode="auto">
          <a:xfrm>
            <a:off x="1656160" y="4516042"/>
            <a:ext cx="3132534" cy="41549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algn="l">
              <a:spcBef>
                <a:spcPct val="50000"/>
              </a:spcBef>
              <a:buFontTx/>
              <a:buNone/>
            </a:pPr>
            <a:r>
              <a:rPr lang="zh-TW" altLang="en-US" sz="2100" b="1">
                <a:solidFill>
                  <a:srgbClr val="000066"/>
                </a:solidFill>
                <a:latin typeface="Microsoft JhengHei" panose="020B0604020202020204" pitchFamily="34" charset="0"/>
                <a:ea typeface="Microsoft JhengHei" panose="03000509000000000000" pitchFamily="65" charset="-120"/>
                <a:cs typeface="Microsoft JhengHei"/>
              </a:rPr>
              <a:t>逐項目進行討論決定去留</a:t>
            </a:r>
          </a:p>
        </p:txBody>
      </p:sp>
      <p:sp>
        <p:nvSpPr>
          <p:cNvPr id="33800" name="Text Box 7">
            <a:extLst>
              <a:ext uri="{FF2B5EF4-FFF2-40B4-BE49-F238E27FC236}">
                <a16:creationId xmlns:a16="http://schemas.microsoft.com/office/drawing/2014/main" id="{3CEE2A13-8487-FA15-7C54-9B0490A5EE03}"/>
              </a:ext>
            </a:extLst>
          </p:cNvPr>
          <p:cNvSpPr txBox="1">
            <a:spLocks noChangeArrowheads="1"/>
          </p:cNvSpPr>
          <p:nvPr/>
        </p:nvSpPr>
        <p:spPr bwMode="auto">
          <a:xfrm>
            <a:off x="1818086" y="3529013"/>
            <a:ext cx="1782365" cy="92333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algn="l">
              <a:spcBef>
                <a:spcPct val="50000"/>
              </a:spcBef>
              <a:buFontTx/>
              <a:buNone/>
            </a:pPr>
            <a:r>
              <a:rPr lang="zh-TW" altLang="en-US" sz="1800" b="1">
                <a:solidFill>
                  <a:srgbClr val="000066"/>
                </a:solidFill>
                <a:latin typeface="Microsoft JhengHei" panose="020B0604020202020204" pitchFamily="34" charset="0"/>
                <a:ea typeface="Microsoft JhengHei" panose="03000509000000000000" pitchFamily="65" charset="-120"/>
                <a:cs typeface="Microsoft JhengHei"/>
              </a:rPr>
              <a:t>每一面向拆解成數項欲測量項目</a:t>
            </a:r>
          </a:p>
        </p:txBody>
      </p:sp>
      <p:sp>
        <p:nvSpPr>
          <p:cNvPr id="33801" name="AutoShape 8">
            <a:extLst>
              <a:ext uri="{FF2B5EF4-FFF2-40B4-BE49-F238E27FC236}">
                <a16:creationId xmlns:a16="http://schemas.microsoft.com/office/drawing/2014/main" id="{3F4F6D57-142D-72F9-A8CA-04B99504B2D6}"/>
              </a:ext>
            </a:extLst>
          </p:cNvPr>
          <p:cNvSpPr>
            <a:spLocks noChangeArrowheads="1"/>
          </p:cNvSpPr>
          <p:nvPr/>
        </p:nvSpPr>
        <p:spPr bwMode="auto">
          <a:xfrm rot="9230845">
            <a:off x="4958955" y="1750219"/>
            <a:ext cx="372665" cy="123825"/>
          </a:xfrm>
          <a:prstGeom prst="rightArrow">
            <a:avLst>
              <a:gd name="adj1" fmla="val 50000"/>
              <a:gd name="adj2" fmla="val 75240"/>
            </a:avLst>
          </a:prstGeom>
          <a:solidFill>
            <a:srgbClr val="3366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eaLnBrk="1" hangingPunct="1" algn="l">
              <a:spcBef>
                <a:spcPct val="0"/>
              </a:spcBef>
              <a:buFontTx/>
              <a:buNone/>
            </a:pPr>
            <a:endParaRPr lang="zh-TW" altLang="en-US" sz="1350">
              <a:latin typeface="Arial" panose="020B0604020202020204" pitchFamily="34" charset="0"/>
            </a:endParaRPr>
          </a:p>
        </p:txBody>
      </p:sp>
      <p:sp>
        <p:nvSpPr>
          <p:cNvPr id="33802" name="AutoShape 9">
            <a:extLst>
              <a:ext uri="{FF2B5EF4-FFF2-40B4-BE49-F238E27FC236}">
                <a16:creationId xmlns:a16="http://schemas.microsoft.com/office/drawing/2014/main" id="{BF1B43E3-C90B-D5CF-3256-6A10438DA8B1}"/>
              </a:ext>
            </a:extLst>
          </p:cNvPr>
          <p:cNvSpPr>
            <a:spLocks noChangeArrowheads="1"/>
          </p:cNvSpPr>
          <p:nvPr/>
        </p:nvSpPr>
        <p:spPr bwMode="auto">
          <a:xfrm rot="5400000">
            <a:off x="2650332" y="1684736"/>
            <a:ext cx="216694" cy="154781"/>
          </a:xfrm>
          <a:prstGeom prst="rightArrow">
            <a:avLst>
              <a:gd name="adj1" fmla="val 50000"/>
              <a:gd name="adj2" fmla="val 35000"/>
            </a:avLst>
          </a:prstGeom>
          <a:solidFill>
            <a:srgbClr val="3366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eaLnBrk="1" hangingPunct="1" algn="l">
              <a:spcBef>
                <a:spcPct val="0"/>
              </a:spcBef>
              <a:buFontTx/>
              <a:buNone/>
            </a:pPr>
            <a:endParaRPr lang="zh-TW" altLang="en-US" sz="1350">
              <a:latin typeface="Arial" panose="020B0604020202020204" pitchFamily="34" charset="0"/>
            </a:endParaRPr>
          </a:p>
        </p:txBody>
      </p:sp>
      <p:sp>
        <p:nvSpPr>
          <p:cNvPr id="33803" name="Text Box 10">
            <a:extLst>
              <a:ext uri="{FF2B5EF4-FFF2-40B4-BE49-F238E27FC236}">
                <a16:creationId xmlns:a16="http://schemas.microsoft.com/office/drawing/2014/main" id="{7904A17C-ECC9-BD62-6C90-0B3D53432A83}"/>
              </a:ext>
            </a:extLst>
          </p:cNvPr>
          <p:cNvSpPr txBox="1">
            <a:spLocks noChangeArrowheads="1"/>
          </p:cNvSpPr>
          <p:nvPr/>
        </p:nvSpPr>
        <p:spPr bwMode="auto">
          <a:xfrm>
            <a:off x="4237436" y="2896791"/>
            <a:ext cx="325040" cy="92333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algn="l">
              <a:spcBef>
                <a:spcPct val="50000"/>
              </a:spcBef>
              <a:buFontTx/>
              <a:buNone/>
            </a:pPr>
            <a:r>
              <a:rPr lang="zh-TW" altLang="en-US" sz="1350" b="1">
                <a:solidFill>
                  <a:srgbClr val="000066"/>
                </a:solidFill>
                <a:latin typeface="Microsoft JhengHei" panose="020B0604020202020204" pitchFamily="34" charset="0"/>
                <a:ea typeface="Microsoft JhengHei" panose="03000509000000000000" pitchFamily="65" charset="-120"/>
                <a:cs typeface="Microsoft JhengHei"/>
              </a:rPr>
              <a:t>溝通技巧</a:t>
            </a:r>
          </a:p>
        </p:txBody>
      </p:sp>
      <p:sp>
        <p:nvSpPr>
          <p:cNvPr id="33804" name="Text Box 11">
            <a:extLst>
              <a:ext uri="{FF2B5EF4-FFF2-40B4-BE49-F238E27FC236}">
                <a16:creationId xmlns:a16="http://schemas.microsoft.com/office/drawing/2014/main" id="{9F4BCA83-B73D-0458-BD2B-FF3D6F11D5FF}"/>
              </a:ext>
            </a:extLst>
          </p:cNvPr>
          <p:cNvSpPr txBox="1">
            <a:spLocks noChangeArrowheads="1"/>
          </p:cNvSpPr>
          <p:nvPr/>
        </p:nvSpPr>
        <p:spPr bwMode="auto">
          <a:xfrm>
            <a:off x="5219701" y="1168004"/>
            <a:ext cx="1835944" cy="415498"/>
          </a:xfrm>
          <a:prstGeom prst="rect">
            <a:avLst/>
          </a:prstGeom>
          <a:noFill/>
          <a:ln w="952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algn="l" eaLnBrk="1" hangingPunct="1">
              <a:spcBef>
                <a:spcPct val="50000"/>
              </a:spcBef>
              <a:buFontTx/>
              <a:buNone/>
            </a:pPr>
            <a:r>
              <a:rPr lang="zh-TW" altLang="en-US" sz="2100" b="1">
                <a:solidFill>
                  <a:srgbClr val="000066"/>
                </a:solidFill>
                <a:latin typeface="Microsoft JhengHei" panose="020B0604020202020204" pitchFamily="34" charset="0"/>
                <a:ea typeface="Microsoft JhengHei" panose="03000509000000000000" pitchFamily="65" charset="-120"/>
                <a:cs typeface="Microsoft JhengHei"/>
              </a:rPr>
              <a:t>臨床能力</a:t>
            </a:r>
          </a:p>
        </p:txBody>
      </p:sp>
      <p:sp>
        <p:nvSpPr>
          <p:cNvPr id="33805" name="Text Box 12">
            <a:extLst>
              <a:ext uri="{FF2B5EF4-FFF2-40B4-BE49-F238E27FC236}">
                <a16:creationId xmlns:a16="http://schemas.microsoft.com/office/drawing/2014/main" id="{57E53F52-9CFE-41C5-63A5-71B94F0F476A}"/>
              </a:ext>
            </a:extLst>
          </p:cNvPr>
          <p:cNvSpPr txBox="1">
            <a:spLocks noChangeArrowheads="1"/>
          </p:cNvSpPr>
          <p:nvPr/>
        </p:nvSpPr>
        <p:spPr bwMode="auto">
          <a:xfrm>
            <a:off x="5748339" y="3084910"/>
            <a:ext cx="1188244"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eaLnBrk="1" hangingPunct="1" algn="l">
              <a:spcBef>
                <a:spcPct val="50000"/>
              </a:spcBef>
              <a:buFontTx/>
              <a:buNone/>
            </a:pPr>
            <a:r>
              <a:rPr lang="en-US" altLang="zh-TW" sz="1350">
                <a:solidFill>
                  <a:schemeClr val="accent2"/>
                </a:solidFill>
                <a:latin typeface="Microsoft JhengHei" panose="020B0604020202020204" pitchFamily="34" charset="0"/>
                <a:ea typeface="Microsoft JhengHei"/>
                <a:cs typeface="Microsoft JhengHei"/>
              </a:rPr>
              <a:t>…</a:t>
            </a:r>
          </a:p>
        </p:txBody>
      </p:sp>
      <p:sp>
        <p:nvSpPr>
          <p:cNvPr id="33806" name="Text Box 13">
            <a:extLst>
              <a:ext uri="{FF2B5EF4-FFF2-40B4-BE49-F238E27FC236}">
                <a16:creationId xmlns:a16="http://schemas.microsoft.com/office/drawing/2014/main" id="{9AA48DB3-91D6-F16F-AF11-7CAD90025323}"/>
              </a:ext>
            </a:extLst>
          </p:cNvPr>
          <p:cNvSpPr txBox="1">
            <a:spLocks noChangeArrowheads="1"/>
          </p:cNvSpPr>
          <p:nvPr/>
        </p:nvSpPr>
        <p:spPr bwMode="auto">
          <a:xfrm>
            <a:off x="1466850" y="2630092"/>
            <a:ext cx="2619375" cy="553998"/>
          </a:xfrm>
          <a:prstGeom prst="rect">
            <a:avLst/>
          </a:prstGeom>
          <a:noFill/>
          <a:ln w="1270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algn="l" eaLnBrk="1" hangingPunct="1">
              <a:spcBef>
                <a:spcPct val="50000"/>
              </a:spcBef>
              <a:buFontTx/>
              <a:buNone/>
            </a:pPr>
            <a:r>
              <a:rPr lang="zh-TW" altLang="en-US" sz="1500" b="1">
                <a:solidFill>
                  <a:srgbClr val="000066"/>
                </a:solidFill>
                <a:latin typeface="Microsoft JhengHei" panose="02020603050405020304" pitchFamily="18" charset="0"/>
                <a:ea typeface="Microsoft JhengHei" panose="03000509000000000000" pitchFamily="65" charset="-120"/>
                <a:cs typeface="Microsoft JhengHei"/>
              </a:rPr>
              <a:t>決定評分方式</a:t>
            </a:r>
            <a:r>
              <a:rPr lang="en-US" altLang="zh-TW" sz="1500" b="1">
                <a:solidFill>
                  <a:srgbClr val="000066"/>
                </a:solidFill>
                <a:latin typeface="Microsoft JhengHei" panose="02020603050405020304" pitchFamily="18" charset="0"/>
                <a:ea typeface="Microsoft JhengHei" panose="03000509000000000000" pitchFamily="65" charset="-120"/>
                <a:cs typeface="Microsoft JhengHei"/>
              </a:rPr>
              <a:t>checklist(</a:t>
            </a:r>
            <a:r>
              <a:rPr lang="zh-TW" altLang="en-US" sz="1500" b="1">
                <a:solidFill>
                  <a:srgbClr val="000066"/>
                </a:solidFill>
                <a:latin typeface="Microsoft JhengHei" panose="02020603050405020304" pitchFamily="18" charset="0"/>
                <a:ea typeface="Microsoft JhengHei" panose="03000509000000000000" pitchFamily="65" charset="-120"/>
                <a:cs typeface="Microsoft JhengHei"/>
              </a:rPr>
              <a:t>有</a:t>
            </a:r>
            <a:r>
              <a:rPr lang="en-US" altLang="zh-TW" sz="1500" b="1">
                <a:solidFill>
                  <a:srgbClr val="000066"/>
                </a:solidFill>
                <a:latin typeface="Microsoft JhengHei" panose="02020603050405020304" pitchFamily="18" charset="0"/>
                <a:ea typeface="Microsoft JhengHei" panose="03000509000000000000" pitchFamily="65" charset="-120"/>
                <a:cs typeface="Microsoft JhengHei"/>
              </a:rPr>
              <a:t>/</a:t>
            </a:r>
            <a:r>
              <a:rPr lang="zh-TW" altLang="en-US" sz="1500" b="1">
                <a:solidFill>
                  <a:srgbClr val="000066"/>
                </a:solidFill>
                <a:latin typeface="Microsoft JhengHei" panose="02020603050405020304" pitchFamily="18" charset="0"/>
                <a:ea typeface="Microsoft JhengHei" panose="03000509000000000000" pitchFamily="65" charset="-120"/>
                <a:cs typeface="Microsoft JhengHei"/>
              </a:rPr>
              <a:t>無</a:t>
            </a:r>
            <a:r>
              <a:rPr lang="en-US" altLang="zh-TW" sz="1500" b="1">
                <a:solidFill>
                  <a:srgbClr val="000066"/>
                </a:solidFill>
                <a:latin typeface="Microsoft JhengHei" panose="02020603050405020304" pitchFamily="18" charset="0"/>
                <a:ea typeface="Microsoft JhengHei" panose="03000509000000000000" pitchFamily="65" charset="-120"/>
                <a:cs typeface="Microsoft JhengHei"/>
              </a:rPr>
              <a:t>) </a:t>
            </a:r>
            <a:r>
              <a:rPr lang="zh-TW" altLang="en-US" sz="1500" b="1">
                <a:solidFill>
                  <a:srgbClr val="000066"/>
                </a:solidFill>
                <a:latin typeface="Microsoft JhengHei" panose="02020603050405020304" pitchFamily="18" charset="0"/>
                <a:ea typeface="Microsoft JhengHei" panose="03000509000000000000" pitchFamily="65" charset="-120"/>
                <a:cs typeface="Microsoft JhengHei"/>
              </a:rPr>
              <a:t>或是 </a:t>
            </a:r>
            <a:r>
              <a:rPr lang="en-US" altLang="zh-TW" sz="1500" b="1">
                <a:solidFill>
                  <a:srgbClr val="000066"/>
                </a:solidFill>
                <a:latin typeface="Microsoft JhengHei" panose="02020603050405020304" pitchFamily="18" charset="0"/>
                <a:ea typeface="Microsoft JhengHei" panose="03000509000000000000" pitchFamily="65" charset="-120"/>
                <a:cs typeface="Microsoft JhengHei"/>
              </a:rPr>
              <a:t>Likert scale(1~5)</a:t>
            </a:r>
          </a:p>
        </p:txBody>
      </p:sp>
      <p:sp>
        <p:nvSpPr>
          <p:cNvPr id="33807" name="Text Box 14">
            <a:extLst>
              <a:ext uri="{FF2B5EF4-FFF2-40B4-BE49-F238E27FC236}">
                <a16:creationId xmlns:a16="http://schemas.microsoft.com/office/drawing/2014/main" id="{544F59E4-7E22-25C0-7E88-EF49154830BA}"/>
              </a:ext>
            </a:extLst>
          </p:cNvPr>
          <p:cNvSpPr txBox="1">
            <a:spLocks noChangeArrowheads="1"/>
          </p:cNvSpPr>
          <p:nvPr/>
        </p:nvSpPr>
        <p:spPr bwMode="auto">
          <a:xfrm>
            <a:off x="4983956" y="2896792"/>
            <a:ext cx="323850" cy="923330"/>
          </a:xfrm>
          <a:prstGeom prst="rect">
            <a:avLst/>
          </a:prstGeom>
          <a:noFill/>
          <a:ln w="1270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algn="l" eaLnBrk="1" hangingPunct="1">
              <a:spcBef>
                <a:spcPct val="50000"/>
              </a:spcBef>
              <a:buFontTx/>
              <a:buNone/>
            </a:pPr>
            <a:r>
              <a:rPr lang="zh-TW" altLang="en-US" sz="1350" b="1">
                <a:solidFill>
                  <a:srgbClr val="000066"/>
                </a:solidFill>
                <a:latin typeface="Microsoft JhengHei" panose="020B0604020202020204" pitchFamily="34" charset="0"/>
                <a:ea typeface="Microsoft JhengHei" panose="03000509000000000000" pitchFamily="65" charset="-120"/>
                <a:cs typeface="Microsoft JhengHei"/>
              </a:rPr>
              <a:t>確認訴求</a:t>
            </a:r>
          </a:p>
        </p:txBody>
      </p:sp>
      <p:sp>
        <p:nvSpPr>
          <p:cNvPr id="33808" name="Text Box 15">
            <a:extLst>
              <a:ext uri="{FF2B5EF4-FFF2-40B4-BE49-F238E27FC236}">
                <a16:creationId xmlns:a16="http://schemas.microsoft.com/office/drawing/2014/main" id="{1E79DB74-C045-92C4-E45B-237DFE523F92}"/>
              </a:ext>
            </a:extLst>
          </p:cNvPr>
          <p:cNvSpPr txBox="1">
            <a:spLocks noChangeArrowheads="1"/>
          </p:cNvSpPr>
          <p:nvPr/>
        </p:nvSpPr>
        <p:spPr bwMode="auto">
          <a:xfrm>
            <a:off x="1926432" y="1924051"/>
            <a:ext cx="1674019" cy="392415"/>
          </a:xfrm>
          <a:prstGeom prst="rect">
            <a:avLst/>
          </a:prstGeom>
          <a:noFill/>
          <a:ln w="1270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algn="l" eaLnBrk="1" hangingPunct="1">
              <a:spcBef>
                <a:spcPct val="50000"/>
              </a:spcBef>
              <a:buFontTx/>
              <a:buNone/>
            </a:pPr>
            <a:r>
              <a:rPr lang="zh-TW" altLang="en-US" sz="1950" b="1">
                <a:solidFill>
                  <a:srgbClr val="000066"/>
                </a:solidFill>
                <a:latin typeface="Microsoft JhengHei" panose="020B0604020202020204" pitchFamily="34" charset="0"/>
                <a:ea typeface="Microsoft JhengHei" panose="03000509000000000000" pitchFamily="65" charset="-120"/>
                <a:cs typeface="Microsoft JhengHei"/>
              </a:rPr>
              <a:t>定義測量面向</a:t>
            </a:r>
          </a:p>
        </p:txBody>
      </p:sp>
      <p:sp>
        <p:nvSpPr>
          <p:cNvPr id="87056" name="AutoShape 16">
            <a:extLst>
              <a:ext uri="{FF2B5EF4-FFF2-40B4-BE49-F238E27FC236}">
                <a16:creationId xmlns:a16="http://schemas.microsoft.com/office/drawing/2014/main" id="{452217AB-3599-F239-2BA2-BCA37CAD7804}"/>
              </a:ext>
            </a:extLst>
          </p:cNvPr>
          <p:cNvSpPr>
            <a:spLocks noChangeArrowheads="1"/>
          </p:cNvSpPr>
          <p:nvPr/>
        </p:nvSpPr>
        <p:spPr bwMode="auto">
          <a:xfrm rot="5414839" flipH="1">
            <a:off x="-259556" y="2650332"/>
            <a:ext cx="3451622" cy="377428"/>
          </a:xfrm>
          <a:prstGeom prst="curvedUpArrow">
            <a:avLst>
              <a:gd name="adj1" fmla="val 44074"/>
              <a:gd name="adj2" fmla="val 209364"/>
              <a:gd name="adj3" fmla="val 27491"/>
            </a:avLst>
          </a:prstGeom>
          <a:solidFill>
            <a:srgbClr val="FF0000"/>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eaLnBrk="1" hangingPunct="1" algn="l">
              <a:spcBef>
                <a:spcPct val="0"/>
              </a:spcBef>
              <a:buFontTx/>
              <a:buNone/>
            </a:pPr>
            <a:endParaRPr lang="zh-TW" altLang="en-US" sz="1350">
              <a:latin typeface="Arial" panose="020B0604020202020204" pitchFamily="34" charset="0"/>
            </a:endParaRPr>
          </a:p>
        </p:txBody>
      </p:sp>
      <p:sp>
        <p:nvSpPr>
          <p:cNvPr id="33810" name="Text Box 17">
            <a:extLst>
              <a:ext uri="{FF2B5EF4-FFF2-40B4-BE49-F238E27FC236}">
                <a16:creationId xmlns:a16="http://schemas.microsoft.com/office/drawing/2014/main" id="{1092EE74-4E92-4048-E5AF-9DB5120D29E9}"/>
              </a:ext>
            </a:extLst>
          </p:cNvPr>
          <p:cNvSpPr txBox="1">
            <a:spLocks noChangeArrowheads="1"/>
          </p:cNvSpPr>
          <p:nvPr/>
        </p:nvSpPr>
        <p:spPr bwMode="auto">
          <a:xfrm>
            <a:off x="6137673" y="1977628"/>
            <a:ext cx="863203" cy="507831"/>
          </a:xfrm>
          <a:prstGeom prst="rect">
            <a:avLst/>
          </a:prstGeom>
          <a:noFill/>
          <a:ln w="1270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algn="l" eaLnBrk="1" hangingPunct="1">
              <a:spcBef>
                <a:spcPct val="50000"/>
              </a:spcBef>
              <a:buFontTx/>
              <a:buNone/>
            </a:pPr>
            <a:r>
              <a:rPr lang="zh-TW" altLang="en-US" sz="1350" b="1">
                <a:solidFill>
                  <a:srgbClr val="000066"/>
                </a:solidFill>
                <a:latin typeface="Microsoft JhengHei" panose="020B0604020202020204" pitchFamily="34" charset="0"/>
                <a:ea typeface="Microsoft JhengHei" panose="03000509000000000000" pitchFamily="65" charset="-120"/>
                <a:cs typeface="Microsoft JhengHei"/>
              </a:rPr>
              <a:t>專業素養</a:t>
            </a:r>
          </a:p>
        </p:txBody>
      </p:sp>
      <p:sp>
        <p:nvSpPr>
          <p:cNvPr id="33811" name="Text Box 18">
            <a:extLst>
              <a:ext uri="{FF2B5EF4-FFF2-40B4-BE49-F238E27FC236}">
                <a16:creationId xmlns:a16="http://schemas.microsoft.com/office/drawing/2014/main" id="{718B3BDB-6ECE-8431-32CA-2E036D52E24D}"/>
              </a:ext>
            </a:extLst>
          </p:cNvPr>
          <p:cNvSpPr txBox="1">
            <a:spLocks noChangeArrowheads="1"/>
          </p:cNvSpPr>
          <p:nvPr/>
        </p:nvSpPr>
        <p:spPr bwMode="auto">
          <a:xfrm>
            <a:off x="7056836" y="1977628"/>
            <a:ext cx="863203" cy="507831"/>
          </a:xfrm>
          <a:prstGeom prst="rect">
            <a:avLst/>
          </a:prstGeom>
          <a:noFill/>
          <a:ln w="1270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algn="l" eaLnBrk="1" hangingPunct="1">
              <a:spcBef>
                <a:spcPct val="50000"/>
              </a:spcBef>
              <a:buFontTx/>
              <a:buNone/>
            </a:pPr>
            <a:r>
              <a:rPr lang="zh-TW" altLang="en-US" sz="1350" b="1">
                <a:solidFill>
                  <a:srgbClr val="000066"/>
                </a:solidFill>
                <a:latin typeface="Microsoft JhengHei" panose="020B0604020202020204" pitchFamily="34" charset="0"/>
                <a:ea typeface="Microsoft JhengHei" panose="03000509000000000000" pitchFamily="65" charset="-120"/>
                <a:cs typeface="Microsoft JhengHei"/>
              </a:rPr>
              <a:t>身體檢查</a:t>
            </a:r>
          </a:p>
        </p:txBody>
      </p:sp>
      <p:sp>
        <p:nvSpPr>
          <p:cNvPr id="33812" name="Text Box 19">
            <a:extLst>
              <a:ext uri="{FF2B5EF4-FFF2-40B4-BE49-F238E27FC236}">
                <a16:creationId xmlns:a16="http://schemas.microsoft.com/office/drawing/2014/main" id="{F4F8B02B-BA9B-9804-2EA3-A9A8FB829E21}"/>
              </a:ext>
            </a:extLst>
          </p:cNvPr>
          <p:cNvSpPr txBox="1">
            <a:spLocks noChangeArrowheads="1"/>
          </p:cNvSpPr>
          <p:nvPr/>
        </p:nvSpPr>
        <p:spPr bwMode="auto">
          <a:xfrm>
            <a:off x="5185172" y="1977628"/>
            <a:ext cx="898922" cy="300082"/>
          </a:xfrm>
          <a:prstGeom prst="rect">
            <a:avLst/>
          </a:prstGeom>
          <a:noFill/>
          <a:ln w="1270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algn="l" eaLnBrk="1" hangingPunct="1">
              <a:spcBef>
                <a:spcPct val="50000"/>
              </a:spcBef>
              <a:buFontTx/>
              <a:buNone/>
            </a:pPr>
            <a:r>
              <a:rPr lang="zh-TW" altLang="en-US" sz="1350" b="1">
                <a:solidFill>
                  <a:srgbClr val="000066"/>
                </a:solidFill>
                <a:latin typeface="Microsoft JhengHei" panose="020B0604020202020204" pitchFamily="34" charset="0"/>
                <a:ea typeface="Microsoft JhengHei" panose="03000509000000000000" pitchFamily="65" charset="-120"/>
                <a:cs typeface="Microsoft JhengHei"/>
              </a:rPr>
              <a:t>臨床判斷</a:t>
            </a:r>
          </a:p>
        </p:txBody>
      </p:sp>
      <p:sp>
        <p:nvSpPr>
          <p:cNvPr id="33813" name="Text Box 20">
            <a:extLst>
              <a:ext uri="{FF2B5EF4-FFF2-40B4-BE49-F238E27FC236}">
                <a16:creationId xmlns:a16="http://schemas.microsoft.com/office/drawing/2014/main" id="{F291F671-27AD-82EB-9D0B-42B3348A48C5}"/>
              </a:ext>
            </a:extLst>
          </p:cNvPr>
          <p:cNvSpPr txBox="1">
            <a:spLocks noChangeArrowheads="1"/>
          </p:cNvSpPr>
          <p:nvPr/>
        </p:nvSpPr>
        <p:spPr bwMode="auto">
          <a:xfrm>
            <a:off x="4281489" y="1977628"/>
            <a:ext cx="864394" cy="507831"/>
          </a:xfrm>
          <a:prstGeom prst="rect">
            <a:avLst/>
          </a:prstGeom>
          <a:noFill/>
          <a:ln w="1270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algn="l" eaLnBrk="1" hangingPunct="1">
              <a:spcBef>
                <a:spcPct val="50000"/>
              </a:spcBef>
              <a:buFontTx/>
              <a:buNone/>
            </a:pPr>
            <a:r>
              <a:rPr lang="zh-TW" altLang="en-US" sz="1350" b="1">
                <a:solidFill>
                  <a:srgbClr val="000066"/>
                </a:solidFill>
                <a:latin typeface="Microsoft JhengHei" panose="020B0604020202020204" pitchFamily="34" charset="0"/>
                <a:ea typeface="Microsoft JhengHei" panose="03000509000000000000" pitchFamily="65" charset="-120"/>
                <a:cs typeface="Microsoft JhengHei"/>
              </a:rPr>
              <a:t>醫療面談</a:t>
            </a:r>
          </a:p>
        </p:txBody>
      </p:sp>
      <p:sp>
        <p:nvSpPr>
          <p:cNvPr id="33814" name="AutoShape 21">
            <a:extLst>
              <a:ext uri="{FF2B5EF4-FFF2-40B4-BE49-F238E27FC236}">
                <a16:creationId xmlns:a16="http://schemas.microsoft.com/office/drawing/2014/main" id="{E2E77EB9-D6C3-5C48-5CA5-EBAB298BF485}"/>
              </a:ext>
            </a:extLst>
          </p:cNvPr>
          <p:cNvSpPr>
            <a:spLocks noChangeArrowheads="1"/>
          </p:cNvSpPr>
          <p:nvPr/>
        </p:nvSpPr>
        <p:spPr bwMode="auto">
          <a:xfrm rot="7994596">
            <a:off x="5635823" y="1724621"/>
            <a:ext cx="372666" cy="123825"/>
          </a:xfrm>
          <a:prstGeom prst="rightArrow">
            <a:avLst>
              <a:gd name="adj1" fmla="val 50000"/>
              <a:gd name="adj2" fmla="val 75240"/>
            </a:avLst>
          </a:prstGeom>
          <a:solidFill>
            <a:srgbClr val="3366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eaLnBrk="1" hangingPunct="1" algn="l">
              <a:spcBef>
                <a:spcPct val="0"/>
              </a:spcBef>
              <a:buFontTx/>
              <a:buNone/>
            </a:pPr>
            <a:endParaRPr lang="zh-TW" altLang="en-US" sz="1350">
              <a:latin typeface="Arial" panose="020B0604020202020204" pitchFamily="34" charset="0"/>
            </a:endParaRPr>
          </a:p>
        </p:txBody>
      </p:sp>
      <p:sp>
        <p:nvSpPr>
          <p:cNvPr id="33815" name="AutoShape 22">
            <a:extLst>
              <a:ext uri="{FF2B5EF4-FFF2-40B4-BE49-F238E27FC236}">
                <a16:creationId xmlns:a16="http://schemas.microsoft.com/office/drawing/2014/main" id="{BA1BCCA3-A1B5-A865-EA32-FAE39E841AC5}"/>
              </a:ext>
            </a:extLst>
          </p:cNvPr>
          <p:cNvSpPr>
            <a:spLocks noChangeArrowheads="1"/>
          </p:cNvSpPr>
          <p:nvPr/>
        </p:nvSpPr>
        <p:spPr bwMode="auto">
          <a:xfrm rot="2726800">
            <a:off x="6354962" y="1706762"/>
            <a:ext cx="372665" cy="123825"/>
          </a:xfrm>
          <a:prstGeom prst="rightArrow">
            <a:avLst>
              <a:gd name="adj1" fmla="val 50000"/>
              <a:gd name="adj2" fmla="val 75240"/>
            </a:avLst>
          </a:prstGeom>
          <a:solidFill>
            <a:srgbClr val="3366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eaLnBrk="1" hangingPunct="1" algn="l">
              <a:spcBef>
                <a:spcPct val="0"/>
              </a:spcBef>
              <a:buFontTx/>
              <a:buNone/>
            </a:pPr>
            <a:endParaRPr lang="zh-TW" altLang="en-US" sz="1350">
              <a:latin typeface="Arial" panose="020B0604020202020204" pitchFamily="34" charset="0"/>
            </a:endParaRPr>
          </a:p>
        </p:txBody>
      </p:sp>
      <p:sp>
        <p:nvSpPr>
          <p:cNvPr id="33816" name="AutoShape 23">
            <a:extLst>
              <a:ext uri="{FF2B5EF4-FFF2-40B4-BE49-F238E27FC236}">
                <a16:creationId xmlns:a16="http://schemas.microsoft.com/office/drawing/2014/main" id="{726197A5-57A9-F34E-01C6-5231CAC86179}"/>
              </a:ext>
            </a:extLst>
          </p:cNvPr>
          <p:cNvSpPr>
            <a:spLocks noChangeArrowheads="1"/>
          </p:cNvSpPr>
          <p:nvPr/>
        </p:nvSpPr>
        <p:spPr bwMode="auto">
          <a:xfrm rot="1707895">
            <a:off x="6931819" y="1725216"/>
            <a:ext cx="372666" cy="123825"/>
          </a:xfrm>
          <a:prstGeom prst="rightArrow">
            <a:avLst>
              <a:gd name="adj1" fmla="val 50000"/>
              <a:gd name="adj2" fmla="val 75240"/>
            </a:avLst>
          </a:prstGeom>
          <a:solidFill>
            <a:srgbClr val="3366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eaLnBrk="1" hangingPunct="1" algn="l">
              <a:spcBef>
                <a:spcPct val="0"/>
              </a:spcBef>
              <a:buFontTx/>
              <a:buNone/>
            </a:pPr>
            <a:endParaRPr lang="zh-TW" altLang="en-US" sz="1350">
              <a:latin typeface="Arial" panose="020B0604020202020204" pitchFamily="34" charset="0"/>
            </a:endParaRPr>
          </a:p>
        </p:txBody>
      </p:sp>
      <p:sp>
        <p:nvSpPr>
          <p:cNvPr id="33817" name="AutoShape 24">
            <a:extLst>
              <a:ext uri="{FF2B5EF4-FFF2-40B4-BE49-F238E27FC236}">
                <a16:creationId xmlns:a16="http://schemas.microsoft.com/office/drawing/2014/main" id="{8D0DDB31-DC3B-CA9A-E9A9-C9D0ACDB3E88}"/>
              </a:ext>
            </a:extLst>
          </p:cNvPr>
          <p:cNvSpPr>
            <a:spLocks noChangeArrowheads="1"/>
          </p:cNvSpPr>
          <p:nvPr/>
        </p:nvSpPr>
        <p:spPr bwMode="auto">
          <a:xfrm rot="5400000">
            <a:off x="2650332" y="2387205"/>
            <a:ext cx="216694" cy="154781"/>
          </a:xfrm>
          <a:prstGeom prst="rightArrow">
            <a:avLst>
              <a:gd name="adj1" fmla="val 50000"/>
              <a:gd name="adj2" fmla="val 35000"/>
            </a:avLst>
          </a:prstGeom>
          <a:solidFill>
            <a:srgbClr val="3366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eaLnBrk="1" hangingPunct="1" algn="l">
              <a:spcBef>
                <a:spcPct val="0"/>
              </a:spcBef>
              <a:buFontTx/>
              <a:buNone/>
            </a:pPr>
            <a:endParaRPr lang="zh-TW" altLang="en-US" sz="1350">
              <a:latin typeface="Arial" panose="020B0604020202020204" pitchFamily="34" charset="0"/>
            </a:endParaRPr>
          </a:p>
        </p:txBody>
      </p:sp>
      <p:sp>
        <p:nvSpPr>
          <p:cNvPr id="33818" name="AutoShape 25">
            <a:extLst>
              <a:ext uri="{FF2B5EF4-FFF2-40B4-BE49-F238E27FC236}">
                <a16:creationId xmlns:a16="http://schemas.microsoft.com/office/drawing/2014/main" id="{017862E7-E004-587A-80F6-05D827876B15}"/>
              </a:ext>
            </a:extLst>
          </p:cNvPr>
          <p:cNvSpPr>
            <a:spLocks noChangeArrowheads="1"/>
          </p:cNvSpPr>
          <p:nvPr/>
        </p:nvSpPr>
        <p:spPr bwMode="auto">
          <a:xfrm rot="5400000">
            <a:off x="2650332" y="3250408"/>
            <a:ext cx="216694" cy="154781"/>
          </a:xfrm>
          <a:prstGeom prst="rightArrow">
            <a:avLst>
              <a:gd name="adj1" fmla="val 50000"/>
              <a:gd name="adj2" fmla="val 35000"/>
            </a:avLst>
          </a:prstGeom>
          <a:solidFill>
            <a:srgbClr val="3366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eaLnBrk="1" hangingPunct="1" algn="l">
              <a:spcBef>
                <a:spcPct val="0"/>
              </a:spcBef>
              <a:buFontTx/>
              <a:buNone/>
            </a:pPr>
            <a:endParaRPr lang="zh-TW" altLang="en-US" sz="1350">
              <a:latin typeface="Arial" panose="020B0604020202020204" pitchFamily="34" charset="0"/>
            </a:endParaRPr>
          </a:p>
        </p:txBody>
      </p:sp>
      <p:sp>
        <p:nvSpPr>
          <p:cNvPr id="33819" name="AutoShape 26">
            <a:extLst>
              <a:ext uri="{FF2B5EF4-FFF2-40B4-BE49-F238E27FC236}">
                <a16:creationId xmlns:a16="http://schemas.microsoft.com/office/drawing/2014/main" id="{79F493E7-1106-AA0F-00B5-58C7806863CF}"/>
              </a:ext>
            </a:extLst>
          </p:cNvPr>
          <p:cNvSpPr>
            <a:spLocks noChangeArrowheads="1"/>
          </p:cNvSpPr>
          <p:nvPr/>
        </p:nvSpPr>
        <p:spPr bwMode="auto">
          <a:xfrm rot="5400000">
            <a:off x="2650332" y="4223149"/>
            <a:ext cx="216694" cy="154781"/>
          </a:xfrm>
          <a:prstGeom prst="rightArrow">
            <a:avLst>
              <a:gd name="adj1" fmla="val 50000"/>
              <a:gd name="adj2" fmla="val 35000"/>
            </a:avLst>
          </a:prstGeom>
          <a:solidFill>
            <a:srgbClr val="3366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eaLnBrk="1" hangingPunct="1" algn="l">
              <a:spcBef>
                <a:spcPct val="0"/>
              </a:spcBef>
              <a:buFontTx/>
              <a:buNone/>
            </a:pPr>
            <a:endParaRPr lang="zh-TW" altLang="en-US" sz="1350">
              <a:latin typeface="Arial" panose="020B0604020202020204" pitchFamily="34" charset="0"/>
            </a:endParaRPr>
          </a:p>
        </p:txBody>
      </p:sp>
      <p:sp>
        <p:nvSpPr>
          <p:cNvPr id="33820" name="Text Box 27">
            <a:extLst>
              <a:ext uri="{FF2B5EF4-FFF2-40B4-BE49-F238E27FC236}">
                <a16:creationId xmlns:a16="http://schemas.microsoft.com/office/drawing/2014/main" id="{EEBE6837-64B3-8B95-9E6B-03DE96495EA7}"/>
              </a:ext>
            </a:extLst>
          </p:cNvPr>
          <p:cNvSpPr txBox="1">
            <a:spLocks noChangeArrowheads="1"/>
          </p:cNvSpPr>
          <p:nvPr/>
        </p:nvSpPr>
        <p:spPr bwMode="auto">
          <a:xfrm>
            <a:off x="5350669" y="2896791"/>
            <a:ext cx="323850" cy="92333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algn="l">
              <a:spcBef>
                <a:spcPct val="50000"/>
              </a:spcBef>
              <a:buFontTx/>
              <a:buNone/>
            </a:pPr>
            <a:r>
              <a:rPr lang="zh-TW" altLang="en-US" sz="1350" b="1">
                <a:solidFill>
                  <a:srgbClr val="000066"/>
                </a:solidFill>
                <a:latin typeface="Microsoft JhengHei" panose="020B0604020202020204" pitchFamily="34" charset="0"/>
                <a:ea typeface="Microsoft JhengHei" panose="03000509000000000000" pitchFamily="65" charset="-120"/>
                <a:cs typeface="Microsoft JhengHei"/>
              </a:rPr>
              <a:t>共同決策</a:t>
            </a:r>
          </a:p>
        </p:txBody>
      </p:sp>
      <p:sp>
        <p:nvSpPr>
          <p:cNvPr id="33821" name="AutoShape 28">
            <a:extLst>
              <a:ext uri="{FF2B5EF4-FFF2-40B4-BE49-F238E27FC236}">
                <a16:creationId xmlns:a16="http://schemas.microsoft.com/office/drawing/2014/main" id="{1E94B413-4CF5-AC6F-71E9-9EB1A1DC1B5E}"/>
              </a:ext>
            </a:extLst>
          </p:cNvPr>
          <p:cNvSpPr>
            <a:spLocks noChangeArrowheads="1"/>
          </p:cNvSpPr>
          <p:nvPr/>
        </p:nvSpPr>
        <p:spPr bwMode="auto">
          <a:xfrm rot="6616168">
            <a:off x="4203502" y="2539008"/>
            <a:ext cx="485775" cy="108347"/>
          </a:xfrm>
          <a:prstGeom prst="rightArrow">
            <a:avLst>
              <a:gd name="adj1" fmla="val 50000"/>
              <a:gd name="adj2" fmla="val 112088"/>
            </a:avLst>
          </a:prstGeom>
          <a:solidFill>
            <a:srgbClr val="3366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eaLnBrk="1" hangingPunct="1" algn="l">
              <a:spcBef>
                <a:spcPct val="0"/>
              </a:spcBef>
              <a:buFontTx/>
              <a:buNone/>
            </a:pPr>
            <a:endParaRPr lang="zh-TW" altLang="en-US" sz="1350">
              <a:latin typeface="Arial" panose="020B0604020202020204" pitchFamily="34" charset="0"/>
            </a:endParaRPr>
          </a:p>
        </p:txBody>
      </p:sp>
      <p:sp>
        <p:nvSpPr>
          <p:cNvPr id="33822" name="AutoShape 29">
            <a:extLst>
              <a:ext uri="{FF2B5EF4-FFF2-40B4-BE49-F238E27FC236}">
                <a16:creationId xmlns:a16="http://schemas.microsoft.com/office/drawing/2014/main" id="{439D1669-CFB4-3068-6EF7-2E86776D7C09}"/>
              </a:ext>
            </a:extLst>
          </p:cNvPr>
          <p:cNvSpPr>
            <a:spLocks noChangeArrowheads="1"/>
          </p:cNvSpPr>
          <p:nvPr/>
        </p:nvSpPr>
        <p:spPr bwMode="auto">
          <a:xfrm rot="5400000">
            <a:off x="4482108" y="2544961"/>
            <a:ext cx="485775" cy="108347"/>
          </a:xfrm>
          <a:prstGeom prst="rightArrow">
            <a:avLst>
              <a:gd name="adj1" fmla="val 50000"/>
              <a:gd name="adj2" fmla="val 112088"/>
            </a:avLst>
          </a:prstGeom>
          <a:solidFill>
            <a:srgbClr val="3366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eaLnBrk="1" hangingPunct="1" algn="l">
              <a:spcBef>
                <a:spcPct val="0"/>
              </a:spcBef>
              <a:buFontTx/>
              <a:buNone/>
            </a:pPr>
            <a:endParaRPr lang="zh-TW" altLang="en-US" sz="1350">
              <a:latin typeface="Arial" panose="020B0604020202020204" pitchFamily="34" charset="0"/>
            </a:endParaRPr>
          </a:p>
        </p:txBody>
      </p:sp>
      <p:sp>
        <p:nvSpPr>
          <p:cNvPr id="33823" name="AutoShape 30">
            <a:extLst>
              <a:ext uri="{FF2B5EF4-FFF2-40B4-BE49-F238E27FC236}">
                <a16:creationId xmlns:a16="http://schemas.microsoft.com/office/drawing/2014/main" id="{8DBA36B8-F2E3-DE75-B166-0478D21C8EDC}"/>
              </a:ext>
            </a:extLst>
          </p:cNvPr>
          <p:cNvSpPr>
            <a:spLocks noChangeArrowheads="1"/>
          </p:cNvSpPr>
          <p:nvPr/>
        </p:nvSpPr>
        <p:spPr bwMode="auto">
          <a:xfrm rot="4706392">
            <a:off x="4720233" y="2544961"/>
            <a:ext cx="485775" cy="108347"/>
          </a:xfrm>
          <a:prstGeom prst="rightArrow">
            <a:avLst>
              <a:gd name="adj1" fmla="val 50000"/>
              <a:gd name="adj2" fmla="val 112088"/>
            </a:avLst>
          </a:prstGeom>
          <a:solidFill>
            <a:srgbClr val="3366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eaLnBrk="1" hangingPunct="1" algn="l">
              <a:spcBef>
                <a:spcPct val="0"/>
              </a:spcBef>
              <a:buFontTx/>
              <a:buNone/>
            </a:pPr>
            <a:endParaRPr lang="zh-TW" altLang="en-US" sz="1350">
              <a:latin typeface="Arial" panose="020B0604020202020204" pitchFamily="34" charset="0"/>
            </a:endParaRPr>
          </a:p>
        </p:txBody>
      </p:sp>
      <p:sp>
        <p:nvSpPr>
          <p:cNvPr id="33824" name="AutoShape 31">
            <a:extLst>
              <a:ext uri="{FF2B5EF4-FFF2-40B4-BE49-F238E27FC236}">
                <a16:creationId xmlns:a16="http://schemas.microsoft.com/office/drawing/2014/main" id="{3A415373-CEE7-BDB8-016B-F74C6B477EB6}"/>
              </a:ext>
            </a:extLst>
          </p:cNvPr>
          <p:cNvSpPr>
            <a:spLocks noChangeArrowheads="1"/>
          </p:cNvSpPr>
          <p:nvPr/>
        </p:nvSpPr>
        <p:spPr bwMode="auto">
          <a:xfrm rot="3527162">
            <a:off x="4935142" y="2536032"/>
            <a:ext cx="594122" cy="108347"/>
          </a:xfrm>
          <a:prstGeom prst="rightArrow">
            <a:avLst>
              <a:gd name="adj1" fmla="val 50000"/>
              <a:gd name="adj2" fmla="val 137088"/>
            </a:avLst>
          </a:prstGeom>
          <a:solidFill>
            <a:srgbClr val="3366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eaLnBrk="1" hangingPunct="1" algn="l">
              <a:spcBef>
                <a:spcPct val="0"/>
              </a:spcBef>
              <a:buFontTx/>
              <a:buNone/>
            </a:pPr>
            <a:endParaRPr lang="zh-TW" altLang="en-US" sz="1350">
              <a:latin typeface="Arial" panose="020B0604020202020204" pitchFamily="34" charset="0"/>
            </a:endParaRPr>
          </a:p>
        </p:txBody>
      </p:sp>
      <p:sp>
        <p:nvSpPr>
          <p:cNvPr id="87072" name="Text Box 32">
            <a:extLst>
              <a:ext uri="{FF2B5EF4-FFF2-40B4-BE49-F238E27FC236}">
                <a16:creationId xmlns:a16="http://schemas.microsoft.com/office/drawing/2014/main" id="{55A06B93-9156-F0D5-9C86-9300473F15EA}"/>
              </a:ext>
            </a:extLst>
          </p:cNvPr>
          <p:cNvSpPr txBox="1">
            <a:spLocks noChangeArrowheads="1"/>
          </p:cNvSpPr>
          <p:nvPr/>
        </p:nvSpPr>
        <p:spPr bwMode="auto">
          <a:xfrm>
            <a:off x="1980010" y="2518173"/>
            <a:ext cx="5689997" cy="553998"/>
          </a:xfrm>
          <a:prstGeom prst="rect">
            <a:avLst/>
          </a:prstGeom>
          <a:solidFill>
            <a:srgbClr val="800000">
              <a:alpha val="7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algn="l">
              <a:spcBef>
                <a:spcPct val="50000"/>
              </a:spcBef>
              <a:buFontTx/>
              <a:buNone/>
            </a:pPr>
            <a:r>
              <a:rPr lang="en-US" altLang="zh-TW" sz="3000" b="1">
                <a:solidFill>
                  <a:srgbClr val="FFFF66"/>
                </a:solidFill>
                <a:latin typeface="Microsoft JhengHei" panose="02020603050405020304" pitchFamily="18" charset="0"/>
                <a:ea typeface="Microsoft JhengHei"/>
                <a:cs typeface="Microsoft JhengHei"/>
              </a:rPr>
              <a:t>Performance dimension training</a:t>
            </a:r>
            <a:endParaRPr lang="zh-TW" altLang="en-US" sz="3000" b="1">
              <a:solidFill>
                <a:srgbClr val="FFFF66"/>
              </a:solidFill>
              <a:latin typeface="Times New Roman" panose="02020603050405020304" pitchFamily="18" charset="0"/>
            </a:endParaRPr>
          </a:p>
        </p:txBody>
      </p:sp>
      <p:pic>
        <p:nvPicPr>
          <p:cNvPr id="33826" name="Picture 4" descr="【會徽】台灣醫學教育學會">
            <a:extLst>
              <a:ext uri="{FF2B5EF4-FFF2-40B4-BE49-F238E27FC236}">
                <a16:creationId xmlns:a16="http://schemas.microsoft.com/office/drawing/2014/main" id="{6A30A3A4-0497-C56E-645B-94757F3AD9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10412" y="1"/>
            <a:ext cx="890588" cy="850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7056"/>
                                        </p:tgtEl>
                                        <p:attrNameLst>
                                          <p:attrName>style.visibility</p:attrName>
                                        </p:attrNameLst>
                                      </p:cBhvr>
                                      <p:to>
                                        <p:strVal val="visible"/>
                                      </p:to>
                                    </p:set>
                                    <p:animEffect transition="in" filter="blinds(horizontal)">
                                      <p:cBhvr>
                                        <p:cTn id="7" dur="2000"/>
                                        <p:tgtEl>
                                          <p:spTgt spid="870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87072"/>
                                        </p:tgtEl>
                                        <p:attrNameLst>
                                          <p:attrName>style.visibility</p:attrName>
                                        </p:attrNameLst>
                                      </p:cBhvr>
                                      <p:to>
                                        <p:strVal val="visible"/>
                                      </p:to>
                                    </p:set>
                                    <p:animEffect transition="in" filter="blinds(horizontal)">
                                      <p:cBhvr>
                                        <p:cTn id="12" dur="500"/>
                                        <p:tgtEl>
                                          <p:spTgt spid="870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56" grpId="0" animBg="1"/>
      <p:bldP spid="8707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投影片編號版面配置區 5">
            <a:extLst>
              <a:ext uri="{FF2B5EF4-FFF2-40B4-BE49-F238E27FC236}">
                <a16:creationId xmlns:a16="http://schemas.microsoft.com/office/drawing/2014/main" id="{703E57F1-17F2-0E47-B265-1D3B08C0A13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1pPr>
            <a:lvl2pPr marL="557213" indent="-214313">
              <a:spcBef>
                <a:spcPct val="20000"/>
              </a:spcBef>
              <a:buFont typeface="Arial" panose="020B0604020202020204" pitchFamily="34" charset="0"/>
              <a:buChar char="–"/>
              <a:defRPr kumimoji="1" sz="2100">
                <a:solidFill>
                  <a:schemeClr val="tx1"/>
                </a:solidFill>
                <a:latin typeface="Calibri" panose="020F0502020204030204" pitchFamily="34" charset="0"/>
                <a:ea typeface="新細明體" panose="02020500000000000000" pitchFamily="18" charset="-120"/>
              </a:defRPr>
            </a:lvl2pPr>
            <a:lvl3pPr marL="857250" indent="-171450">
              <a:spcBef>
                <a:spcPct val="20000"/>
              </a:spcBef>
              <a:buFont typeface="Arial" panose="020B0604020202020204" pitchFamily="34" charset="0"/>
              <a:buChar char="•"/>
              <a:defRPr kumimoji="1" sz="1800">
                <a:solidFill>
                  <a:schemeClr val="tx1"/>
                </a:solidFill>
                <a:latin typeface="Calibri" panose="020F0502020204030204" pitchFamily="34" charset="0"/>
                <a:ea typeface="新細明體" panose="02020500000000000000" pitchFamily="18" charset="-120"/>
              </a:defRPr>
            </a:lvl3pPr>
            <a:lvl4pPr marL="1200150" indent="-171450">
              <a:spcBef>
                <a:spcPct val="20000"/>
              </a:spcBef>
              <a:buFont typeface="Arial" panose="020B0604020202020204" pitchFamily="34" charset="0"/>
              <a:buChar char="–"/>
              <a:defRPr kumimoji="1" sz="1500">
                <a:solidFill>
                  <a:schemeClr val="tx1"/>
                </a:solidFill>
                <a:latin typeface="Calibri" panose="020F0502020204030204" pitchFamily="34" charset="0"/>
                <a:ea typeface="新細明體" panose="02020500000000000000" pitchFamily="18" charset="-120"/>
              </a:defRPr>
            </a:lvl4pPr>
            <a:lvl5pPr marL="1543050" indent="-171450">
              <a:spcBef>
                <a:spcPct val="20000"/>
              </a:spcBef>
              <a:buFont typeface="Arial" panose="020B0604020202020204" pitchFamily="34" charset="0"/>
              <a:buChar char="»"/>
              <a:defRPr kumimoji="1" sz="1500">
                <a:solidFill>
                  <a:schemeClr val="tx1"/>
                </a:solidFill>
                <a:latin typeface="Calibri" panose="020F0502020204030204" pitchFamily="34" charset="0"/>
                <a:ea typeface="新細明體" panose="02020500000000000000" pitchFamily="18" charset="-120"/>
              </a:defRPr>
            </a:lvl5pPr>
            <a:lvl6pPr marL="1885950" indent="-171450" eaLnBrk="0" fontAlgn="base" hangingPunct="0">
              <a:spcBef>
                <a:spcPct val="20000"/>
              </a:spcBef>
              <a:spcAft>
                <a:spcPct val="0"/>
              </a:spcAft>
              <a:buFont typeface="Arial" panose="020B0604020202020204" pitchFamily="34" charset="0"/>
              <a:buChar char="»"/>
              <a:defRPr kumimoji="1" sz="1500">
                <a:solidFill>
                  <a:schemeClr val="tx1"/>
                </a:solidFill>
                <a:latin typeface="Calibri" panose="020F0502020204030204" pitchFamily="34" charset="0"/>
                <a:ea typeface="新細明體" panose="02020500000000000000" pitchFamily="18" charset="-120"/>
              </a:defRPr>
            </a:lvl6pPr>
            <a:lvl7pPr marL="2228850" indent="-171450" eaLnBrk="0" fontAlgn="base" hangingPunct="0">
              <a:spcBef>
                <a:spcPct val="20000"/>
              </a:spcBef>
              <a:spcAft>
                <a:spcPct val="0"/>
              </a:spcAft>
              <a:buFont typeface="Arial" panose="020B0604020202020204" pitchFamily="34" charset="0"/>
              <a:buChar char="»"/>
              <a:defRPr kumimoji="1" sz="1500">
                <a:solidFill>
                  <a:schemeClr val="tx1"/>
                </a:solidFill>
                <a:latin typeface="Calibri" panose="020F0502020204030204" pitchFamily="34" charset="0"/>
                <a:ea typeface="新細明體" panose="02020500000000000000" pitchFamily="18" charset="-120"/>
              </a:defRPr>
            </a:lvl7pPr>
            <a:lvl8pPr marL="2571750" indent="-171450" eaLnBrk="0" fontAlgn="base" hangingPunct="0">
              <a:spcBef>
                <a:spcPct val="20000"/>
              </a:spcBef>
              <a:spcAft>
                <a:spcPct val="0"/>
              </a:spcAft>
              <a:buFont typeface="Arial" panose="020B0604020202020204" pitchFamily="34" charset="0"/>
              <a:buChar char="»"/>
              <a:defRPr kumimoji="1" sz="1500">
                <a:solidFill>
                  <a:schemeClr val="tx1"/>
                </a:solidFill>
                <a:latin typeface="Calibri" panose="020F0502020204030204" pitchFamily="34" charset="0"/>
                <a:ea typeface="新細明體" panose="02020500000000000000" pitchFamily="18" charset="-120"/>
              </a:defRPr>
            </a:lvl8pPr>
            <a:lvl9pPr marL="2914650" indent="-171450" eaLnBrk="0" fontAlgn="base" hangingPunct="0">
              <a:spcBef>
                <a:spcPct val="20000"/>
              </a:spcBef>
              <a:spcAft>
                <a:spcPct val="0"/>
              </a:spcAft>
              <a:buFont typeface="Arial" panose="020B0604020202020204" pitchFamily="34" charset="0"/>
              <a:buChar char="»"/>
              <a:defRPr kumimoji="1" sz="1500">
                <a:solidFill>
                  <a:schemeClr val="tx1"/>
                </a:solidFill>
                <a:latin typeface="Calibri" panose="020F0502020204030204" pitchFamily="34" charset="0"/>
                <a:ea typeface="新細明體" panose="02020500000000000000" pitchFamily="18" charset="-120"/>
              </a:defRPr>
            </a:lvl9pPr>
          </a:lstStyle>
          <a:p>
            <a:pPr algn="l">
              <a:spcBef>
                <a:spcPct val="0"/>
              </a:spcBef>
              <a:buFontTx/>
              <a:buNone/>
            </a:pPr>
            <a:fld id="{DD695D5A-A06E-40F3-95A2-435BD02C5D92}" type="slidenum">
              <a:rPr kumimoji="0" lang="zh-TW" altLang="en-US" sz="900">
                <a:solidFill>
                  <a:srgbClr val="898989"/>
                </a:solidFill>
              </a:rPr>
              <a:pPr>
                <a:spcBef>
                  <a:spcPct val="0"/>
                </a:spcBef>
                <a:buFontTx/>
                <a:buNone/>
              </a:pPr>
              <a:t>29</a:t>
            </a:fld>
            <a:endParaRPr kumimoji="0" lang="en-US" altLang="zh-TW" sz="900">
              <a:solidFill>
                <a:srgbClr val="898989"/>
              </a:solidFill>
            </a:endParaRPr>
          </a:p>
        </p:txBody>
      </p:sp>
      <p:sp>
        <p:nvSpPr>
          <p:cNvPr id="35843" name="Text Box 3">
            <a:extLst>
              <a:ext uri="{FF2B5EF4-FFF2-40B4-BE49-F238E27FC236}">
                <a16:creationId xmlns:a16="http://schemas.microsoft.com/office/drawing/2014/main" id="{0163D1A8-1B95-DFDA-2A32-87C05E9338E0}"/>
              </a:ext>
            </a:extLst>
          </p:cNvPr>
          <p:cNvSpPr txBox="1">
            <a:spLocks noChangeArrowheads="1"/>
          </p:cNvSpPr>
          <p:nvPr/>
        </p:nvSpPr>
        <p:spPr bwMode="auto">
          <a:xfrm>
            <a:off x="2405555" y="1502569"/>
            <a:ext cx="392415"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algn="l">
              <a:spcBef>
                <a:spcPct val="50000"/>
              </a:spcBef>
              <a:buFontTx/>
              <a:buNone/>
            </a:pPr>
            <a:endParaRPr lang="zh-TW" altLang="en-US" sz="1350">
              <a:latin typeface="Arial" panose="020B0604020202020204" pitchFamily="34" charset="0"/>
            </a:endParaRPr>
          </a:p>
        </p:txBody>
      </p:sp>
      <p:sp>
        <p:nvSpPr>
          <p:cNvPr id="35844" name="Text Box 4">
            <a:extLst>
              <a:ext uri="{FF2B5EF4-FFF2-40B4-BE49-F238E27FC236}">
                <a16:creationId xmlns:a16="http://schemas.microsoft.com/office/drawing/2014/main" id="{71A72032-A095-9AD4-F34C-165AD8D8BE8C}"/>
              </a:ext>
            </a:extLst>
          </p:cNvPr>
          <p:cNvSpPr txBox="1">
            <a:spLocks noChangeArrowheads="1"/>
          </p:cNvSpPr>
          <p:nvPr/>
        </p:nvSpPr>
        <p:spPr bwMode="auto">
          <a:xfrm>
            <a:off x="1871664" y="1203723"/>
            <a:ext cx="1835944" cy="41549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algn="l">
              <a:spcBef>
                <a:spcPct val="50000"/>
              </a:spcBef>
              <a:buFontTx/>
              <a:buNone/>
            </a:pPr>
            <a:r>
              <a:rPr lang="zh-TW" altLang="en-US" sz="2100" b="1">
                <a:solidFill>
                  <a:srgbClr val="000066"/>
                </a:solidFill>
                <a:latin typeface="Microsoft JhengHei" panose="020B0604020202020204" pitchFamily="34" charset="0"/>
                <a:ea typeface="Microsoft JhengHei" panose="03000509000000000000" pitchFamily="65" charset="-120"/>
                <a:cs typeface="Microsoft JhengHei"/>
              </a:rPr>
              <a:t>確認評估目標</a:t>
            </a:r>
          </a:p>
        </p:txBody>
      </p:sp>
      <p:sp>
        <p:nvSpPr>
          <p:cNvPr id="35845" name="Text Box 5">
            <a:extLst>
              <a:ext uri="{FF2B5EF4-FFF2-40B4-BE49-F238E27FC236}">
                <a16:creationId xmlns:a16="http://schemas.microsoft.com/office/drawing/2014/main" id="{87A6945B-EDEB-5D04-77F8-C7C1120B2C5A}"/>
              </a:ext>
            </a:extLst>
          </p:cNvPr>
          <p:cNvSpPr txBox="1">
            <a:spLocks noChangeArrowheads="1"/>
          </p:cNvSpPr>
          <p:nvPr/>
        </p:nvSpPr>
        <p:spPr bwMode="auto">
          <a:xfrm>
            <a:off x="4616054" y="2864645"/>
            <a:ext cx="323850" cy="71558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algn="l">
              <a:spcBef>
                <a:spcPct val="50000"/>
              </a:spcBef>
              <a:buFontTx/>
              <a:buNone/>
            </a:pPr>
            <a:r>
              <a:rPr lang="zh-TW" altLang="en-US" sz="1350" b="1">
                <a:solidFill>
                  <a:srgbClr val="000066"/>
                </a:solidFill>
                <a:latin typeface="Microsoft JhengHei" panose="020B0604020202020204" pitchFamily="34" charset="0"/>
                <a:ea typeface="Microsoft JhengHei" panose="03000509000000000000" pitchFamily="65" charset="-120"/>
                <a:cs typeface="Microsoft JhengHei"/>
              </a:rPr>
              <a:t>同理心</a:t>
            </a:r>
          </a:p>
        </p:txBody>
      </p:sp>
      <p:sp>
        <p:nvSpPr>
          <p:cNvPr id="35846" name="Text Box 6">
            <a:extLst>
              <a:ext uri="{FF2B5EF4-FFF2-40B4-BE49-F238E27FC236}">
                <a16:creationId xmlns:a16="http://schemas.microsoft.com/office/drawing/2014/main" id="{4D3282D2-4749-91B5-BA68-6F1DDFB21F23}"/>
              </a:ext>
            </a:extLst>
          </p:cNvPr>
          <p:cNvSpPr txBox="1">
            <a:spLocks noChangeArrowheads="1"/>
          </p:cNvSpPr>
          <p:nvPr/>
        </p:nvSpPr>
        <p:spPr bwMode="auto">
          <a:xfrm>
            <a:off x="1709739" y="4462462"/>
            <a:ext cx="3132535" cy="41549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algn="l">
              <a:spcBef>
                <a:spcPct val="50000"/>
              </a:spcBef>
              <a:buFontTx/>
              <a:buNone/>
            </a:pPr>
            <a:r>
              <a:rPr lang="zh-TW" altLang="en-US" sz="2100" b="1">
                <a:solidFill>
                  <a:srgbClr val="000066"/>
                </a:solidFill>
                <a:latin typeface="Microsoft JhengHei" panose="020B0604020202020204" pitchFamily="34" charset="0"/>
                <a:ea typeface="Microsoft JhengHei" panose="03000509000000000000" pitchFamily="65" charset="-120"/>
                <a:cs typeface="Microsoft JhengHei"/>
              </a:rPr>
              <a:t>逐項目進行討論決定去留</a:t>
            </a:r>
          </a:p>
        </p:txBody>
      </p:sp>
      <p:sp>
        <p:nvSpPr>
          <p:cNvPr id="35847" name="Text Box 7">
            <a:extLst>
              <a:ext uri="{FF2B5EF4-FFF2-40B4-BE49-F238E27FC236}">
                <a16:creationId xmlns:a16="http://schemas.microsoft.com/office/drawing/2014/main" id="{5202DD85-DB7D-4BB6-1B75-77DE17EA0F21}"/>
              </a:ext>
            </a:extLst>
          </p:cNvPr>
          <p:cNvSpPr txBox="1">
            <a:spLocks noChangeArrowheads="1"/>
          </p:cNvSpPr>
          <p:nvPr/>
        </p:nvSpPr>
        <p:spPr bwMode="auto">
          <a:xfrm>
            <a:off x="1818086" y="3529013"/>
            <a:ext cx="1782365" cy="92333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algn="l">
              <a:spcBef>
                <a:spcPct val="50000"/>
              </a:spcBef>
              <a:buFontTx/>
              <a:buNone/>
            </a:pPr>
            <a:r>
              <a:rPr lang="zh-TW" altLang="en-US" sz="1800" b="1">
                <a:solidFill>
                  <a:srgbClr val="000066"/>
                </a:solidFill>
                <a:latin typeface="Microsoft JhengHei" panose="02020603050405020304" pitchFamily="18" charset="0"/>
                <a:ea typeface="Microsoft JhengHei" panose="03000509000000000000" pitchFamily="65" charset="-120"/>
                <a:cs typeface="Microsoft JhengHei"/>
              </a:rPr>
              <a:t>每一面向拆解成數項欲測量項目</a:t>
            </a:r>
          </a:p>
        </p:txBody>
      </p:sp>
      <p:sp>
        <p:nvSpPr>
          <p:cNvPr id="35848" name="AutoShape 8">
            <a:extLst>
              <a:ext uri="{FF2B5EF4-FFF2-40B4-BE49-F238E27FC236}">
                <a16:creationId xmlns:a16="http://schemas.microsoft.com/office/drawing/2014/main" id="{AEA9A8DD-E88A-A5FC-17B6-46D9DD15A16A}"/>
              </a:ext>
            </a:extLst>
          </p:cNvPr>
          <p:cNvSpPr>
            <a:spLocks noChangeArrowheads="1"/>
          </p:cNvSpPr>
          <p:nvPr/>
        </p:nvSpPr>
        <p:spPr bwMode="auto">
          <a:xfrm rot="9230845">
            <a:off x="4958955" y="1750219"/>
            <a:ext cx="372665" cy="123825"/>
          </a:xfrm>
          <a:prstGeom prst="rightArrow">
            <a:avLst>
              <a:gd name="adj1" fmla="val 50000"/>
              <a:gd name="adj2" fmla="val 75240"/>
            </a:avLst>
          </a:prstGeom>
          <a:solidFill>
            <a:srgbClr val="3366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eaLnBrk="1" hangingPunct="1" algn="l">
              <a:spcBef>
                <a:spcPct val="0"/>
              </a:spcBef>
              <a:buFontTx/>
              <a:buNone/>
            </a:pPr>
            <a:endParaRPr lang="zh-TW" altLang="en-US" sz="1350">
              <a:latin typeface="Arial" panose="020B0604020202020204" pitchFamily="34" charset="0"/>
            </a:endParaRPr>
          </a:p>
        </p:txBody>
      </p:sp>
      <p:sp>
        <p:nvSpPr>
          <p:cNvPr id="35849" name="AutoShape 9">
            <a:extLst>
              <a:ext uri="{FF2B5EF4-FFF2-40B4-BE49-F238E27FC236}">
                <a16:creationId xmlns:a16="http://schemas.microsoft.com/office/drawing/2014/main" id="{66C8C949-8E76-7998-F366-85B7175A8C96}"/>
              </a:ext>
            </a:extLst>
          </p:cNvPr>
          <p:cNvSpPr>
            <a:spLocks noChangeArrowheads="1"/>
          </p:cNvSpPr>
          <p:nvPr/>
        </p:nvSpPr>
        <p:spPr bwMode="auto">
          <a:xfrm rot="5400000">
            <a:off x="2650332" y="1684736"/>
            <a:ext cx="216694" cy="154781"/>
          </a:xfrm>
          <a:prstGeom prst="rightArrow">
            <a:avLst>
              <a:gd name="adj1" fmla="val 50000"/>
              <a:gd name="adj2" fmla="val 35000"/>
            </a:avLst>
          </a:prstGeom>
          <a:solidFill>
            <a:srgbClr val="3366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eaLnBrk="1" hangingPunct="1" algn="l">
              <a:spcBef>
                <a:spcPct val="0"/>
              </a:spcBef>
              <a:buFontTx/>
              <a:buNone/>
            </a:pPr>
            <a:endParaRPr lang="zh-TW" altLang="en-US" sz="1350">
              <a:latin typeface="Arial" panose="020B0604020202020204" pitchFamily="34" charset="0"/>
            </a:endParaRPr>
          </a:p>
        </p:txBody>
      </p:sp>
      <p:sp>
        <p:nvSpPr>
          <p:cNvPr id="35850" name="Text Box 10">
            <a:extLst>
              <a:ext uri="{FF2B5EF4-FFF2-40B4-BE49-F238E27FC236}">
                <a16:creationId xmlns:a16="http://schemas.microsoft.com/office/drawing/2014/main" id="{A60FA265-7A22-C1A4-9E8F-FB726199E97B}"/>
              </a:ext>
            </a:extLst>
          </p:cNvPr>
          <p:cNvSpPr txBox="1">
            <a:spLocks noChangeArrowheads="1"/>
          </p:cNvSpPr>
          <p:nvPr/>
        </p:nvSpPr>
        <p:spPr bwMode="auto">
          <a:xfrm>
            <a:off x="4237436" y="2875361"/>
            <a:ext cx="325040" cy="123495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algn="l">
              <a:spcBef>
                <a:spcPct val="50000"/>
              </a:spcBef>
              <a:buFontTx/>
              <a:buNone/>
            </a:pPr>
            <a:r>
              <a:rPr lang="zh-TW" altLang="en-US" sz="1350" b="1">
                <a:solidFill>
                  <a:srgbClr val="000066"/>
                </a:solidFill>
                <a:latin typeface="Microsoft JhengHei" panose="020B0604020202020204" pitchFamily="34" charset="0"/>
                <a:ea typeface="Microsoft JhengHei" panose="03000509000000000000" pitchFamily="65" charset="-120"/>
                <a:cs typeface="Microsoft JhengHei"/>
              </a:rPr>
              <a:t>溝</a:t>
            </a:r>
          </a:p>
          <a:p>
            <a:pPr algn="l">
              <a:spcBef>
                <a:spcPct val="50000"/>
              </a:spcBef>
              <a:buFontTx/>
              <a:buNone/>
            </a:pPr>
            <a:r>
              <a:rPr lang="zh-TW" altLang="en-US" sz="1350" b="1">
                <a:solidFill>
                  <a:srgbClr val="000066"/>
                </a:solidFill>
                <a:latin typeface="Microsoft JhengHei" panose="020B0604020202020204" pitchFamily="34" charset="0"/>
                <a:ea typeface="Microsoft JhengHei" panose="03000509000000000000" pitchFamily="65" charset="-120"/>
                <a:cs typeface="Microsoft JhengHei"/>
              </a:rPr>
              <a:t>通</a:t>
            </a:r>
          </a:p>
          <a:p>
            <a:pPr algn="l">
              <a:spcBef>
                <a:spcPct val="50000"/>
              </a:spcBef>
              <a:buFontTx/>
              <a:buNone/>
            </a:pPr>
            <a:r>
              <a:rPr lang="zh-TW" altLang="en-US" sz="1350" b="1">
                <a:solidFill>
                  <a:srgbClr val="000066"/>
                </a:solidFill>
                <a:latin typeface="Microsoft JhengHei" panose="020B0604020202020204" pitchFamily="34" charset="0"/>
                <a:ea typeface="Microsoft JhengHei" panose="03000509000000000000" pitchFamily="65" charset="-120"/>
                <a:cs typeface="Microsoft JhengHei"/>
              </a:rPr>
              <a:t>技</a:t>
            </a:r>
          </a:p>
          <a:p>
            <a:pPr algn="l">
              <a:spcBef>
                <a:spcPct val="50000"/>
              </a:spcBef>
              <a:buFontTx/>
              <a:buNone/>
            </a:pPr>
            <a:r>
              <a:rPr lang="zh-TW" altLang="en-US" sz="1350" b="1">
                <a:solidFill>
                  <a:srgbClr val="000066"/>
                </a:solidFill>
                <a:latin typeface="Microsoft JhengHei" panose="020B0604020202020204" pitchFamily="34" charset="0"/>
                <a:ea typeface="Microsoft JhengHei" panose="03000509000000000000" pitchFamily="65" charset="-120"/>
                <a:cs typeface="Microsoft JhengHei"/>
              </a:rPr>
              <a:t>巧</a:t>
            </a:r>
          </a:p>
        </p:txBody>
      </p:sp>
      <p:sp>
        <p:nvSpPr>
          <p:cNvPr id="35851" name="Text Box 11">
            <a:extLst>
              <a:ext uri="{FF2B5EF4-FFF2-40B4-BE49-F238E27FC236}">
                <a16:creationId xmlns:a16="http://schemas.microsoft.com/office/drawing/2014/main" id="{AAF21FB6-ACF2-F33D-937D-FC69902FFE19}"/>
              </a:ext>
            </a:extLst>
          </p:cNvPr>
          <p:cNvSpPr txBox="1">
            <a:spLocks noChangeArrowheads="1"/>
          </p:cNvSpPr>
          <p:nvPr/>
        </p:nvSpPr>
        <p:spPr bwMode="auto">
          <a:xfrm>
            <a:off x="5219701" y="1168004"/>
            <a:ext cx="1835944" cy="415498"/>
          </a:xfrm>
          <a:prstGeom prst="rect">
            <a:avLst/>
          </a:prstGeom>
          <a:noFill/>
          <a:ln w="952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algn="l" eaLnBrk="1" hangingPunct="1">
              <a:spcBef>
                <a:spcPct val="50000"/>
              </a:spcBef>
              <a:buFontTx/>
              <a:buNone/>
            </a:pPr>
            <a:r>
              <a:rPr lang="en-US" altLang="zh-TW" sz="2100" b="1">
                <a:solidFill>
                  <a:srgbClr val="000066"/>
                </a:solidFill>
                <a:latin typeface="Microsoft JhengHei" panose="02020603050405020304" pitchFamily="18" charset="0"/>
                <a:ea typeface="Microsoft JhengHei"/>
                <a:cs typeface="Microsoft JhengHei"/>
              </a:rPr>
              <a:t>Mini-CEX</a:t>
            </a:r>
          </a:p>
        </p:txBody>
      </p:sp>
      <p:sp>
        <p:nvSpPr>
          <p:cNvPr id="35852" name="Text Box 12">
            <a:extLst>
              <a:ext uri="{FF2B5EF4-FFF2-40B4-BE49-F238E27FC236}">
                <a16:creationId xmlns:a16="http://schemas.microsoft.com/office/drawing/2014/main" id="{D356494D-CD5D-CB2F-E98C-BF618CF8984E}"/>
              </a:ext>
            </a:extLst>
          </p:cNvPr>
          <p:cNvSpPr txBox="1">
            <a:spLocks noChangeArrowheads="1"/>
          </p:cNvSpPr>
          <p:nvPr/>
        </p:nvSpPr>
        <p:spPr bwMode="auto">
          <a:xfrm>
            <a:off x="1466850" y="2630092"/>
            <a:ext cx="2619375" cy="553998"/>
          </a:xfrm>
          <a:prstGeom prst="rect">
            <a:avLst/>
          </a:prstGeom>
          <a:noFill/>
          <a:ln w="1270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algn="l" eaLnBrk="1" hangingPunct="1">
              <a:spcBef>
                <a:spcPct val="50000"/>
              </a:spcBef>
              <a:buFontTx/>
              <a:buNone/>
            </a:pPr>
            <a:r>
              <a:rPr lang="zh-TW" altLang="en-US" sz="1500" b="1">
                <a:solidFill>
                  <a:srgbClr val="000066"/>
                </a:solidFill>
                <a:latin typeface="Microsoft JhengHei" panose="02020603050405020304" pitchFamily="18" charset="0"/>
                <a:ea typeface="Microsoft JhengHei" panose="03000509000000000000" pitchFamily="65" charset="-120"/>
                <a:cs typeface="Microsoft JhengHei"/>
              </a:rPr>
              <a:t>決定評分方式</a:t>
            </a:r>
            <a:r>
              <a:rPr lang="en-US" altLang="zh-TW" sz="1500" b="1">
                <a:solidFill>
                  <a:srgbClr val="000066"/>
                </a:solidFill>
                <a:latin typeface="Microsoft JhengHei" panose="02020603050405020304" pitchFamily="18" charset="0"/>
                <a:ea typeface="Microsoft JhengHei" panose="03000509000000000000" pitchFamily="65" charset="-120"/>
                <a:cs typeface="Microsoft JhengHei"/>
              </a:rPr>
              <a:t>checklist(</a:t>
            </a:r>
            <a:r>
              <a:rPr lang="zh-TW" altLang="en-US" sz="1500" b="1">
                <a:solidFill>
                  <a:srgbClr val="000066"/>
                </a:solidFill>
                <a:latin typeface="Microsoft JhengHei" panose="02020603050405020304" pitchFamily="18" charset="0"/>
                <a:ea typeface="Microsoft JhengHei" panose="03000509000000000000" pitchFamily="65" charset="-120"/>
                <a:cs typeface="Microsoft JhengHei"/>
              </a:rPr>
              <a:t>有</a:t>
            </a:r>
            <a:r>
              <a:rPr lang="en-US" altLang="zh-TW" sz="1500" b="1">
                <a:solidFill>
                  <a:srgbClr val="000066"/>
                </a:solidFill>
                <a:latin typeface="Microsoft JhengHei" panose="02020603050405020304" pitchFamily="18" charset="0"/>
                <a:ea typeface="Microsoft JhengHei" panose="03000509000000000000" pitchFamily="65" charset="-120"/>
                <a:cs typeface="Microsoft JhengHei"/>
              </a:rPr>
              <a:t>/</a:t>
            </a:r>
            <a:r>
              <a:rPr lang="zh-TW" altLang="en-US" sz="1500" b="1">
                <a:solidFill>
                  <a:srgbClr val="000066"/>
                </a:solidFill>
                <a:latin typeface="Microsoft JhengHei" panose="02020603050405020304" pitchFamily="18" charset="0"/>
                <a:ea typeface="Microsoft JhengHei" panose="03000509000000000000" pitchFamily="65" charset="-120"/>
                <a:cs typeface="Microsoft JhengHei"/>
              </a:rPr>
              <a:t>無</a:t>
            </a:r>
            <a:r>
              <a:rPr lang="en-US" altLang="zh-TW" sz="1500" b="1">
                <a:solidFill>
                  <a:srgbClr val="000066"/>
                </a:solidFill>
                <a:latin typeface="Microsoft JhengHei" panose="02020603050405020304" pitchFamily="18" charset="0"/>
                <a:ea typeface="Microsoft JhengHei" panose="03000509000000000000" pitchFamily="65" charset="-120"/>
                <a:cs typeface="Microsoft JhengHei"/>
              </a:rPr>
              <a:t>) </a:t>
            </a:r>
            <a:r>
              <a:rPr lang="zh-TW" altLang="en-US" sz="1500" b="1">
                <a:solidFill>
                  <a:srgbClr val="000066"/>
                </a:solidFill>
                <a:latin typeface="Microsoft JhengHei" panose="02020603050405020304" pitchFamily="18" charset="0"/>
                <a:ea typeface="Microsoft JhengHei" panose="03000509000000000000" pitchFamily="65" charset="-120"/>
                <a:cs typeface="Microsoft JhengHei"/>
              </a:rPr>
              <a:t>或是 </a:t>
            </a:r>
            <a:r>
              <a:rPr lang="en-US" altLang="zh-TW" sz="1500" b="1">
                <a:solidFill>
                  <a:srgbClr val="000066"/>
                </a:solidFill>
                <a:latin typeface="Microsoft JhengHei" panose="02020603050405020304" pitchFamily="18" charset="0"/>
                <a:ea typeface="Microsoft JhengHei" panose="03000509000000000000" pitchFamily="65" charset="-120"/>
                <a:cs typeface="Microsoft JhengHei"/>
              </a:rPr>
              <a:t>Likert scale(1~5)</a:t>
            </a:r>
          </a:p>
        </p:txBody>
      </p:sp>
      <p:sp>
        <p:nvSpPr>
          <p:cNvPr id="35853" name="Text Box 13">
            <a:extLst>
              <a:ext uri="{FF2B5EF4-FFF2-40B4-BE49-F238E27FC236}">
                <a16:creationId xmlns:a16="http://schemas.microsoft.com/office/drawing/2014/main" id="{0B9044DC-DA6F-6EB3-1E0B-E1F9C3507FC3}"/>
              </a:ext>
            </a:extLst>
          </p:cNvPr>
          <p:cNvSpPr txBox="1">
            <a:spLocks noChangeArrowheads="1"/>
          </p:cNvSpPr>
          <p:nvPr/>
        </p:nvSpPr>
        <p:spPr bwMode="auto">
          <a:xfrm>
            <a:off x="5922170" y="195263"/>
            <a:ext cx="540544"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algn="l" eaLnBrk="1" hangingPunct="1">
              <a:spcBef>
                <a:spcPct val="50000"/>
              </a:spcBef>
              <a:buFontTx/>
              <a:buNone/>
            </a:pPr>
            <a:r>
              <a:rPr lang="zh-TW" altLang="en-US" sz="3300">
                <a:solidFill>
                  <a:srgbClr val="000066"/>
                </a:solidFill>
                <a:latin typeface="Microsoft JhengHei" panose="020B0604020202020204" pitchFamily="34" charset="0"/>
                <a:ea typeface="Microsoft JhengHei" panose="03000509000000000000" pitchFamily="65" charset="-120"/>
                <a:cs typeface="Microsoft JhengHei"/>
              </a:rPr>
              <a:t>例</a:t>
            </a:r>
          </a:p>
        </p:txBody>
      </p:sp>
      <p:sp>
        <p:nvSpPr>
          <p:cNvPr id="35854" name="Text Box 14">
            <a:extLst>
              <a:ext uri="{FF2B5EF4-FFF2-40B4-BE49-F238E27FC236}">
                <a16:creationId xmlns:a16="http://schemas.microsoft.com/office/drawing/2014/main" id="{8341A678-8DE1-5F23-46E2-E85D658797C3}"/>
              </a:ext>
            </a:extLst>
          </p:cNvPr>
          <p:cNvSpPr txBox="1">
            <a:spLocks noChangeArrowheads="1"/>
          </p:cNvSpPr>
          <p:nvPr/>
        </p:nvSpPr>
        <p:spPr bwMode="auto">
          <a:xfrm>
            <a:off x="4983956" y="2864644"/>
            <a:ext cx="323850" cy="923330"/>
          </a:xfrm>
          <a:prstGeom prst="rect">
            <a:avLst/>
          </a:prstGeom>
          <a:noFill/>
          <a:ln w="1270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algn="l" eaLnBrk="1" hangingPunct="1">
              <a:spcBef>
                <a:spcPct val="50000"/>
              </a:spcBef>
              <a:buFontTx/>
              <a:buNone/>
            </a:pPr>
            <a:r>
              <a:rPr lang="zh-TW" altLang="en-US" sz="1350" b="1">
                <a:solidFill>
                  <a:srgbClr val="000066"/>
                </a:solidFill>
                <a:latin typeface="Microsoft JhengHei" panose="020B0604020202020204" pitchFamily="34" charset="0"/>
                <a:ea typeface="Microsoft JhengHei" panose="03000509000000000000" pitchFamily="65" charset="-120"/>
                <a:cs typeface="Microsoft JhengHei"/>
              </a:rPr>
              <a:t>確認訴求</a:t>
            </a:r>
          </a:p>
        </p:txBody>
      </p:sp>
      <p:sp>
        <p:nvSpPr>
          <p:cNvPr id="35855" name="Text Box 15">
            <a:extLst>
              <a:ext uri="{FF2B5EF4-FFF2-40B4-BE49-F238E27FC236}">
                <a16:creationId xmlns:a16="http://schemas.microsoft.com/office/drawing/2014/main" id="{5F88C3E3-F694-9955-3E13-0CAD8E566965}"/>
              </a:ext>
            </a:extLst>
          </p:cNvPr>
          <p:cNvSpPr txBox="1">
            <a:spLocks noChangeArrowheads="1"/>
          </p:cNvSpPr>
          <p:nvPr/>
        </p:nvSpPr>
        <p:spPr bwMode="auto">
          <a:xfrm>
            <a:off x="1926432" y="1924051"/>
            <a:ext cx="1674019" cy="392415"/>
          </a:xfrm>
          <a:prstGeom prst="rect">
            <a:avLst/>
          </a:prstGeom>
          <a:noFill/>
          <a:ln w="1270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algn="l" eaLnBrk="1" hangingPunct="1">
              <a:spcBef>
                <a:spcPct val="50000"/>
              </a:spcBef>
              <a:buFontTx/>
              <a:buNone/>
            </a:pPr>
            <a:r>
              <a:rPr lang="zh-TW" altLang="en-US" sz="1950" b="1">
                <a:solidFill>
                  <a:srgbClr val="000066"/>
                </a:solidFill>
                <a:latin typeface="Microsoft JhengHei" panose="020B0604020202020204" pitchFamily="34" charset="0"/>
                <a:ea typeface="Microsoft JhengHei" panose="03000509000000000000" pitchFamily="65" charset="-120"/>
                <a:cs typeface="Microsoft JhengHei"/>
              </a:rPr>
              <a:t>定義測量面向</a:t>
            </a:r>
          </a:p>
        </p:txBody>
      </p:sp>
      <p:sp>
        <p:nvSpPr>
          <p:cNvPr id="88080" name="AutoShape 16">
            <a:extLst>
              <a:ext uri="{FF2B5EF4-FFF2-40B4-BE49-F238E27FC236}">
                <a16:creationId xmlns:a16="http://schemas.microsoft.com/office/drawing/2014/main" id="{80CB5AC9-3016-DB91-FABA-BEDFEB0BE84F}"/>
              </a:ext>
            </a:extLst>
          </p:cNvPr>
          <p:cNvSpPr>
            <a:spLocks noChangeArrowheads="1"/>
          </p:cNvSpPr>
          <p:nvPr/>
        </p:nvSpPr>
        <p:spPr bwMode="auto">
          <a:xfrm rot="5414839" flipH="1">
            <a:off x="-344091" y="2732485"/>
            <a:ext cx="3618310" cy="377429"/>
          </a:xfrm>
          <a:prstGeom prst="curvedUpArrow">
            <a:avLst>
              <a:gd name="adj1" fmla="val 46203"/>
              <a:gd name="adj2" fmla="val 219474"/>
              <a:gd name="adj3" fmla="val 27491"/>
            </a:avLst>
          </a:prstGeom>
          <a:solidFill>
            <a:srgbClr val="FF0000"/>
          </a:solidFill>
          <a:ln w="9525">
            <a:solidFill>
              <a:schemeClr val="tx1"/>
            </a:solidFill>
            <a:miter lim="800000"/>
            <a:headEnd/>
            <a:tailEnd/>
          </a:ln>
        </p:spPr>
        <p:txBody>
          <a:bodyPr rot="10800000" vert="eaVert" wrap="none" anchor="ct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eaLnBrk="1" hangingPunct="1" algn="l">
              <a:spcBef>
                <a:spcPct val="0"/>
              </a:spcBef>
              <a:buFontTx/>
              <a:buNone/>
            </a:pPr>
            <a:endParaRPr lang="zh-TW" altLang="en-US" sz="1350">
              <a:latin typeface="Arial" panose="020B0604020202020204" pitchFamily="34" charset="0"/>
            </a:endParaRPr>
          </a:p>
        </p:txBody>
      </p:sp>
      <p:sp>
        <p:nvSpPr>
          <p:cNvPr id="35857" name="Text Box 17">
            <a:extLst>
              <a:ext uri="{FF2B5EF4-FFF2-40B4-BE49-F238E27FC236}">
                <a16:creationId xmlns:a16="http://schemas.microsoft.com/office/drawing/2014/main" id="{927AC5B9-C229-837E-387B-242751F545A2}"/>
              </a:ext>
            </a:extLst>
          </p:cNvPr>
          <p:cNvSpPr txBox="1">
            <a:spLocks noChangeArrowheads="1"/>
          </p:cNvSpPr>
          <p:nvPr/>
        </p:nvSpPr>
        <p:spPr bwMode="auto">
          <a:xfrm>
            <a:off x="6137673" y="1977628"/>
            <a:ext cx="863203" cy="507831"/>
          </a:xfrm>
          <a:prstGeom prst="rect">
            <a:avLst/>
          </a:prstGeom>
          <a:noFill/>
          <a:ln w="1270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algn="l" eaLnBrk="1" hangingPunct="1">
              <a:spcBef>
                <a:spcPct val="50000"/>
              </a:spcBef>
              <a:buFontTx/>
              <a:buNone/>
            </a:pPr>
            <a:r>
              <a:rPr lang="zh-TW" altLang="en-US" sz="1350" b="1">
                <a:solidFill>
                  <a:srgbClr val="000066"/>
                </a:solidFill>
                <a:latin typeface="Microsoft JhengHei" panose="020B0604020202020204" pitchFamily="34" charset="0"/>
                <a:ea typeface="Microsoft JhengHei" panose="03000509000000000000" pitchFamily="65" charset="-120"/>
                <a:cs typeface="Microsoft JhengHei"/>
              </a:rPr>
              <a:t>專業素養</a:t>
            </a:r>
          </a:p>
        </p:txBody>
      </p:sp>
      <p:sp>
        <p:nvSpPr>
          <p:cNvPr id="35858" name="Text Box 18">
            <a:extLst>
              <a:ext uri="{FF2B5EF4-FFF2-40B4-BE49-F238E27FC236}">
                <a16:creationId xmlns:a16="http://schemas.microsoft.com/office/drawing/2014/main" id="{D9D233EF-0F1E-0049-67D4-8933ED8A757B}"/>
              </a:ext>
            </a:extLst>
          </p:cNvPr>
          <p:cNvSpPr txBox="1">
            <a:spLocks noChangeArrowheads="1"/>
          </p:cNvSpPr>
          <p:nvPr/>
        </p:nvSpPr>
        <p:spPr bwMode="auto">
          <a:xfrm>
            <a:off x="7056836" y="1977628"/>
            <a:ext cx="863203" cy="507831"/>
          </a:xfrm>
          <a:prstGeom prst="rect">
            <a:avLst/>
          </a:prstGeom>
          <a:noFill/>
          <a:ln w="1270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algn="l" eaLnBrk="1" hangingPunct="1">
              <a:spcBef>
                <a:spcPct val="50000"/>
              </a:spcBef>
              <a:buFontTx/>
              <a:buNone/>
            </a:pPr>
            <a:r>
              <a:rPr lang="zh-TW" altLang="en-US" sz="1350" b="1">
                <a:solidFill>
                  <a:srgbClr val="000066"/>
                </a:solidFill>
                <a:latin typeface="Microsoft JhengHei" panose="020B0604020202020204" pitchFamily="34" charset="0"/>
                <a:ea typeface="Microsoft JhengHei" panose="03000509000000000000" pitchFamily="65" charset="-120"/>
                <a:cs typeface="Microsoft JhengHei"/>
              </a:rPr>
              <a:t>身體檢查</a:t>
            </a:r>
          </a:p>
        </p:txBody>
      </p:sp>
      <p:sp>
        <p:nvSpPr>
          <p:cNvPr id="35859" name="Text Box 19">
            <a:extLst>
              <a:ext uri="{FF2B5EF4-FFF2-40B4-BE49-F238E27FC236}">
                <a16:creationId xmlns:a16="http://schemas.microsoft.com/office/drawing/2014/main" id="{6D1CCE32-A802-D9F8-FB58-0ECBED68B1E8}"/>
              </a:ext>
            </a:extLst>
          </p:cNvPr>
          <p:cNvSpPr txBox="1">
            <a:spLocks noChangeArrowheads="1"/>
          </p:cNvSpPr>
          <p:nvPr/>
        </p:nvSpPr>
        <p:spPr bwMode="auto">
          <a:xfrm>
            <a:off x="5185172" y="1977628"/>
            <a:ext cx="898922" cy="300082"/>
          </a:xfrm>
          <a:prstGeom prst="rect">
            <a:avLst/>
          </a:prstGeom>
          <a:noFill/>
          <a:ln w="1270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algn="l" eaLnBrk="1" hangingPunct="1">
              <a:spcBef>
                <a:spcPct val="50000"/>
              </a:spcBef>
              <a:buFontTx/>
              <a:buNone/>
            </a:pPr>
            <a:r>
              <a:rPr lang="zh-TW" altLang="en-US" sz="1350" b="1">
                <a:solidFill>
                  <a:srgbClr val="000066"/>
                </a:solidFill>
                <a:latin typeface="Microsoft JhengHei" panose="020B0604020202020204" pitchFamily="34" charset="0"/>
                <a:ea typeface="Microsoft JhengHei" panose="03000509000000000000" pitchFamily="65" charset="-120"/>
                <a:cs typeface="Microsoft JhengHei"/>
              </a:rPr>
              <a:t>臨床判斷</a:t>
            </a:r>
          </a:p>
        </p:txBody>
      </p:sp>
      <p:sp>
        <p:nvSpPr>
          <p:cNvPr id="35860" name="Text Box 20">
            <a:extLst>
              <a:ext uri="{FF2B5EF4-FFF2-40B4-BE49-F238E27FC236}">
                <a16:creationId xmlns:a16="http://schemas.microsoft.com/office/drawing/2014/main" id="{5B9A8B1C-B35E-CE00-DCE0-F166CD4600D0}"/>
              </a:ext>
            </a:extLst>
          </p:cNvPr>
          <p:cNvSpPr txBox="1">
            <a:spLocks noChangeArrowheads="1"/>
          </p:cNvSpPr>
          <p:nvPr/>
        </p:nvSpPr>
        <p:spPr bwMode="auto">
          <a:xfrm>
            <a:off x="4281489" y="1977628"/>
            <a:ext cx="864394" cy="507831"/>
          </a:xfrm>
          <a:prstGeom prst="rect">
            <a:avLst/>
          </a:prstGeom>
          <a:noFill/>
          <a:ln w="1270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algn="l" eaLnBrk="1" hangingPunct="1">
              <a:spcBef>
                <a:spcPct val="50000"/>
              </a:spcBef>
              <a:buFontTx/>
              <a:buNone/>
            </a:pPr>
            <a:r>
              <a:rPr lang="zh-TW" altLang="en-US" sz="1350" b="1">
                <a:solidFill>
                  <a:srgbClr val="000066"/>
                </a:solidFill>
                <a:latin typeface="Microsoft JhengHei" panose="020B0604020202020204" pitchFamily="34" charset="0"/>
                <a:ea typeface="Microsoft JhengHei" panose="03000509000000000000" pitchFamily="65" charset="-120"/>
                <a:cs typeface="Microsoft JhengHei"/>
              </a:rPr>
              <a:t>醫療面談</a:t>
            </a:r>
          </a:p>
        </p:txBody>
      </p:sp>
      <p:sp>
        <p:nvSpPr>
          <p:cNvPr id="35861" name="AutoShape 21">
            <a:extLst>
              <a:ext uri="{FF2B5EF4-FFF2-40B4-BE49-F238E27FC236}">
                <a16:creationId xmlns:a16="http://schemas.microsoft.com/office/drawing/2014/main" id="{FC5B4754-77AF-D9DB-B7DE-6491B3FFE4BF}"/>
              </a:ext>
            </a:extLst>
          </p:cNvPr>
          <p:cNvSpPr>
            <a:spLocks noChangeArrowheads="1"/>
          </p:cNvSpPr>
          <p:nvPr/>
        </p:nvSpPr>
        <p:spPr bwMode="auto">
          <a:xfrm rot="7994596">
            <a:off x="5635823" y="1724621"/>
            <a:ext cx="372666" cy="123825"/>
          </a:xfrm>
          <a:prstGeom prst="rightArrow">
            <a:avLst>
              <a:gd name="adj1" fmla="val 50000"/>
              <a:gd name="adj2" fmla="val 75240"/>
            </a:avLst>
          </a:prstGeom>
          <a:solidFill>
            <a:srgbClr val="3366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eaLnBrk="1" hangingPunct="1" algn="l">
              <a:spcBef>
                <a:spcPct val="0"/>
              </a:spcBef>
              <a:buFontTx/>
              <a:buNone/>
            </a:pPr>
            <a:endParaRPr lang="zh-TW" altLang="en-US" sz="1350">
              <a:latin typeface="Arial" panose="020B0604020202020204" pitchFamily="34" charset="0"/>
            </a:endParaRPr>
          </a:p>
        </p:txBody>
      </p:sp>
      <p:sp>
        <p:nvSpPr>
          <p:cNvPr id="35862" name="AutoShape 22">
            <a:extLst>
              <a:ext uri="{FF2B5EF4-FFF2-40B4-BE49-F238E27FC236}">
                <a16:creationId xmlns:a16="http://schemas.microsoft.com/office/drawing/2014/main" id="{2B7E36D9-7A98-DEF3-BA11-BD17B1145F8D}"/>
              </a:ext>
            </a:extLst>
          </p:cNvPr>
          <p:cNvSpPr>
            <a:spLocks noChangeArrowheads="1"/>
          </p:cNvSpPr>
          <p:nvPr/>
        </p:nvSpPr>
        <p:spPr bwMode="auto">
          <a:xfrm rot="2726800">
            <a:off x="6354962" y="1706762"/>
            <a:ext cx="372665" cy="123825"/>
          </a:xfrm>
          <a:prstGeom prst="rightArrow">
            <a:avLst>
              <a:gd name="adj1" fmla="val 50000"/>
              <a:gd name="adj2" fmla="val 75240"/>
            </a:avLst>
          </a:prstGeom>
          <a:solidFill>
            <a:srgbClr val="3366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eaLnBrk="1" hangingPunct="1" algn="l">
              <a:spcBef>
                <a:spcPct val="0"/>
              </a:spcBef>
              <a:buFontTx/>
              <a:buNone/>
            </a:pPr>
            <a:endParaRPr lang="zh-TW" altLang="en-US" sz="1350">
              <a:latin typeface="Arial" panose="020B0604020202020204" pitchFamily="34" charset="0"/>
            </a:endParaRPr>
          </a:p>
        </p:txBody>
      </p:sp>
      <p:sp>
        <p:nvSpPr>
          <p:cNvPr id="35863" name="AutoShape 23">
            <a:extLst>
              <a:ext uri="{FF2B5EF4-FFF2-40B4-BE49-F238E27FC236}">
                <a16:creationId xmlns:a16="http://schemas.microsoft.com/office/drawing/2014/main" id="{38EA6816-D58C-0607-5146-8D73255A464F}"/>
              </a:ext>
            </a:extLst>
          </p:cNvPr>
          <p:cNvSpPr>
            <a:spLocks noChangeArrowheads="1"/>
          </p:cNvSpPr>
          <p:nvPr/>
        </p:nvSpPr>
        <p:spPr bwMode="auto">
          <a:xfrm rot="1707895">
            <a:off x="6931819" y="1725216"/>
            <a:ext cx="372666" cy="123825"/>
          </a:xfrm>
          <a:prstGeom prst="rightArrow">
            <a:avLst>
              <a:gd name="adj1" fmla="val 50000"/>
              <a:gd name="adj2" fmla="val 75240"/>
            </a:avLst>
          </a:prstGeom>
          <a:solidFill>
            <a:srgbClr val="3366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eaLnBrk="1" hangingPunct="1" algn="l">
              <a:spcBef>
                <a:spcPct val="0"/>
              </a:spcBef>
              <a:buFontTx/>
              <a:buNone/>
            </a:pPr>
            <a:endParaRPr lang="zh-TW" altLang="en-US" sz="1350">
              <a:latin typeface="Arial" panose="020B0604020202020204" pitchFamily="34" charset="0"/>
            </a:endParaRPr>
          </a:p>
        </p:txBody>
      </p:sp>
      <p:sp>
        <p:nvSpPr>
          <p:cNvPr id="35864" name="AutoShape 24">
            <a:extLst>
              <a:ext uri="{FF2B5EF4-FFF2-40B4-BE49-F238E27FC236}">
                <a16:creationId xmlns:a16="http://schemas.microsoft.com/office/drawing/2014/main" id="{2D7A63EC-2CAE-5100-905C-6E51E3F0201B}"/>
              </a:ext>
            </a:extLst>
          </p:cNvPr>
          <p:cNvSpPr>
            <a:spLocks noChangeArrowheads="1"/>
          </p:cNvSpPr>
          <p:nvPr/>
        </p:nvSpPr>
        <p:spPr bwMode="auto">
          <a:xfrm rot="5400000">
            <a:off x="2650332" y="2387205"/>
            <a:ext cx="216694" cy="154781"/>
          </a:xfrm>
          <a:prstGeom prst="rightArrow">
            <a:avLst>
              <a:gd name="adj1" fmla="val 50000"/>
              <a:gd name="adj2" fmla="val 35000"/>
            </a:avLst>
          </a:prstGeom>
          <a:solidFill>
            <a:srgbClr val="3366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eaLnBrk="1" hangingPunct="1" algn="l">
              <a:spcBef>
                <a:spcPct val="0"/>
              </a:spcBef>
              <a:buFontTx/>
              <a:buNone/>
            </a:pPr>
            <a:endParaRPr lang="zh-TW" altLang="en-US" sz="1350">
              <a:latin typeface="Arial" panose="020B0604020202020204" pitchFamily="34" charset="0"/>
            </a:endParaRPr>
          </a:p>
        </p:txBody>
      </p:sp>
      <p:sp>
        <p:nvSpPr>
          <p:cNvPr id="35865" name="AutoShape 25">
            <a:extLst>
              <a:ext uri="{FF2B5EF4-FFF2-40B4-BE49-F238E27FC236}">
                <a16:creationId xmlns:a16="http://schemas.microsoft.com/office/drawing/2014/main" id="{49F611BD-A882-2475-0A8A-D44A5554AD83}"/>
              </a:ext>
            </a:extLst>
          </p:cNvPr>
          <p:cNvSpPr>
            <a:spLocks noChangeArrowheads="1"/>
          </p:cNvSpPr>
          <p:nvPr/>
        </p:nvSpPr>
        <p:spPr bwMode="auto">
          <a:xfrm rot="5400000">
            <a:off x="2650332" y="3250408"/>
            <a:ext cx="216694" cy="154781"/>
          </a:xfrm>
          <a:prstGeom prst="rightArrow">
            <a:avLst>
              <a:gd name="adj1" fmla="val 50000"/>
              <a:gd name="adj2" fmla="val 35000"/>
            </a:avLst>
          </a:prstGeom>
          <a:solidFill>
            <a:srgbClr val="3366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eaLnBrk="1" hangingPunct="1" algn="l">
              <a:spcBef>
                <a:spcPct val="0"/>
              </a:spcBef>
              <a:buFontTx/>
              <a:buNone/>
            </a:pPr>
            <a:endParaRPr lang="zh-TW" altLang="en-US" sz="1350">
              <a:latin typeface="Arial" panose="020B0604020202020204" pitchFamily="34" charset="0"/>
            </a:endParaRPr>
          </a:p>
        </p:txBody>
      </p:sp>
      <p:sp>
        <p:nvSpPr>
          <p:cNvPr id="35866" name="AutoShape 26">
            <a:extLst>
              <a:ext uri="{FF2B5EF4-FFF2-40B4-BE49-F238E27FC236}">
                <a16:creationId xmlns:a16="http://schemas.microsoft.com/office/drawing/2014/main" id="{5B21150C-75C3-988D-89B4-847494E22800}"/>
              </a:ext>
            </a:extLst>
          </p:cNvPr>
          <p:cNvSpPr>
            <a:spLocks noChangeArrowheads="1"/>
          </p:cNvSpPr>
          <p:nvPr/>
        </p:nvSpPr>
        <p:spPr bwMode="auto">
          <a:xfrm rot="5400000">
            <a:off x="2650332" y="4223149"/>
            <a:ext cx="216694" cy="154781"/>
          </a:xfrm>
          <a:prstGeom prst="rightArrow">
            <a:avLst>
              <a:gd name="adj1" fmla="val 50000"/>
              <a:gd name="adj2" fmla="val 35000"/>
            </a:avLst>
          </a:prstGeom>
          <a:solidFill>
            <a:srgbClr val="3366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eaLnBrk="1" hangingPunct="1" algn="l">
              <a:spcBef>
                <a:spcPct val="0"/>
              </a:spcBef>
              <a:buFontTx/>
              <a:buNone/>
            </a:pPr>
            <a:endParaRPr lang="zh-TW" altLang="en-US" sz="1350">
              <a:latin typeface="Arial" panose="020B0604020202020204" pitchFamily="34" charset="0"/>
            </a:endParaRPr>
          </a:p>
        </p:txBody>
      </p:sp>
      <p:sp>
        <p:nvSpPr>
          <p:cNvPr id="35867" name="Text Box 27">
            <a:extLst>
              <a:ext uri="{FF2B5EF4-FFF2-40B4-BE49-F238E27FC236}">
                <a16:creationId xmlns:a16="http://schemas.microsoft.com/office/drawing/2014/main" id="{2EA6824C-D622-18D2-CAD8-A65B3BE3C69D}"/>
              </a:ext>
            </a:extLst>
          </p:cNvPr>
          <p:cNvSpPr txBox="1">
            <a:spLocks noChangeArrowheads="1"/>
          </p:cNvSpPr>
          <p:nvPr/>
        </p:nvSpPr>
        <p:spPr bwMode="auto">
          <a:xfrm>
            <a:off x="5350669" y="2864644"/>
            <a:ext cx="323850" cy="92333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algn="l">
              <a:spcBef>
                <a:spcPct val="50000"/>
              </a:spcBef>
              <a:buFontTx/>
              <a:buNone/>
            </a:pPr>
            <a:r>
              <a:rPr lang="zh-TW" altLang="en-US" sz="1350" b="1">
                <a:solidFill>
                  <a:srgbClr val="000066"/>
                </a:solidFill>
                <a:latin typeface="Microsoft JhengHei" panose="020B0604020202020204" pitchFamily="34" charset="0"/>
                <a:ea typeface="Microsoft JhengHei" panose="03000509000000000000" pitchFamily="65" charset="-120"/>
                <a:cs typeface="Microsoft JhengHei"/>
              </a:rPr>
              <a:t>共同決策</a:t>
            </a:r>
          </a:p>
        </p:txBody>
      </p:sp>
      <p:sp>
        <p:nvSpPr>
          <p:cNvPr id="35868" name="AutoShape 28">
            <a:extLst>
              <a:ext uri="{FF2B5EF4-FFF2-40B4-BE49-F238E27FC236}">
                <a16:creationId xmlns:a16="http://schemas.microsoft.com/office/drawing/2014/main" id="{78B60836-1FD6-FAEA-922E-1A6BA408B3D9}"/>
              </a:ext>
            </a:extLst>
          </p:cNvPr>
          <p:cNvSpPr>
            <a:spLocks noChangeArrowheads="1"/>
          </p:cNvSpPr>
          <p:nvPr/>
        </p:nvSpPr>
        <p:spPr bwMode="auto">
          <a:xfrm rot="6616168">
            <a:off x="4203502" y="2539008"/>
            <a:ext cx="485775" cy="108347"/>
          </a:xfrm>
          <a:prstGeom prst="rightArrow">
            <a:avLst>
              <a:gd name="adj1" fmla="val 50000"/>
              <a:gd name="adj2" fmla="val 112088"/>
            </a:avLst>
          </a:prstGeom>
          <a:solidFill>
            <a:srgbClr val="3366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eaLnBrk="1" hangingPunct="1" algn="l">
              <a:spcBef>
                <a:spcPct val="0"/>
              </a:spcBef>
              <a:buFontTx/>
              <a:buNone/>
            </a:pPr>
            <a:endParaRPr lang="zh-TW" altLang="en-US" sz="1350">
              <a:latin typeface="Arial" panose="020B0604020202020204" pitchFamily="34" charset="0"/>
            </a:endParaRPr>
          </a:p>
        </p:txBody>
      </p:sp>
      <p:sp>
        <p:nvSpPr>
          <p:cNvPr id="35869" name="AutoShape 29">
            <a:extLst>
              <a:ext uri="{FF2B5EF4-FFF2-40B4-BE49-F238E27FC236}">
                <a16:creationId xmlns:a16="http://schemas.microsoft.com/office/drawing/2014/main" id="{C3F5C1CA-9E69-3CF3-36CC-3F7AB2EFEC95}"/>
              </a:ext>
            </a:extLst>
          </p:cNvPr>
          <p:cNvSpPr>
            <a:spLocks noChangeArrowheads="1"/>
          </p:cNvSpPr>
          <p:nvPr/>
        </p:nvSpPr>
        <p:spPr bwMode="auto">
          <a:xfrm rot="5400000">
            <a:off x="4482108" y="2544961"/>
            <a:ext cx="485775" cy="108347"/>
          </a:xfrm>
          <a:prstGeom prst="rightArrow">
            <a:avLst>
              <a:gd name="adj1" fmla="val 50000"/>
              <a:gd name="adj2" fmla="val 112088"/>
            </a:avLst>
          </a:prstGeom>
          <a:solidFill>
            <a:srgbClr val="3366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eaLnBrk="1" hangingPunct="1" algn="l">
              <a:spcBef>
                <a:spcPct val="0"/>
              </a:spcBef>
              <a:buFontTx/>
              <a:buNone/>
            </a:pPr>
            <a:endParaRPr lang="zh-TW" altLang="en-US" sz="1350">
              <a:latin typeface="Arial" panose="020B0604020202020204" pitchFamily="34" charset="0"/>
            </a:endParaRPr>
          </a:p>
        </p:txBody>
      </p:sp>
      <p:sp>
        <p:nvSpPr>
          <p:cNvPr id="35870" name="AutoShape 30">
            <a:extLst>
              <a:ext uri="{FF2B5EF4-FFF2-40B4-BE49-F238E27FC236}">
                <a16:creationId xmlns:a16="http://schemas.microsoft.com/office/drawing/2014/main" id="{35C97389-47C0-674B-DB13-76DDAE344E37}"/>
              </a:ext>
            </a:extLst>
          </p:cNvPr>
          <p:cNvSpPr>
            <a:spLocks noChangeArrowheads="1"/>
          </p:cNvSpPr>
          <p:nvPr/>
        </p:nvSpPr>
        <p:spPr bwMode="auto">
          <a:xfrm rot="4706392">
            <a:off x="4720233" y="2544961"/>
            <a:ext cx="485775" cy="108347"/>
          </a:xfrm>
          <a:prstGeom prst="rightArrow">
            <a:avLst>
              <a:gd name="adj1" fmla="val 50000"/>
              <a:gd name="adj2" fmla="val 112088"/>
            </a:avLst>
          </a:prstGeom>
          <a:solidFill>
            <a:srgbClr val="3366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eaLnBrk="1" hangingPunct="1" algn="l">
              <a:spcBef>
                <a:spcPct val="0"/>
              </a:spcBef>
              <a:buFontTx/>
              <a:buNone/>
            </a:pPr>
            <a:endParaRPr lang="zh-TW" altLang="en-US" sz="1350">
              <a:latin typeface="Arial" panose="020B0604020202020204" pitchFamily="34" charset="0"/>
            </a:endParaRPr>
          </a:p>
        </p:txBody>
      </p:sp>
      <p:sp>
        <p:nvSpPr>
          <p:cNvPr id="35871" name="AutoShape 31">
            <a:extLst>
              <a:ext uri="{FF2B5EF4-FFF2-40B4-BE49-F238E27FC236}">
                <a16:creationId xmlns:a16="http://schemas.microsoft.com/office/drawing/2014/main" id="{DCE60737-8B22-AC8F-452F-67C626D02376}"/>
              </a:ext>
            </a:extLst>
          </p:cNvPr>
          <p:cNvSpPr>
            <a:spLocks noChangeArrowheads="1"/>
          </p:cNvSpPr>
          <p:nvPr/>
        </p:nvSpPr>
        <p:spPr bwMode="auto">
          <a:xfrm rot="3527162">
            <a:off x="4935142" y="2536032"/>
            <a:ext cx="594122" cy="108347"/>
          </a:xfrm>
          <a:prstGeom prst="rightArrow">
            <a:avLst>
              <a:gd name="adj1" fmla="val 50000"/>
              <a:gd name="adj2" fmla="val 137088"/>
            </a:avLst>
          </a:prstGeom>
          <a:solidFill>
            <a:srgbClr val="3366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eaLnBrk="1" hangingPunct="1" algn="l">
              <a:spcBef>
                <a:spcPct val="0"/>
              </a:spcBef>
              <a:buFontTx/>
              <a:buNone/>
            </a:pPr>
            <a:endParaRPr lang="zh-TW" altLang="en-US" sz="1350">
              <a:latin typeface="Arial" panose="020B0604020202020204" pitchFamily="34" charset="0"/>
            </a:endParaRPr>
          </a:p>
        </p:txBody>
      </p:sp>
      <p:sp>
        <p:nvSpPr>
          <p:cNvPr id="35872" name="Text Box 32">
            <a:extLst>
              <a:ext uri="{FF2B5EF4-FFF2-40B4-BE49-F238E27FC236}">
                <a16:creationId xmlns:a16="http://schemas.microsoft.com/office/drawing/2014/main" id="{8F98E10A-2134-C23E-09F3-68F37BEE48DC}"/>
              </a:ext>
            </a:extLst>
          </p:cNvPr>
          <p:cNvSpPr txBox="1">
            <a:spLocks noChangeArrowheads="1"/>
          </p:cNvSpPr>
          <p:nvPr/>
        </p:nvSpPr>
        <p:spPr bwMode="auto">
          <a:xfrm>
            <a:off x="6310313" y="3869531"/>
            <a:ext cx="848916" cy="50783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algn="l">
              <a:spcBef>
                <a:spcPct val="50000"/>
              </a:spcBef>
              <a:buFontTx/>
              <a:buNone/>
            </a:pPr>
            <a:r>
              <a:rPr lang="zh-TW" altLang="en-US" sz="1350" b="1">
                <a:solidFill>
                  <a:srgbClr val="000066"/>
                </a:solidFill>
                <a:latin typeface="Microsoft JhengHei" panose="020B0604020202020204" pitchFamily="34" charset="0"/>
                <a:ea typeface="Microsoft JhengHei" panose="03000509000000000000" pitchFamily="65" charset="-120"/>
                <a:cs typeface="Microsoft JhengHei"/>
              </a:rPr>
              <a:t>眼神接觸</a:t>
            </a:r>
          </a:p>
        </p:txBody>
      </p:sp>
      <p:sp>
        <p:nvSpPr>
          <p:cNvPr id="35873" name="Text Box 33">
            <a:extLst>
              <a:ext uri="{FF2B5EF4-FFF2-40B4-BE49-F238E27FC236}">
                <a16:creationId xmlns:a16="http://schemas.microsoft.com/office/drawing/2014/main" id="{8C19670F-6135-8948-A410-79A1F063C77C}"/>
              </a:ext>
            </a:extLst>
          </p:cNvPr>
          <p:cNvSpPr txBox="1">
            <a:spLocks noChangeArrowheads="1"/>
          </p:cNvSpPr>
          <p:nvPr/>
        </p:nvSpPr>
        <p:spPr bwMode="auto">
          <a:xfrm>
            <a:off x="6310314" y="4179094"/>
            <a:ext cx="1064419" cy="3000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algn="l">
              <a:spcBef>
                <a:spcPct val="50000"/>
              </a:spcBef>
              <a:buFontTx/>
              <a:buNone/>
            </a:pPr>
            <a:r>
              <a:rPr lang="zh-TW" altLang="en-US" sz="1350" b="1">
                <a:solidFill>
                  <a:srgbClr val="000066"/>
                </a:solidFill>
                <a:latin typeface="Microsoft JhengHei" panose="020B0604020202020204" pitchFamily="34" charset="0"/>
                <a:ea typeface="Microsoft JhengHei" panose="03000509000000000000" pitchFamily="65" charset="-120"/>
                <a:cs typeface="Microsoft JhengHei"/>
              </a:rPr>
              <a:t>開放式問句</a:t>
            </a:r>
          </a:p>
        </p:txBody>
      </p:sp>
      <p:sp>
        <p:nvSpPr>
          <p:cNvPr id="35874" name="Text Box 34">
            <a:extLst>
              <a:ext uri="{FF2B5EF4-FFF2-40B4-BE49-F238E27FC236}">
                <a16:creationId xmlns:a16="http://schemas.microsoft.com/office/drawing/2014/main" id="{5D52E180-5662-6C80-07FB-4388DCFFB688}"/>
              </a:ext>
            </a:extLst>
          </p:cNvPr>
          <p:cNvSpPr txBox="1">
            <a:spLocks noChangeArrowheads="1"/>
          </p:cNvSpPr>
          <p:nvPr/>
        </p:nvSpPr>
        <p:spPr bwMode="auto">
          <a:xfrm>
            <a:off x="6303169" y="4477941"/>
            <a:ext cx="1434704" cy="300082"/>
          </a:xfrm>
          <a:prstGeom prst="rect">
            <a:avLst/>
          </a:prstGeom>
          <a:noFill/>
          <a:ln w="1270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algn="l" eaLnBrk="1" hangingPunct="1">
              <a:spcBef>
                <a:spcPct val="50000"/>
              </a:spcBef>
              <a:buFontTx/>
              <a:buNone/>
            </a:pPr>
            <a:r>
              <a:rPr lang="zh-TW" altLang="en-US" sz="1350" b="1">
                <a:solidFill>
                  <a:srgbClr val="000066"/>
                </a:solidFill>
                <a:latin typeface="Microsoft JhengHei" panose="020B0604020202020204" pitchFamily="34" charset="0"/>
                <a:ea typeface="Microsoft JhengHei" panose="03000509000000000000" pitchFamily="65" charset="-120"/>
                <a:cs typeface="Microsoft JhengHei"/>
              </a:rPr>
              <a:t>不打斷病人談話</a:t>
            </a:r>
          </a:p>
        </p:txBody>
      </p:sp>
      <p:sp>
        <p:nvSpPr>
          <p:cNvPr id="35875" name="Text Box 35">
            <a:extLst>
              <a:ext uri="{FF2B5EF4-FFF2-40B4-BE49-F238E27FC236}">
                <a16:creationId xmlns:a16="http://schemas.microsoft.com/office/drawing/2014/main" id="{2AB52105-8F9B-C0FC-E74E-4160BB810B99}"/>
              </a:ext>
            </a:extLst>
          </p:cNvPr>
          <p:cNvSpPr txBox="1">
            <a:spLocks noChangeArrowheads="1"/>
          </p:cNvSpPr>
          <p:nvPr/>
        </p:nvSpPr>
        <p:spPr bwMode="auto">
          <a:xfrm>
            <a:off x="6310314" y="4786312"/>
            <a:ext cx="1422797" cy="3000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algn="l">
              <a:spcBef>
                <a:spcPct val="50000"/>
              </a:spcBef>
              <a:buFontTx/>
              <a:buNone/>
            </a:pPr>
            <a:r>
              <a:rPr lang="zh-TW" altLang="en-US" sz="1350" b="1">
                <a:solidFill>
                  <a:srgbClr val="000066"/>
                </a:solidFill>
                <a:latin typeface="Microsoft JhengHei" panose="020B0604020202020204" pitchFamily="34" charset="0"/>
                <a:ea typeface="Microsoft JhengHei" panose="03000509000000000000" pitchFamily="65" charset="-120"/>
                <a:cs typeface="Microsoft JhengHei"/>
              </a:rPr>
              <a:t>未使用專有名詞</a:t>
            </a:r>
          </a:p>
        </p:txBody>
      </p:sp>
      <p:sp>
        <p:nvSpPr>
          <p:cNvPr id="35876" name="AutoShape 36">
            <a:extLst>
              <a:ext uri="{FF2B5EF4-FFF2-40B4-BE49-F238E27FC236}">
                <a16:creationId xmlns:a16="http://schemas.microsoft.com/office/drawing/2014/main" id="{73EAAF62-FA4E-7E33-F76C-B6E3274F3AE0}"/>
              </a:ext>
            </a:extLst>
          </p:cNvPr>
          <p:cNvSpPr>
            <a:spLocks noChangeArrowheads="1"/>
          </p:cNvSpPr>
          <p:nvPr/>
        </p:nvSpPr>
        <p:spPr bwMode="auto">
          <a:xfrm rot="903544">
            <a:off x="4569620" y="4274344"/>
            <a:ext cx="1660922" cy="138113"/>
          </a:xfrm>
          <a:prstGeom prst="rightArrow">
            <a:avLst>
              <a:gd name="adj1" fmla="val 50000"/>
              <a:gd name="adj2" fmla="val 300647"/>
            </a:avLst>
          </a:prstGeom>
          <a:solidFill>
            <a:srgbClr val="3366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eaLnBrk="1" hangingPunct="1" algn="l">
              <a:spcBef>
                <a:spcPct val="0"/>
              </a:spcBef>
              <a:buFontTx/>
              <a:buNone/>
            </a:pPr>
            <a:endParaRPr lang="zh-TW" altLang="en-US" sz="1350">
              <a:latin typeface="Arial" panose="020B0604020202020204" pitchFamily="34" charset="0"/>
            </a:endParaRPr>
          </a:p>
        </p:txBody>
      </p:sp>
      <p:sp>
        <p:nvSpPr>
          <p:cNvPr id="35877" name="AutoShape 37">
            <a:extLst>
              <a:ext uri="{FF2B5EF4-FFF2-40B4-BE49-F238E27FC236}">
                <a16:creationId xmlns:a16="http://schemas.microsoft.com/office/drawing/2014/main" id="{9A7C3F3B-2FF0-3092-5BBA-3E1ABDEADD9D}"/>
              </a:ext>
            </a:extLst>
          </p:cNvPr>
          <p:cNvSpPr>
            <a:spLocks noChangeArrowheads="1"/>
          </p:cNvSpPr>
          <p:nvPr/>
        </p:nvSpPr>
        <p:spPr bwMode="auto">
          <a:xfrm rot="592492">
            <a:off x="4602957" y="4115991"/>
            <a:ext cx="1635919" cy="136922"/>
          </a:xfrm>
          <a:prstGeom prst="rightArrow">
            <a:avLst>
              <a:gd name="adj1" fmla="val 50000"/>
              <a:gd name="adj2" fmla="val 298696"/>
            </a:avLst>
          </a:prstGeom>
          <a:solidFill>
            <a:srgbClr val="3366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eaLnBrk="1" hangingPunct="1" algn="l">
              <a:spcBef>
                <a:spcPct val="0"/>
              </a:spcBef>
              <a:buFontTx/>
              <a:buNone/>
            </a:pPr>
            <a:endParaRPr lang="zh-TW" altLang="en-US" sz="1350">
              <a:latin typeface="Arial" panose="020B0604020202020204" pitchFamily="34" charset="0"/>
            </a:endParaRPr>
          </a:p>
        </p:txBody>
      </p:sp>
      <p:sp>
        <p:nvSpPr>
          <p:cNvPr id="35878" name="AutoShape 38">
            <a:extLst>
              <a:ext uri="{FF2B5EF4-FFF2-40B4-BE49-F238E27FC236}">
                <a16:creationId xmlns:a16="http://schemas.microsoft.com/office/drawing/2014/main" id="{38EF84A2-0295-F700-CA33-0219B45C0328}"/>
              </a:ext>
            </a:extLst>
          </p:cNvPr>
          <p:cNvSpPr>
            <a:spLocks noChangeArrowheads="1"/>
          </p:cNvSpPr>
          <p:nvPr/>
        </p:nvSpPr>
        <p:spPr bwMode="auto">
          <a:xfrm rot="1215620">
            <a:off x="4510089" y="4442223"/>
            <a:ext cx="1778794" cy="110728"/>
          </a:xfrm>
          <a:prstGeom prst="rightArrow">
            <a:avLst>
              <a:gd name="adj1" fmla="val 50000"/>
              <a:gd name="adj2" fmla="val 401614"/>
            </a:avLst>
          </a:prstGeom>
          <a:solidFill>
            <a:srgbClr val="3366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eaLnBrk="1" hangingPunct="1" algn="l">
              <a:spcBef>
                <a:spcPct val="0"/>
              </a:spcBef>
              <a:buFontTx/>
              <a:buNone/>
            </a:pPr>
            <a:endParaRPr lang="zh-TW" altLang="en-US" sz="1350">
              <a:latin typeface="Arial" panose="020B0604020202020204" pitchFamily="34" charset="0"/>
            </a:endParaRPr>
          </a:p>
        </p:txBody>
      </p:sp>
      <p:sp>
        <p:nvSpPr>
          <p:cNvPr id="35879" name="AutoShape 39">
            <a:extLst>
              <a:ext uri="{FF2B5EF4-FFF2-40B4-BE49-F238E27FC236}">
                <a16:creationId xmlns:a16="http://schemas.microsoft.com/office/drawing/2014/main" id="{5BAEC426-7B12-CFDB-3D46-0108BC64FDB0}"/>
              </a:ext>
            </a:extLst>
          </p:cNvPr>
          <p:cNvSpPr>
            <a:spLocks noChangeArrowheads="1"/>
          </p:cNvSpPr>
          <p:nvPr/>
        </p:nvSpPr>
        <p:spPr bwMode="auto">
          <a:xfrm rot="187451">
            <a:off x="4613674" y="3938587"/>
            <a:ext cx="1601390" cy="129779"/>
          </a:xfrm>
          <a:prstGeom prst="rightArrow">
            <a:avLst>
              <a:gd name="adj1" fmla="val 50000"/>
              <a:gd name="adj2" fmla="val 308485"/>
            </a:avLst>
          </a:prstGeom>
          <a:solidFill>
            <a:srgbClr val="3366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eaLnBrk="1" hangingPunct="1" algn="l">
              <a:spcBef>
                <a:spcPct val="0"/>
              </a:spcBef>
              <a:buFontTx/>
              <a:buNone/>
            </a:pPr>
            <a:endParaRPr lang="zh-TW" altLang="en-US" sz="1350">
              <a:latin typeface="Arial" panose="020B0604020202020204" pitchFamily="34" charset="0"/>
            </a:endParaRPr>
          </a:p>
        </p:txBody>
      </p:sp>
      <p:sp>
        <p:nvSpPr>
          <p:cNvPr id="35880" name="Line 40">
            <a:extLst>
              <a:ext uri="{FF2B5EF4-FFF2-40B4-BE49-F238E27FC236}">
                <a16:creationId xmlns:a16="http://schemas.microsoft.com/office/drawing/2014/main" id="{E4BEBAD1-F967-7E70-5E39-9C6692EDFA1E}"/>
              </a:ext>
            </a:extLst>
          </p:cNvPr>
          <p:cNvSpPr>
            <a:spLocks noChangeShapeType="1"/>
          </p:cNvSpPr>
          <p:nvPr/>
        </p:nvSpPr>
        <p:spPr bwMode="auto">
          <a:xfrm flipH="1">
            <a:off x="4810125" y="2513411"/>
            <a:ext cx="2015729" cy="2483644"/>
          </a:xfrm>
          <a:prstGeom prst="line">
            <a:avLst/>
          </a:prstGeom>
          <a:noFill/>
          <a:ln w="76200">
            <a:solidFill>
              <a:srgbClr val="990033"/>
            </a:solidFill>
            <a:prstDash val="sysDot"/>
            <a:round/>
            <a:headEnd/>
            <a:tailEnd/>
          </a:ln>
          <a:extLst>
            <a:ext uri="{909E8E84-426E-40DD-AFC4-6F175D3DCCD1}">
              <a14:hiddenFill xmlns:a14="http://schemas.microsoft.com/office/drawing/2010/main">
                <a:noFill/>
              </a14:hiddenFill>
            </a:ext>
          </a:extLst>
        </p:spPr>
        <p:txBody>
          <a:bodyPr anchor="ctr"/>
          <a:lstStyle/>
          <a:p>
            <a:pPr algn="l"/>
            <a:endParaRPr lang="zh-TW" altLang="en-US" sz="1350"/>
          </a:p>
        </p:txBody>
      </p:sp>
      <p:sp>
        <p:nvSpPr>
          <p:cNvPr id="35881" name="AutoShape 41">
            <a:extLst>
              <a:ext uri="{FF2B5EF4-FFF2-40B4-BE49-F238E27FC236}">
                <a16:creationId xmlns:a16="http://schemas.microsoft.com/office/drawing/2014/main" id="{B97F7C28-C4DE-2E34-954F-30A6216567E2}"/>
              </a:ext>
            </a:extLst>
          </p:cNvPr>
          <p:cNvSpPr>
            <a:spLocks noChangeArrowheads="1"/>
          </p:cNvSpPr>
          <p:nvPr/>
        </p:nvSpPr>
        <p:spPr bwMode="auto">
          <a:xfrm rot="2302809">
            <a:off x="6334125" y="3223022"/>
            <a:ext cx="372666" cy="236934"/>
          </a:xfrm>
          <a:prstGeom prst="rightArrow">
            <a:avLst>
              <a:gd name="adj1" fmla="val 50000"/>
              <a:gd name="adj2" fmla="val 39322"/>
            </a:avLst>
          </a:prstGeom>
          <a:solidFill>
            <a:srgbClr val="990033"/>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eaLnBrk="1" hangingPunct="1" algn="l">
              <a:spcBef>
                <a:spcPct val="0"/>
              </a:spcBef>
              <a:buFontTx/>
              <a:buNone/>
            </a:pPr>
            <a:endParaRPr lang="zh-TW" altLang="en-US" sz="1350">
              <a:latin typeface="Arial" panose="020B0604020202020204" pitchFamily="34" charset="0"/>
            </a:endParaRPr>
          </a:p>
        </p:txBody>
      </p:sp>
      <p:sp>
        <p:nvSpPr>
          <p:cNvPr id="35882" name="Text Box 42">
            <a:extLst>
              <a:ext uri="{FF2B5EF4-FFF2-40B4-BE49-F238E27FC236}">
                <a16:creationId xmlns:a16="http://schemas.microsoft.com/office/drawing/2014/main" id="{8C4AFA20-75CD-963F-9885-56104CA7C177}"/>
              </a:ext>
            </a:extLst>
          </p:cNvPr>
          <p:cNvSpPr txBox="1">
            <a:spLocks noChangeArrowheads="1"/>
          </p:cNvSpPr>
          <p:nvPr/>
        </p:nvSpPr>
        <p:spPr bwMode="auto">
          <a:xfrm>
            <a:off x="6731794" y="3003948"/>
            <a:ext cx="1144191" cy="646331"/>
          </a:xfrm>
          <a:prstGeom prst="rect">
            <a:avLst/>
          </a:prstGeom>
          <a:noFill/>
          <a:ln w="9525">
            <a:solidFill>
              <a:srgbClr val="990033"/>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algn="l">
              <a:spcBef>
                <a:spcPct val="50000"/>
              </a:spcBef>
              <a:buFontTx/>
              <a:buNone/>
            </a:pPr>
            <a:r>
              <a:rPr lang="en-US" altLang="zh-TW" sz="1200">
                <a:solidFill>
                  <a:srgbClr val="990033"/>
                </a:solidFill>
                <a:latin typeface="Microsoft JhengHei" panose="02020603050405020304" pitchFamily="18" charset="0"/>
                <a:ea typeface="Microsoft JhengHei"/>
                <a:cs typeface="Microsoft JhengHei"/>
              </a:rPr>
              <a:t>OSCE / Scenario management</a:t>
            </a:r>
            <a:endParaRPr lang="en-US" altLang="zh-TW" sz="1200">
              <a:latin typeface="Times New Roman" panose="02020603050405020304" pitchFamily="18" charset="0"/>
            </a:endParaRPr>
          </a:p>
        </p:txBody>
      </p:sp>
      <p:pic>
        <p:nvPicPr>
          <p:cNvPr id="35883" name="Picture 4" descr="【會徽】台灣醫學教育學會">
            <a:extLst>
              <a:ext uri="{FF2B5EF4-FFF2-40B4-BE49-F238E27FC236}">
                <a16:creationId xmlns:a16="http://schemas.microsoft.com/office/drawing/2014/main" id="{BBB3E0D5-F1E3-EC3E-0DDE-530E176C44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10412" y="1"/>
            <a:ext cx="890588" cy="850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107" name="Text Box 43">
            <a:extLst>
              <a:ext uri="{FF2B5EF4-FFF2-40B4-BE49-F238E27FC236}">
                <a16:creationId xmlns:a16="http://schemas.microsoft.com/office/drawing/2014/main" id="{CC2D0486-AB7A-8B9F-807A-3E6A11A6200D}"/>
              </a:ext>
            </a:extLst>
          </p:cNvPr>
          <p:cNvSpPr txBox="1">
            <a:spLocks noChangeArrowheads="1"/>
          </p:cNvSpPr>
          <p:nvPr/>
        </p:nvSpPr>
        <p:spPr bwMode="auto">
          <a:xfrm>
            <a:off x="2681289" y="1869282"/>
            <a:ext cx="5204222" cy="553998"/>
          </a:xfrm>
          <a:prstGeom prst="rect">
            <a:avLst/>
          </a:prstGeom>
          <a:solidFill>
            <a:srgbClr val="800000">
              <a:alpha val="7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algn="l">
              <a:spcBef>
                <a:spcPct val="50000"/>
              </a:spcBef>
              <a:buFontTx/>
              <a:buNone/>
            </a:pPr>
            <a:r>
              <a:rPr lang="en-US" altLang="zh-TW" sz="3000" b="1">
                <a:solidFill>
                  <a:srgbClr val="FFFF66"/>
                </a:solidFill>
                <a:latin typeface="Microsoft JhengHei" panose="02020603050405020304" pitchFamily="18" charset="0"/>
                <a:ea typeface="Microsoft JhengHei"/>
                <a:cs typeface="Microsoft JhengHei"/>
              </a:rPr>
              <a:t>Frame-of-reference training</a:t>
            </a:r>
            <a:endParaRPr lang="zh-TW" altLang="en-US" sz="3000" b="1">
              <a:solidFill>
                <a:srgbClr val="FFFF66"/>
              </a:solidFill>
              <a:latin typeface="Times New Roman" panose="02020603050405020304" pitchFamily="18" charset="0"/>
            </a:endParaRPr>
          </a:p>
        </p:txBody>
      </p:sp>
      <p:sp>
        <p:nvSpPr>
          <p:cNvPr id="35885" name="投影片編號版面配置區 5">
            <a:extLst>
              <a:ext uri="{FF2B5EF4-FFF2-40B4-BE49-F238E27FC236}">
                <a16:creationId xmlns:a16="http://schemas.microsoft.com/office/drawing/2014/main" id="{BD1850C2-7111-CCE6-929E-F16A6FD23866}"/>
              </a:ext>
            </a:extLst>
          </p:cNvPr>
          <p:cNvSpPr txBox="1">
            <a:spLocks noGrp="1"/>
          </p:cNvSpPr>
          <p:nvPr/>
        </p:nvSpPr>
        <p:spPr bwMode="auto">
          <a:xfrm>
            <a:off x="6400800" y="4869657"/>
            <a:ext cx="1600200"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algn="l" eaLnBrk="1" hangingPunct="1">
              <a:spcBef>
                <a:spcPct val="0"/>
              </a:spcBef>
              <a:buFontTx/>
              <a:buNone/>
            </a:pPr>
            <a:fld id="{3C82CD74-4FD8-41E9-BB37-CA259E52813F}" type="slidenum">
              <a:rPr kumimoji="0" lang="zh-TW" altLang="en-US" sz="900">
                <a:solidFill>
                  <a:srgbClr val="898989"/>
                </a:solidFill>
              </a:rPr>
              <a:pPr algn="r" eaLnBrk="1" hangingPunct="1">
                <a:spcBef>
                  <a:spcPct val="0"/>
                </a:spcBef>
                <a:buFontTx/>
                <a:buNone/>
              </a:pPr>
              <a:t>29</a:t>
            </a:fld>
            <a:endParaRPr kumimoji="0" lang="en-US" altLang="zh-TW" sz="900">
              <a:solidFill>
                <a:srgbClr val="898989"/>
              </a:solidFill>
            </a:endParaRPr>
          </a:p>
        </p:txBody>
      </p:sp>
      <p:sp>
        <p:nvSpPr>
          <p:cNvPr id="35886" name="Rectangle 2">
            <a:extLst>
              <a:ext uri="{FF2B5EF4-FFF2-40B4-BE49-F238E27FC236}">
                <a16:creationId xmlns:a16="http://schemas.microsoft.com/office/drawing/2014/main" id="{7264B086-EB67-C58D-DBEA-3CBADD701240}"/>
              </a:ext>
            </a:extLst>
          </p:cNvPr>
          <p:cNvSpPr txBox="1">
            <a:spLocks noChangeArrowheads="1"/>
          </p:cNvSpPr>
          <p:nvPr/>
        </p:nvSpPr>
        <p:spPr bwMode="auto">
          <a:xfrm>
            <a:off x="1115616" y="250031"/>
            <a:ext cx="4038601" cy="425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新細明體" panose="02020500000000000000" pitchFamily="18" charset="-120"/>
              </a:defRPr>
            </a:lvl9pPr>
          </a:lstStyle>
          <a:p>
            <a:pPr algn="l">
              <a:spcBef>
                <a:spcPct val="0"/>
              </a:spcBef>
              <a:buFontTx/>
              <a:buNone/>
            </a:pPr>
            <a:r>
              <a:rPr lang="zh-TW" altLang="en-US" sz="3300" b="1" dirty="0">
                <a:solidFill>
                  <a:srgbClr val="800000"/>
                </a:solidFill>
                <a:latin typeface="Microsoft JhengHei" panose="02020603050405020304" pitchFamily="18" charset="0"/>
                <a:ea typeface="Microsoft JhengHei" panose="03000509000000000000" pitchFamily="65" charset="-120"/>
                <a:cs typeface="Microsoft JhengHei"/>
              </a:rPr>
              <a:t>評分表發展流程</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8080"/>
                                        </p:tgtEl>
                                        <p:attrNameLst>
                                          <p:attrName>style.visibility</p:attrName>
                                        </p:attrNameLst>
                                      </p:cBhvr>
                                      <p:to>
                                        <p:strVal val="visible"/>
                                      </p:to>
                                    </p:set>
                                    <p:animEffect transition="in" filter="blinds(horizontal)">
                                      <p:cBhvr>
                                        <p:cTn id="7" dur="2000"/>
                                        <p:tgtEl>
                                          <p:spTgt spid="8808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88107"/>
                                        </p:tgtEl>
                                        <p:attrNameLst>
                                          <p:attrName>style.visibility</p:attrName>
                                        </p:attrNameLst>
                                      </p:cBhvr>
                                      <p:to>
                                        <p:strVal val="visible"/>
                                      </p:to>
                                    </p:set>
                                    <p:animEffect transition="in" filter="blinds(horizontal)">
                                      <p:cBhvr>
                                        <p:cTn id="12" dur="500"/>
                                        <p:tgtEl>
                                          <p:spTgt spid="881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80" grpId="0" animBg="1"/>
      <p:bldP spid="8810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641080" y="4828032"/>
            <a:ext cx="365760" cy="274320"/>
          </a:xfrm>
          <a:prstGeom prst="rect">
            <a:avLst/>
          </a:prstGeom>
          <a:noFill/>
          <a:ln/>
        </p:spPr>
        <p:txBody>
          <a:bodyPr wrap="square" lIns="0" tIns="0" rIns="0" bIns="0" rtlCol="0" anchor="ctr"/>
          <a:lstStyle/>
          <a:p>
            <a:pPr marL="0" indent="0" algn="r">
              <a:buNone/>
            </a:pPr>
            <a:r>
              <a:rPr lang="en-US" sz="1000" dirty="0">
                <a:solidFill>
                  <a:srgbClr val="5B6B7F"/>
                </a:solidFill>
                <a:latin typeface="Microsoft JhengHei" pitchFamily="34" charset="0"/>
                <a:ea typeface="Microsoft JhengHei" pitchFamily="34" charset="-122"/>
                <a:cs typeface="Microsoft JhengHei" pitchFamily="34" charset="-120"/>
              </a:rPr>
              <a:t>17</a:t>
            </a:r>
            <a:endParaRPr lang="en-US" sz="1000" dirty="0"/>
          </a:p>
        </p:txBody>
      </p:sp>
      <p:sp>
        <p:nvSpPr>
          <p:cNvPr id="3" name="Text 1"/>
          <p:cNvSpPr/>
          <p:nvPr/>
        </p:nvSpPr>
        <p:spPr>
          <a:xfrm>
            <a:off x="502920" y="201168"/>
            <a:ext cx="8046720" cy="274320"/>
          </a:xfrm>
          <a:prstGeom prst="rect">
            <a:avLst/>
          </a:prstGeom>
          <a:noFill/>
          <a:ln/>
        </p:spPr>
        <p:txBody>
          <a:bodyPr wrap="square" lIns="0" tIns="0" rIns="0" bIns="0" rtlCol="0" anchor="ctr"/>
          <a:lstStyle/>
          <a:p>
            <a:pPr marL="0" indent="0">
              <a:buNone/>
            </a:pPr>
            <a:r>
              <a:rPr lang="en-US" sz="1200" b="1" kern="0" spc="200" dirty="0">
                <a:solidFill>
                  <a:srgbClr val="2E75B6"/>
                </a:solidFill>
                <a:latin typeface="Microsoft JhengHei" pitchFamily="34" charset="0"/>
                <a:ea typeface="Microsoft JhengHei" pitchFamily="34" charset="-122"/>
                <a:cs typeface="Microsoft JhengHei" pitchFamily="34" charset="-120"/>
              </a:rPr>
              <a:t>PART 4</a:t>
            </a:r>
            <a:endParaRPr lang="en-US" sz="1200" dirty="0"/>
          </a:p>
        </p:txBody>
      </p:sp>
      <p:sp>
        <p:nvSpPr>
          <p:cNvPr id="4" name="Text 2"/>
          <p:cNvSpPr/>
          <p:nvPr/>
        </p:nvSpPr>
        <p:spPr>
          <a:xfrm>
            <a:off x="502920" y="457200"/>
            <a:ext cx="8138160" cy="566928"/>
          </a:xfrm>
          <a:prstGeom prst="rect">
            <a:avLst/>
          </a:prstGeom>
          <a:noFill/>
          <a:ln/>
        </p:spPr>
        <p:txBody>
          <a:bodyPr wrap="square" lIns="0" tIns="0" rIns="0" bIns="0" rtlCol="0" anchor="ctr"/>
          <a:lstStyle/>
          <a:p>
            <a:pPr marL="0" indent="0">
              <a:buNone/>
            </a:pPr>
            <a:r>
              <a:rPr lang="en-US" sz="2700" b="1" dirty="0">
                <a:solidFill>
                  <a:srgbClr val="1F4E79"/>
                </a:solidFill>
                <a:latin typeface="Microsoft JhengHei" pitchFamily="34" charset="0"/>
                <a:ea typeface="Microsoft JhengHei" pitchFamily="34" charset="-122"/>
                <a:cs typeface="Microsoft JhengHei" pitchFamily="34" charset="-120"/>
              </a:rPr>
              <a:t>考官指引：讓代打考官也評得一致</a:t>
            </a:r>
            <a:endParaRPr lang="en-US" sz="2700" dirty="0"/>
          </a:p>
        </p:txBody>
      </p:sp>
      <p:sp>
        <p:nvSpPr>
          <p:cNvPr id="5" name="Shape 3"/>
          <p:cNvSpPr/>
          <p:nvPr/>
        </p:nvSpPr>
        <p:spPr>
          <a:xfrm>
            <a:off x="502920" y="1188720"/>
            <a:ext cx="4023360" cy="1024128"/>
          </a:xfrm>
          <a:prstGeom prst="rect">
            <a:avLst/>
          </a:prstGeom>
          <a:solidFill>
            <a:srgbClr val="DEEBF7"/>
          </a:solidFill>
          <a:ln/>
        </p:spPr>
        <p:txBody>
          <a:bodyPr/>
          <a:lstStyle/>
          <a:p>
            <a:endParaRPr lang="zh-TW" altLang="en-US"/>
          </a:p>
        </p:txBody>
      </p:sp>
      <p:sp>
        <p:nvSpPr>
          <p:cNvPr id="6" name="Shape 4"/>
          <p:cNvSpPr/>
          <p:nvPr/>
        </p:nvSpPr>
        <p:spPr>
          <a:xfrm>
            <a:off x="502920" y="1188720"/>
            <a:ext cx="64008" cy="1024128"/>
          </a:xfrm>
          <a:prstGeom prst="rect">
            <a:avLst/>
          </a:prstGeom>
          <a:solidFill>
            <a:srgbClr val="2E75B6"/>
          </a:solidFill>
          <a:ln/>
        </p:spPr>
        <p:txBody>
          <a:bodyPr/>
          <a:lstStyle/>
          <a:p>
            <a:endParaRPr lang="zh-TW" altLang="en-US"/>
          </a:p>
        </p:txBody>
      </p:sp>
      <p:sp>
        <p:nvSpPr>
          <p:cNvPr id="7" name="Text 5"/>
          <p:cNvSpPr/>
          <p:nvPr/>
        </p:nvSpPr>
        <p:spPr>
          <a:xfrm>
            <a:off x="704088" y="1280160"/>
            <a:ext cx="3703320" cy="868680"/>
          </a:xfrm>
          <a:prstGeom prst="rect">
            <a:avLst/>
          </a:prstGeom>
          <a:noFill/>
          <a:ln/>
        </p:spPr>
        <p:txBody>
          <a:bodyPr wrap="square" lIns="0" tIns="0" rIns="0" bIns="0" rtlCol="0" anchor="ctr"/>
          <a:lstStyle/>
          <a:p>
            <a:pPr marL="0" indent="0">
              <a:lnSpc>
                <a:spcPct val="110000"/>
              </a:lnSpc>
              <a:buNone/>
            </a:pPr>
            <a:r>
              <a:rPr lang="en-US" sz="1450" b="1" dirty="0">
                <a:solidFill>
                  <a:srgbClr val="1F4E79"/>
                </a:solidFill>
                <a:latin typeface="Microsoft JhengHei" pitchFamily="34" charset="0"/>
                <a:ea typeface="Microsoft JhengHei" pitchFamily="34" charset="-122"/>
                <a:cs typeface="Microsoft JhengHei" pitchFamily="34" charset="-120"/>
              </a:rPr>
              <a:t>考官任務提示</a:t>
            </a:r>
            <a:endParaRPr lang="en-US" sz="1450" dirty="0"/>
          </a:p>
          <a:p>
            <a:pPr marL="0" indent="0">
              <a:lnSpc>
                <a:spcPct val="110000"/>
              </a:lnSpc>
              <a:buNone/>
            </a:pPr>
            <a:r>
              <a:rPr lang="en-US" sz="1150" dirty="0">
                <a:solidFill>
                  <a:srgbClr val="1F2937"/>
                </a:solidFill>
                <a:latin typeface="Microsoft JhengHei" pitchFamily="34" charset="0"/>
                <a:ea typeface="Microsoft JhengHei" pitchFamily="34" charset="-122"/>
                <a:cs typeface="Microsoft JhengHei" pitchFamily="34" charset="-120"/>
              </a:rPr>
              <a:t>本題精神是什麼、★ 項目評分一致性提醒</a:t>
            </a:r>
            <a:endParaRPr lang="en-US" sz="1450" dirty="0"/>
          </a:p>
        </p:txBody>
      </p:sp>
      <p:sp>
        <p:nvSpPr>
          <p:cNvPr id="8" name="Shape 6"/>
          <p:cNvSpPr/>
          <p:nvPr/>
        </p:nvSpPr>
        <p:spPr>
          <a:xfrm>
            <a:off x="4709160" y="1188720"/>
            <a:ext cx="4023360" cy="1024128"/>
          </a:xfrm>
          <a:prstGeom prst="rect">
            <a:avLst/>
          </a:prstGeom>
          <a:solidFill>
            <a:srgbClr val="DEEBF7"/>
          </a:solidFill>
          <a:ln/>
        </p:spPr>
        <p:txBody>
          <a:bodyPr/>
          <a:lstStyle/>
          <a:p>
            <a:endParaRPr lang="zh-TW" altLang="en-US"/>
          </a:p>
        </p:txBody>
      </p:sp>
      <p:sp>
        <p:nvSpPr>
          <p:cNvPr id="9" name="Shape 7"/>
          <p:cNvSpPr/>
          <p:nvPr/>
        </p:nvSpPr>
        <p:spPr>
          <a:xfrm>
            <a:off x="4709160" y="1188720"/>
            <a:ext cx="64008" cy="1024128"/>
          </a:xfrm>
          <a:prstGeom prst="rect">
            <a:avLst/>
          </a:prstGeom>
          <a:solidFill>
            <a:srgbClr val="2E75B6"/>
          </a:solidFill>
          <a:ln/>
        </p:spPr>
        <p:txBody>
          <a:bodyPr/>
          <a:lstStyle/>
          <a:p>
            <a:endParaRPr lang="zh-TW" altLang="en-US"/>
          </a:p>
        </p:txBody>
      </p:sp>
      <p:sp>
        <p:nvSpPr>
          <p:cNvPr id="10" name="Text 8"/>
          <p:cNvSpPr/>
          <p:nvPr/>
        </p:nvSpPr>
        <p:spPr>
          <a:xfrm>
            <a:off x="4910328" y="1280160"/>
            <a:ext cx="3703320" cy="868680"/>
          </a:xfrm>
          <a:prstGeom prst="rect">
            <a:avLst/>
          </a:prstGeom>
          <a:noFill/>
          <a:ln/>
        </p:spPr>
        <p:txBody>
          <a:bodyPr wrap="square" lIns="0" tIns="0" rIns="0" bIns="0" rtlCol="0" anchor="ctr"/>
          <a:lstStyle/>
          <a:p>
            <a:pPr marL="0" indent="0">
              <a:lnSpc>
                <a:spcPct val="110000"/>
              </a:lnSpc>
              <a:buNone/>
            </a:pPr>
            <a:r>
              <a:rPr lang="en-US" sz="1450" b="1" dirty="0">
                <a:solidFill>
                  <a:srgbClr val="1F4E79"/>
                </a:solidFill>
                <a:latin typeface="Microsoft JhengHei" pitchFamily="34" charset="0"/>
                <a:ea typeface="Microsoft JhengHei" pitchFamily="34" charset="-122"/>
                <a:cs typeface="Microsoft JhengHei" pitchFamily="34" charset="-120"/>
              </a:rPr>
              <a:t>病情摘要</a:t>
            </a:r>
            <a:endParaRPr lang="en-US" sz="1450" dirty="0"/>
          </a:p>
          <a:p>
            <a:pPr marL="0" indent="0">
              <a:lnSpc>
                <a:spcPct val="110000"/>
              </a:lnSpc>
              <a:buNone/>
            </a:pPr>
            <a:r>
              <a:rPr lang="en-US" sz="1150" dirty="0">
                <a:solidFill>
                  <a:srgbClr val="1F2937"/>
                </a:solidFill>
                <a:latin typeface="Microsoft JhengHei" pitchFamily="34" charset="0"/>
                <a:ea typeface="Microsoft JhengHei" pitchFamily="34" charset="-122"/>
                <a:cs typeface="Microsoft JhengHei" pitchFamily="34" charset="-120"/>
              </a:rPr>
              <a:t>考生「應問出／應發現」的完整版本</a:t>
            </a:r>
            <a:endParaRPr lang="en-US" sz="1450" dirty="0"/>
          </a:p>
        </p:txBody>
      </p:sp>
      <p:sp>
        <p:nvSpPr>
          <p:cNvPr id="11" name="Shape 9"/>
          <p:cNvSpPr/>
          <p:nvPr/>
        </p:nvSpPr>
        <p:spPr>
          <a:xfrm>
            <a:off x="502920" y="2377440"/>
            <a:ext cx="4023360" cy="1024128"/>
          </a:xfrm>
          <a:prstGeom prst="rect">
            <a:avLst/>
          </a:prstGeom>
          <a:solidFill>
            <a:srgbClr val="DEEBF7"/>
          </a:solidFill>
          <a:ln/>
        </p:spPr>
        <p:txBody>
          <a:bodyPr/>
          <a:lstStyle/>
          <a:p>
            <a:endParaRPr lang="zh-TW" altLang="en-US"/>
          </a:p>
        </p:txBody>
      </p:sp>
      <p:sp>
        <p:nvSpPr>
          <p:cNvPr id="12" name="Shape 10"/>
          <p:cNvSpPr/>
          <p:nvPr/>
        </p:nvSpPr>
        <p:spPr>
          <a:xfrm>
            <a:off x="502920" y="2377440"/>
            <a:ext cx="64008" cy="1024128"/>
          </a:xfrm>
          <a:prstGeom prst="rect">
            <a:avLst/>
          </a:prstGeom>
          <a:solidFill>
            <a:srgbClr val="2E75B6"/>
          </a:solidFill>
          <a:ln/>
        </p:spPr>
        <p:txBody>
          <a:bodyPr/>
          <a:lstStyle/>
          <a:p>
            <a:endParaRPr lang="zh-TW" altLang="en-US"/>
          </a:p>
        </p:txBody>
      </p:sp>
      <p:sp>
        <p:nvSpPr>
          <p:cNvPr id="13" name="Text 11"/>
          <p:cNvSpPr/>
          <p:nvPr/>
        </p:nvSpPr>
        <p:spPr>
          <a:xfrm>
            <a:off x="704088" y="2468880"/>
            <a:ext cx="3703320" cy="868680"/>
          </a:xfrm>
          <a:prstGeom prst="rect">
            <a:avLst/>
          </a:prstGeom>
          <a:noFill/>
          <a:ln/>
        </p:spPr>
        <p:txBody>
          <a:bodyPr wrap="square" lIns="0" tIns="0" rIns="0" bIns="0" rtlCol="0" anchor="ctr"/>
          <a:lstStyle/>
          <a:p>
            <a:pPr marL="0" indent="0">
              <a:lnSpc>
                <a:spcPct val="110000"/>
              </a:lnSpc>
              <a:buNone/>
            </a:pPr>
            <a:r>
              <a:rPr lang="en-US" sz="1450" b="1" dirty="0">
                <a:solidFill>
                  <a:srgbClr val="1F4E79"/>
                </a:solidFill>
                <a:latin typeface="Microsoft JhengHei" pitchFamily="34" charset="0"/>
                <a:ea typeface="Microsoft JhengHei" pitchFamily="34" charset="-122"/>
                <a:cs typeface="Microsoft JhengHei" pitchFamily="34" charset="-120"/>
              </a:rPr>
              <a:t>鑑別診斷 ≥3</a:t>
            </a:r>
            <a:endParaRPr lang="en-US" sz="1450" dirty="0"/>
          </a:p>
          <a:p>
            <a:pPr marL="0" indent="0">
              <a:lnSpc>
                <a:spcPct val="110000"/>
              </a:lnSpc>
              <a:buNone/>
            </a:pPr>
            <a:r>
              <a:rPr lang="en-US" sz="1150" dirty="0">
                <a:solidFill>
                  <a:srgbClr val="1F2937"/>
                </a:solidFill>
                <a:latin typeface="Microsoft JhengHei" pitchFamily="34" charset="0"/>
                <a:ea typeface="Microsoft JhengHei" pitchFamily="34" charset="-122"/>
                <a:cs typeface="Microsoft JhengHei" pitchFamily="34" charset="-120"/>
              </a:rPr>
              <a:t>依可能性排序，附支持的關鍵線索</a:t>
            </a:r>
            <a:endParaRPr lang="en-US" sz="1450" dirty="0"/>
          </a:p>
        </p:txBody>
      </p:sp>
      <p:sp>
        <p:nvSpPr>
          <p:cNvPr id="14" name="Shape 12"/>
          <p:cNvSpPr/>
          <p:nvPr/>
        </p:nvSpPr>
        <p:spPr>
          <a:xfrm>
            <a:off x="4709160" y="2377440"/>
            <a:ext cx="4023360" cy="1024128"/>
          </a:xfrm>
          <a:prstGeom prst="rect">
            <a:avLst/>
          </a:prstGeom>
          <a:solidFill>
            <a:srgbClr val="DEEBF7"/>
          </a:solidFill>
          <a:ln/>
        </p:spPr>
        <p:txBody>
          <a:bodyPr/>
          <a:lstStyle/>
          <a:p>
            <a:endParaRPr lang="zh-TW" altLang="en-US"/>
          </a:p>
        </p:txBody>
      </p:sp>
      <p:sp>
        <p:nvSpPr>
          <p:cNvPr id="15" name="Shape 13"/>
          <p:cNvSpPr/>
          <p:nvPr/>
        </p:nvSpPr>
        <p:spPr>
          <a:xfrm>
            <a:off x="4709160" y="2377440"/>
            <a:ext cx="64008" cy="1024128"/>
          </a:xfrm>
          <a:prstGeom prst="rect">
            <a:avLst/>
          </a:prstGeom>
          <a:solidFill>
            <a:srgbClr val="2E75B6"/>
          </a:solidFill>
          <a:ln/>
        </p:spPr>
        <p:txBody>
          <a:bodyPr/>
          <a:lstStyle/>
          <a:p>
            <a:endParaRPr lang="zh-TW" altLang="en-US"/>
          </a:p>
        </p:txBody>
      </p:sp>
      <p:sp>
        <p:nvSpPr>
          <p:cNvPr id="16" name="Text 14"/>
          <p:cNvSpPr/>
          <p:nvPr/>
        </p:nvSpPr>
        <p:spPr>
          <a:xfrm>
            <a:off x="4910328" y="2468880"/>
            <a:ext cx="3703320" cy="868680"/>
          </a:xfrm>
          <a:prstGeom prst="rect">
            <a:avLst/>
          </a:prstGeom>
          <a:noFill/>
          <a:ln/>
        </p:spPr>
        <p:txBody>
          <a:bodyPr wrap="square" lIns="0" tIns="0" rIns="0" bIns="0" rtlCol="0" anchor="ctr"/>
          <a:lstStyle/>
          <a:p>
            <a:pPr marL="0" indent="0">
              <a:lnSpc>
                <a:spcPct val="110000"/>
              </a:lnSpc>
              <a:buNone/>
            </a:pPr>
            <a:r>
              <a:rPr lang="en-US" sz="1450" b="1" dirty="0">
                <a:solidFill>
                  <a:srgbClr val="1F4E79"/>
                </a:solidFill>
                <a:latin typeface="Microsoft JhengHei" pitchFamily="34" charset="0"/>
                <a:ea typeface="Microsoft JhengHei" pitchFamily="34" charset="-122"/>
                <a:cs typeface="Microsoft JhengHei" pitchFamily="34" charset="-120"/>
              </a:rPr>
              <a:t>道具與器材</a:t>
            </a:r>
            <a:endParaRPr lang="en-US" sz="1450" dirty="0"/>
          </a:p>
          <a:p>
            <a:pPr marL="0" indent="0">
              <a:lnSpc>
                <a:spcPct val="110000"/>
              </a:lnSpc>
              <a:buNone/>
            </a:pPr>
            <a:r>
              <a:rPr lang="en-US" sz="1150" dirty="0">
                <a:solidFill>
                  <a:srgbClr val="1F2937"/>
                </a:solidFill>
                <a:latin typeface="Microsoft JhengHei" pitchFamily="34" charset="0"/>
                <a:ea typeface="Microsoft JhengHei" pitchFamily="34" charset="-122"/>
                <a:cs typeface="Microsoft JhengHei" pitchFamily="34" charset="-120"/>
              </a:rPr>
              <a:t>場景、SP 起始姿勢、提示卡</a:t>
            </a:r>
            <a:endParaRPr lang="en-US" sz="1450" dirty="0"/>
          </a:p>
        </p:txBody>
      </p:sp>
      <p:sp>
        <p:nvSpPr>
          <p:cNvPr id="17" name="Shape 15"/>
          <p:cNvSpPr/>
          <p:nvPr/>
        </p:nvSpPr>
        <p:spPr>
          <a:xfrm>
            <a:off x="502920" y="3566160"/>
            <a:ext cx="4023360" cy="1024128"/>
          </a:xfrm>
          <a:prstGeom prst="rect">
            <a:avLst/>
          </a:prstGeom>
          <a:solidFill>
            <a:srgbClr val="DEEBF7"/>
          </a:solidFill>
          <a:ln/>
        </p:spPr>
        <p:txBody>
          <a:bodyPr/>
          <a:lstStyle/>
          <a:p>
            <a:endParaRPr lang="zh-TW" altLang="en-US"/>
          </a:p>
        </p:txBody>
      </p:sp>
      <p:sp>
        <p:nvSpPr>
          <p:cNvPr id="18" name="Shape 16"/>
          <p:cNvSpPr/>
          <p:nvPr/>
        </p:nvSpPr>
        <p:spPr>
          <a:xfrm>
            <a:off x="502920" y="3566160"/>
            <a:ext cx="64008" cy="1024128"/>
          </a:xfrm>
          <a:prstGeom prst="rect">
            <a:avLst/>
          </a:prstGeom>
          <a:solidFill>
            <a:srgbClr val="2E75B6"/>
          </a:solidFill>
          <a:ln/>
        </p:spPr>
        <p:txBody>
          <a:bodyPr/>
          <a:lstStyle/>
          <a:p>
            <a:endParaRPr lang="zh-TW" altLang="en-US"/>
          </a:p>
        </p:txBody>
      </p:sp>
      <p:sp>
        <p:nvSpPr>
          <p:cNvPr id="19" name="Text 17"/>
          <p:cNvSpPr/>
          <p:nvPr/>
        </p:nvSpPr>
        <p:spPr>
          <a:xfrm>
            <a:off x="704088" y="3657600"/>
            <a:ext cx="3703320" cy="868680"/>
          </a:xfrm>
          <a:prstGeom prst="rect">
            <a:avLst/>
          </a:prstGeom>
          <a:noFill/>
          <a:ln/>
        </p:spPr>
        <p:txBody>
          <a:bodyPr wrap="square" lIns="0" tIns="0" rIns="0" bIns="0" rtlCol="0" anchor="ctr"/>
          <a:lstStyle/>
          <a:p>
            <a:pPr marL="0" indent="0">
              <a:lnSpc>
                <a:spcPct val="110000"/>
              </a:lnSpc>
              <a:buNone/>
            </a:pPr>
            <a:r>
              <a:rPr lang="en-US" sz="1450" b="1" dirty="0">
                <a:solidFill>
                  <a:srgbClr val="1F4E79"/>
                </a:solidFill>
                <a:latin typeface="Microsoft JhengHei" pitchFamily="34" charset="0"/>
                <a:ea typeface="Microsoft JhengHei" pitchFamily="34" charset="-122"/>
                <a:cs typeface="Microsoft JhengHei" pitchFamily="34" charset="-120"/>
              </a:rPr>
              <a:t>評分說明</a:t>
            </a:r>
            <a:endParaRPr lang="en-US" sz="1450" dirty="0"/>
          </a:p>
          <a:p>
            <a:pPr marL="0" indent="0">
              <a:lnSpc>
                <a:spcPct val="110000"/>
              </a:lnSpc>
              <a:buNone/>
            </a:pPr>
            <a:r>
              <a:rPr lang="en-US" sz="1150" dirty="0">
                <a:solidFill>
                  <a:srgbClr val="1F2937"/>
                </a:solidFill>
                <a:latin typeface="Microsoft JhengHei" pitchFamily="34" charset="0"/>
                <a:ea typeface="Microsoft JhengHei" pitchFamily="34" charset="-122"/>
                <a:cs typeface="Microsoft JhengHei" pitchFamily="34" charset="-120"/>
              </a:rPr>
              <a:t>15 項 × 三級錨點（完全／部份／沒有做到）</a:t>
            </a:r>
            <a:endParaRPr lang="en-US" sz="1450" dirty="0"/>
          </a:p>
        </p:txBody>
      </p:sp>
      <p:sp>
        <p:nvSpPr>
          <p:cNvPr id="20" name="Shape 18"/>
          <p:cNvSpPr/>
          <p:nvPr/>
        </p:nvSpPr>
        <p:spPr>
          <a:xfrm>
            <a:off x="4709160" y="3566160"/>
            <a:ext cx="4023360" cy="1024128"/>
          </a:xfrm>
          <a:prstGeom prst="rect">
            <a:avLst/>
          </a:prstGeom>
          <a:solidFill>
            <a:srgbClr val="DEEBF7"/>
          </a:solidFill>
          <a:ln/>
        </p:spPr>
        <p:txBody>
          <a:bodyPr/>
          <a:lstStyle/>
          <a:p>
            <a:endParaRPr lang="zh-TW" altLang="en-US"/>
          </a:p>
        </p:txBody>
      </p:sp>
      <p:sp>
        <p:nvSpPr>
          <p:cNvPr id="21" name="Shape 19"/>
          <p:cNvSpPr/>
          <p:nvPr/>
        </p:nvSpPr>
        <p:spPr>
          <a:xfrm>
            <a:off x="4709160" y="3566160"/>
            <a:ext cx="64008" cy="1024128"/>
          </a:xfrm>
          <a:prstGeom prst="rect">
            <a:avLst/>
          </a:prstGeom>
          <a:solidFill>
            <a:srgbClr val="2E75B6"/>
          </a:solidFill>
          <a:ln/>
        </p:spPr>
        <p:txBody>
          <a:bodyPr/>
          <a:lstStyle/>
          <a:p>
            <a:endParaRPr lang="zh-TW" altLang="en-US"/>
          </a:p>
        </p:txBody>
      </p:sp>
      <p:sp>
        <p:nvSpPr>
          <p:cNvPr id="22" name="Text 20"/>
          <p:cNvSpPr/>
          <p:nvPr/>
        </p:nvSpPr>
        <p:spPr>
          <a:xfrm>
            <a:off x="4910328" y="3657600"/>
            <a:ext cx="3703320" cy="868680"/>
          </a:xfrm>
          <a:prstGeom prst="rect">
            <a:avLst/>
          </a:prstGeom>
          <a:noFill/>
          <a:ln/>
        </p:spPr>
        <p:txBody>
          <a:bodyPr wrap="square" lIns="0" tIns="0" rIns="0" bIns="0" rtlCol="0" anchor="ctr"/>
          <a:lstStyle/>
          <a:p>
            <a:pPr marL="0" indent="0">
              <a:lnSpc>
                <a:spcPct val="110000"/>
              </a:lnSpc>
              <a:buNone/>
            </a:pPr>
            <a:r>
              <a:rPr lang="en-US" sz="1450" b="1" dirty="0">
                <a:solidFill>
                  <a:srgbClr val="1F4E79"/>
                </a:solidFill>
                <a:latin typeface="Microsoft JhengHei" pitchFamily="34" charset="0"/>
                <a:ea typeface="Microsoft JhengHei" pitchFamily="34" charset="-122"/>
                <a:cs typeface="Microsoft JhengHei" pitchFamily="34" charset="-120"/>
              </a:rPr>
              <a:t>SP 劇本摘要</a:t>
            </a:r>
            <a:endParaRPr lang="en-US" sz="1450" dirty="0"/>
          </a:p>
          <a:p>
            <a:pPr marL="0" indent="0">
              <a:lnSpc>
                <a:spcPct val="110000"/>
              </a:lnSpc>
              <a:buNone/>
            </a:pPr>
            <a:r>
              <a:rPr lang="en-US" sz="1150" dirty="0">
                <a:solidFill>
                  <a:srgbClr val="1F2937"/>
                </a:solidFill>
                <a:latin typeface="Microsoft JhengHei" pitchFamily="34" charset="0"/>
                <a:ea typeface="Microsoft JhengHei" pitchFamily="34" charset="-122"/>
                <a:cs typeface="Microsoft JhengHei" pitchFamily="34" charset="-120"/>
              </a:rPr>
              <a:t>情緒強度＋人物設定＋回應原則——考官也要懂 SP 會怎麼演</a:t>
            </a:r>
            <a:endParaRPr lang="en-US" sz="1450" dirty="0"/>
          </a:p>
        </p:txBody>
      </p:sp>
      <p:sp>
        <p:nvSpPr>
          <p:cNvPr id="23" name="Text 21"/>
          <p:cNvSpPr/>
          <p:nvPr/>
        </p:nvSpPr>
        <p:spPr>
          <a:xfrm>
            <a:off x="502920" y="4590288"/>
            <a:ext cx="8138160" cy="320040"/>
          </a:xfrm>
          <a:prstGeom prst="rect">
            <a:avLst/>
          </a:prstGeom>
          <a:noFill/>
          <a:ln/>
        </p:spPr>
        <p:txBody>
          <a:bodyPr wrap="square" lIns="0" tIns="0" rIns="0" bIns="0" rtlCol="0" anchor="ctr"/>
          <a:lstStyle/>
          <a:p>
            <a:pPr marL="0" indent="0">
              <a:buNone/>
            </a:pPr>
            <a:r>
              <a:rPr lang="en-US" sz="1200" i="1" dirty="0">
                <a:solidFill>
                  <a:srgbClr val="C00000"/>
                </a:solidFill>
                <a:latin typeface="Microsoft JhengHei" pitchFamily="34" charset="0"/>
                <a:ea typeface="Microsoft JhengHei" pitchFamily="34" charset="-122"/>
                <a:cs typeface="Microsoft JhengHei" pitchFamily="34" charset="-120"/>
              </a:rPr>
              <a:t>審題委員最常挑的毛病：測驗項目與考生任務不符、評分說明淪為抽象描述</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641080" y="4828032"/>
            <a:ext cx="365760" cy="274320"/>
          </a:xfrm>
          <a:prstGeom prst="rect">
            <a:avLst/>
          </a:prstGeom>
          <a:noFill/>
          <a:ln/>
        </p:spPr>
        <p:txBody>
          <a:bodyPr wrap="square" lIns="0" tIns="0" rIns="0" bIns="0" rtlCol="0" anchor="ctr"/>
          <a:lstStyle/>
          <a:p>
            <a:pPr marL="0" indent="0" algn="r">
              <a:buNone/>
            </a:pPr>
            <a:r>
              <a:rPr lang="en-US" sz="1000" dirty="0">
                <a:solidFill>
                  <a:srgbClr val="5B6B7F"/>
                </a:solidFill>
                <a:latin typeface="Microsoft JhengHei" pitchFamily="34" charset="0"/>
                <a:ea typeface="Microsoft JhengHei" pitchFamily="34" charset="-122"/>
                <a:cs typeface="Microsoft JhengHei" pitchFamily="34" charset="-120"/>
              </a:rPr>
              <a:t>18</a:t>
            </a:r>
            <a:endParaRPr lang="en-US" sz="1000" dirty="0"/>
          </a:p>
        </p:txBody>
      </p:sp>
      <p:sp>
        <p:nvSpPr>
          <p:cNvPr id="3" name="Text 1"/>
          <p:cNvSpPr/>
          <p:nvPr/>
        </p:nvSpPr>
        <p:spPr>
          <a:xfrm>
            <a:off x="502920" y="201168"/>
            <a:ext cx="8046720" cy="274320"/>
          </a:xfrm>
          <a:prstGeom prst="rect">
            <a:avLst/>
          </a:prstGeom>
          <a:noFill/>
          <a:ln/>
        </p:spPr>
        <p:txBody>
          <a:bodyPr wrap="square" lIns="0" tIns="0" rIns="0" bIns="0" rtlCol="0" anchor="ctr"/>
          <a:lstStyle/>
          <a:p>
            <a:pPr marL="0" indent="0">
              <a:buNone/>
            </a:pPr>
            <a:r>
              <a:rPr lang="en-US" sz="1200" b="1" kern="0" spc="200" dirty="0">
                <a:solidFill>
                  <a:srgbClr val="2E75B6"/>
                </a:solidFill>
                <a:latin typeface="Microsoft JhengHei" pitchFamily="34" charset="0"/>
                <a:ea typeface="Microsoft JhengHei" pitchFamily="34" charset="-122"/>
                <a:cs typeface="Microsoft JhengHei" pitchFamily="34" charset="-120"/>
              </a:rPr>
              <a:t>PART 5</a:t>
            </a:r>
            <a:endParaRPr lang="en-US" sz="1200" dirty="0"/>
          </a:p>
        </p:txBody>
      </p:sp>
      <p:sp>
        <p:nvSpPr>
          <p:cNvPr id="4" name="Text 2"/>
          <p:cNvSpPr/>
          <p:nvPr/>
        </p:nvSpPr>
        <p:spPr>
          <a:xfrm>
            <a:off x="502920" y="457200"/>
            <a:ext cx="8138160" cy="566928"/>
          </a:xfrm>
          <a:prstGeom prst="rect">
            <a:avLst/>
          </a:prstGeom>
          <a:noFill/>
          <a:ln/>
        </p:spPr>
        <p:txBody>
          <a:bodyPr wrap="square" lIns="0" tIns="0" rIns="0" bIns="0" rtlCol="0" anchor="ctr"/>
          <a:lstStyle/>
          <a:p>
            <a:pPr marL="0" indent="0">
              <a:buNone/>
            </a:pPr>
            <a:r>
              <a:rPr lang="en-US" sz="2700" b="1" dirty="0">
                <a:solidFill>
                  <a:srgbClr val="1F4E79"/>
                </a:solidFill>
                <a:latin typeface="Microsoft JhengHei" pitchFamily="34" charset="0"/>
                <a:ea typeface="Microsoft JhengHei" pitchFamily="34" charset="-122"/>
                <a:cs typeface="Microsoft JhengHei" pitchFamily="34" charset="-120"/>
              </a:rPr>
              <a:t>SP 指引：把人演成「標準化」病人</a:t>
            </a:r>
            <a:endParaRPr lang="en-US" sz="2700" dirty="0"/>
          </a:p>
        </p:txBody>
      </p:sp>
      <p:sp>
        <p:nvSpPr>
          <p:cNvPr id="5" name="Shape 3"/>
          <p:cNvSpPr/>
          <p:nvPr/>
        </p:nvSpPr>
        <p:spPr>
          <a:xfrm>
            <a:off x="502920" y="1143000"/>
            <a:ext cx="4069080" cy="603504"/>
          </a:xfrm>
          <a:prstGeom prst="rect">
            <a:avLst/>
          </a:prstGeom>
          <a:solidFill>
            <a:srgbClr val="DEEBF7"/>
          </a:solidFill>
          <a:ln/>
        </p:spPr>
        <p:txBody>
          <a:bodyPr/>
          <a:lstStyle/>
          <a:p>
            <a:endParaRPr lang="zh-TW" altLang="en-US"/>
          </a:p>
        </p:txBody>
      </p:sp>
      <p:sp>
        <p:nvSpPr>
          <p:cNvPr id="6" name="Shape 4"/>
          <p:cNvSpPr/>
          <p:nvPr/>
        </p:nvSpPr>
        <p:spPr>
          <a:xfrm>
            <a:off x="502920" y="1143000"/>
            <a:ext cx="64008" cy="603504"/>
          </a:xfrm>
          <a:prstGeom prst="rect">
            <a:avLst/>
          </a:prstGeom>
          <a:solidFill>
            <a:srgbClr val="2E75B6"/>
          </a:solidFill>
          <a:ln/>
        </p:spPr>
        <p:txBody>
          <a:bodyPr/>
          <a:lstStyle/>
          <a:p>
            <a:endParaRPr lang="zh-TW" altLang="en-US"/>
          </a:p>
        </p:txBody>
      </p:sp>
      <p:sp>
        <p:nvSpPr>
          <p:cNvPr id="7" name="Text 5"/>
          <p:cNvSpPr/>
          <p:nvPr/>
        </p:nvSpPr>
        <p:spPr>
          <a:xfrm>
            <a:off x="713232" y="1143000"/>
            <a:ext cx="3749040" cy="603504"/>
          </a:xfrm>
          <a:prstGeom prst="rect">
            <a:avLst/>
          </a:prstGeom>
          <a:noFill/>
          <a:ln/>
        </p:spPr>
        <p:txBody>
          <a:bodyPr wrap="square" lIns="0" tIns="0" rIns="0" bIns="0" rtlCol="0" anchor="ctr"/>
          <a:lstStyle/>
          <a:p>
            <a:pPr marL="0" indent="0">
              <a:buNone/>
            </a:pPr>
            <a:r>
              <a:rPr lang="en-US" sz="1300" b="1" dirty="0">
                <a:solidFill>
                  <a:srgbClr val="1F4E79"/>
                </a:solidFill>
                <a:latin typeface="Microsoft JhengHei" pitchFamily="34" charset="0"/>
                <a:ea typeface="Microsoft JhengHei" pitchFamily="34" charset="-122"/>
                <a:cs typeface="Microsoft JhengHei" pitchFamily="34" charset="-120"/>
              </a:rPr>
              <a:t>清楚的人物設定　</a:t>
            </a:r>
            <a:r>
              <a:rPr lang="en-US" sz="1050" dirty="0">
                <a:solidFill>
                  <a:srgbClr val="5B6B7F"/>
                </a:solidFill>
                <a:latin typeface="Microsoft JhengHei" pitchFamily="34" charset="0"/>
                <a:ea typeface="Microsoft JhengHei" pitchFamily="34" charset="-122"/>
                <a:cs typeface="Microsoft JhengHei" pitchFamily="34" charset="-120"/>
              </a:rPr>
              <a:t>身份、情緒強度（x/10）、痛苦程度、說話風格、界線</a:t>
            </a:r>
            <a:endParaRPr lang="en-US" sz="1300" dirty="0"/>
          </a:p>
        </p:txBody>
      </p:sp>
      <p:sp>
        <p:nvSpPr>
          <p:cNvPr id="8" name="Shape 6"/>
          <p:cNvSpPr/>
          <p:nvPr/>
        </p:nvSpPr>
        <p:spPr>
          <a:xfrm>
            <a:off x="502920" y="1856232"/>
            <a:ext cx="4069080" cy="603504"/>
          </a:xfrm>
          <a:prstGeom prst="rect">
            <a:avLst/>
          </a:prstGeom>
          <a:solidFill>
            <a:srgbClr val="DEEBF7"/>
          </a:solidFill>
          <a:ln/>
        </p:spPr>
        <p:txBody>
          <a:bodyPr/>
          <a:lstStyle/>
          <a:p>
            <a:endParaRPr lang="zh-TW" altLang="en-US"/>
          </a:p>
        </p:txBody>
      </p:sp>
      <p:sp>
        <p:nvSpPr>
          <p:cNvPr id="9" name="Shape 7"/>
          <p:cNvSpPr/>
          <p:nvPr/>
        </p:nvSpPr>
        <p:spPr>
          <a:xfrm>
            <a:off x="502920" y="1856232"/>
            <a:ext cx="64008" cy="603504"/>
          </a:xfrm>
          <a:prstGeom prst="rect">
            <a:avLst/>
          </a:prstGeom>
          <a:solidFill>
            <a:srgbClr val="2E75B6"/>
          </a:solidFill>
          <a:ln/>
        </p:spPr>
        <p:txBody>
          <a:bodyPr/>
          <a:lstStyle/>
          <a:p>
            <a:endParaRPr lang="zh-TW" altLang="en-US"/>
          </a:p>
        </p:txBody>
      </p:sp>
      <p:sp>
        <p:nvSpPr>
          <p:cNvPr id="10" name="Text 8"/>
          <p:cNvSpPr/>
          <p:nvPr/>
        </p:nvSpPr>
        <p:spPr>
          <a:xfrm>
            <a:off x="713232" y="1856232"/>
            <a:ext cx="3749040" cy="603504"/>
          </a:xfrm>
          <a:prstGeom prst="rect">
            <a:avLst/>
          </a:prstGeom>
          <a:noFill/>
          <a:ln/>
        </p:spPr>
        <p:txBody>
          <a:bodyPr wrap="square" lIns="0" tIns="0" rIns="0" bIns="0" rtlCol="0" anchor="ctr"/>
          <a:lstStyle/>
          <a:p>
            <a:pPr marL="0" indent="0">
              <a:buNone/>
            </a:pPr>
            <a:r>
              <a:rPr lang="en-US" sz="1300" b="1" dirty="0">
                <a:solidFill>
                  <a:srgbClr val="1F4E79"/>
                </a:solidFill>
                <a:latin typeface="Microsoft JhengHei" pitchFamily="34" charset="0"/>
                <a:ea typeface="Microsoft JhengHei" pitchFamily="34" charset="-122"/>
                <a:cs typeface="Microsoft JhengHei" pitchFamily="34" charset="-120"/>
              </a:rPr>
              <a:t>可說／不可說　</a:t>
            </a:r>
            <a:r>
              <a:rPr lang="en-US" sz="1050" dirty="0">
                <a:solidFill>
                  <a:srgbClr val="5B6B7F"/>
                </a:solidFill>
                <a:latin typeface="Microsoft JhengHei" pitchFamily="34" charset="0"/>
                <a:ea typeface="Microsoft JhengHei" pitchFamily="34" charset="-122"/>
                <a:cs typeface="Microsoft JhengHei" pitchFamily="34" charset="-120"/>
              </a:rPr>
              <a:t>關鍵線索「等考生明確問到才說」；觸發條件要寫清楚</a:t>
            </a:r>
            <a:endParaRPr lang="en-US" sz="1300" dirty="0"/>
          </a:p>
        </p:txBody>
      </p:sp>
      <p:sp>
        <p:nvSpPr>
          <p:cNvPr id="11" name="Shape 9"/>
          <p:cNvSpPr/>
          <p:nvPr/>
        </p:nvSpPr>
        <p:spPr>
          <a:xfrm>
            <a:off x="502920" y="2569464"/>
            <a:ext cx="4069080" cy="603504"/>
          </a:xfrm>
          <a:prstGeom prst="rect">
            <a:avLst/>
          </a:prstGeom>
          <a:solidFill>
            <a:srgbClr val="DEEBF7"/>
          </a:solidFill>
          <a:ln/>
        </p:spPr>
        <p:txBody>
          <a:bodyPr/>
          <a:lstStyle/>
          <a:p>
            <a:endParaRPr lang="zh-TW" altLang="en-US"/>
          </a:p>
        </p:txBody>
      </p:sp>
      <p:sp>
        <p:nvSpPr>
          <p:cNvPr id="12" name="Shape 10"/>
          <p:cNvSpPr/>
          <p:nvPr/>
        </p:nvSpPr>
        <p:spPr>
          <a:xfrm>
            <a:off x="502920" y="2569464"/>
            <a:ext cx="64008" cy="603504"/>
          </a:xfrm>
          <a:prstGeom prst="rect">
            <a:avLst/>
          </a:prstGeom>
          <a:solidFill>
            <a:srgbClr val="2E75B6"/>
          </a:solidFill>
          <a:ln/>
        </p:spPr>
        <p:txBody>
          <a:bodyPr/>
          <a:lstStyle/>
          <a:p>
            <a:endParaRPr lang="zh-TW" altLang="en-US"/>
          </a:p>
        </p:txBody>
      </p:sp>
      <p:sp>
        <p:nvSpPr>
          <p:cNvPr id="13" name="Text 11"/>
          <p:cNvSpPr/>
          <p:nvPr/>
        </p:nvSpPr>
        <p:spPr>
          <a:xfrm>
            <a:off x="713232" y="2569464"/>
            <a:ext cx="3749040" cy="603504"/>
          </a:xfrm>
          <a:prstGeom prst="rect">
            <a:avLst/>
          </a:prstGeom>
          <a:noFill/>
          <a:ln/>
        </p:spPr>
        <p:txBody>
          <a:bodyPr wrap="square" lIns="0" tIns="0" rIns="0" bIns="0" rtlCol="0" anchor="ctr"/>
          <a:lstStyle/>
          <a:p>
            <a:pPr marL="0" indent="0">
              <a:buNone/>
            </a:pPr>
            <a:r>
              <a:rPr lang="en-US" sz="1300" b="1" dirty="0">
                <a:solidFill>
                  <a:srgbClr val="1F4E79"/>
                </a:solidFill>
                <a:latin typeface="Microsoft JhengHei" pitchFamily="34" charset="0"/>
                <a:ea typeface="Microsoft JhengHei" pitchFamily="34" charset="-122"/>
                <a:cs typeface="Microsoft JhengHei" pitchFamily="34" charset="-120"/>
              </a:rPr>
              <a:t>主動發問 ≤5 個　</a:t>
            </a:r>
            <a:r>
              <a:rPr lang="en-US" sz="1050" dirty="0">
                <a:solidFill>
                  <a:srgbClr val="5B6B7F"/>
                </a:solidFill>
                <a:latin typeface="Microsoft JhengHei" pitchFamily="34" charset="0"/>
                <a:ea typeface="Microsoft JhengHei" pitchFamily="34" charset="-122"/>
                <a:cs typeface="Microsoft JhengHei" pitchFamily="34" charset="-120"/>
              </a:rPr>
              <a:t>SP 的問題是測驗工具，不是聊天</a:t>
            </a:r>
            <a:endParaRPr lang="en-US" sz="1300" dirty="0"/>
          </a:p>
        </p:txBody>
      </p:sp>
      <p:sp>
        <p:nvSpPr>
          <p:cNvPr id="14" name="Shape 12"/>
          <p:cNvSpPr/>
          <p:nvPr/>
        </p:nvSpPr>
        <p:spPr>
          <a:xfrm>
            <a:off x="502920" y="3282696"/>
            <a:ext cx="4069080" cy="603504"/>
          </a:xfrm>
          <a:prstGeom prst="rect">
            <a:avLst/>
          </a:prstGeom>
          <a:solidFill>
            <a:srgbClr val="DEEBF7"/>
          </a:solidFill>
          <a:ln/>
        </p:spPr>
        <p:txBody>
          <a:bodyPr/>
          <a:lstStyle/>
          <a:p>
            <a:endParaRPr lang="zh-TW" altLang="en-US"/>
          </a:p>
        </p:txBody>
      </p:sp>
      <p:sp>
        <p:nvSpPr>
          <p:cNvPr id="15" name="Shape 13"/>
          <p:cNvSpPr/>
          <p:nvPr/>
        </p:nvSpPr>
        <p:spPr>
          <a:xfrm>
            <a:off x="502920" y="3282696"/>
            <a:ext cx="64008" cy="603504"/>
          </a:xfrm>
          <a:prstGeom prst="rect">
            <a:avLst/>
          </a:prstGeom>
          <a:solidFill>
            <a:srgbClr val="2E75B6"/>
          </a:solidFill>
          <a:ln/>
        </p:spPr>
        <p:txBody>
          <a:bodyPr/>
          <a:lstStyle/>
          <a:p>
            <a:endParaRPr lang="zh-TW" altLang="en-US"/>
          </a:p>
        </p:txBody>
      </p:sp>
      <p:sp>
        <p:nvSpPr>
          <p:cNvPr id="16" name="Text 14"/>
          <p:cNvSpPr/>
          <p:nvPr/>
        </p:nvSpPr>
        <p:spPr>
          <a:xfrm>
            <a:off x="713232" y="3282696"/>
            <a:ext cx="3749040" cy="603504"/>
          </a:xfrm>
          <a:prstGeom prst="rect">
            <a:avLst/>
          </a:prstGeom>
          <a:noFill/>
          <a:ln/>
        </p:spPr>
        <p:txBody>
          <a:bodyPr wrap="square" lIns="0" tIns="0" rIns="0" bIns="0" rtlCol="0" anchor="ctr"/>
          <a:lstStyle/>
          <a:p>
            <a:pPr marL="0" indent="0">
              <a:buNone/>
            </a:pPr>
            <a:r>
              <a:rPr lang="en-US" sz="1300" b="1" dirty="0">
                <a:solidFill>
                  <a:srgbClr val="1F4E79"/>
                </a:solidFill>
                <a:latin typeface="Microsoft JhengHei" pitchFamily="34" charset="0"/>
                <a:ea typeface="Microsoft JhengHei" pitchFamily="34" charset="-122"/>
                <a:cs typeface="Microsoft JhengHei" pitchFamily="34" charset="-120"/>
              </a:rPr>
              <a:t>對應評分項目　</a:t>
            </a:r>
            <a:r>
              <a:rPr lang="en-US" sz="1050" dirty="0">
                <a:solidFill>
                  <a:srgbClr val="5B6B7F"/>
                </a:solidFill>
                <a:latin typeface="Microsoft JhengHei" pitchFamily="34" charset="0"/>
                <a:ea typeface="Microsoft JhengHei" pitchFamily="34" charset="-122"/>
                <a:cs typeface="Microsoft JhengHei" pitchFamily="34" charset="-120"/>
              </a:rPr>
              <a:t>每個 SP 面向的評分項，都要有對應的 SP 回應例句</a:t>
            </a:r>
            <a:endParaRPr lang="en-US" sz="1300" dirty="0"/>
          </a:p>
        </p:txBody>
      </p:sp>
      <p:sp>
        <p:nvSpPr>
          <p:cNvPr id="17" name="Text 15"/>
          <p:cNvSpPr/>
          <p:nvPr/>
        </p:nvSpPr>
        <p:spPr>
          <a:xfrm>
            <a:off x="4800600" y="1143000"/>
            <a:ext cx="3840480" cy="274320"/>
          </a:xfrm>
          <a:prstGeom prst="rect">
            <a:avLst/>
          </a:prstGeom>
          <a:noFill/>
          <a:ln/>
        </p:spPr>
        <p:txBody>
          <a:bodyPr wrap="square" lIns="0" tIns="0" rIns="0" bIns="0" rtlCol="0" anchor="ctr"/>
          <a:lstStyle/>
          <a:p>
            <a:pPr marL="0" indent="0">
              <a:buNone/>
            </a:pPr>
            <a:r>
              <a:rPr lang="en-US" sz="1300" b="1" dirty="0">
                <a:solidFill>
                  <a:srgbClr val="1F4E79"/>
                </a:solidFill>
                <a:latin typeface="Microsoft JhengHei" pitchFamily="34" charset="0"/>
                <a:ea typeface="Microsoft JhengHei" pitchFamily="34" charset="-122"/>
                <a:cs typeface="Microsoft JhengHei" pitchFamily="34" charset="-120"/>
              </a:rPr>
              <a:t>劇本對白例句：必用三欄一問一答表格</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800600" y="1481328"/>
          <a:ext cx="3840480" cy="1420368"/>
        </p:xfrm>
        <a:graphic>
          <a:graphicData uri="http://schemas.openxmlformats.org/drawingml/2006/table">
            <a:tbl>
              <a:tblPr/>
              <a:tblGrid>
                <a:gridCol w="9144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0">
                <a:tc>
                  <a:txBody>
                    <a:bodyPr/>
                    <a:lstStyle/>
                    <a:p>
                      <a:pPr marL="0" indent="0" algn="ctr">
                        <a:buNone/>
                      </a:pPr>
                      <a:r>
                        <a:rPr lang="en-US" sz="1100" b="1" dirty="0">
                          <a:solidFill>
                            <a:srgbClr val="FFFFFF"/>
                          </a:solidFill>
                          <a:latin typeface="Microsoft JhengHei" pitchFamily="34" charset="0"/>
                          <a:ea typeface="Microsoft JhengHei" pitchFamily="34" charset="-122"/>
                          <a:cs typeface="Microsoft JhengHei" pitchFamily="34" charset="-120"/>
                        </a:rPr>
                        <a:t>病歷架構</a:t>
                      </a:r>
                      <a:endParaRPr lang="en-US" sz="1100" dirty="0">
                        <a:latin typeface="Microsoft JhengHei" charset="0"/>
                        <a:ea typeface="Microsoft JhengHei" charset="0"/>
                        <a:cs typeface="Microsoft JhengHei" charset="0"/>
                      </a:endParaRPr>
                    </a:p>
                  </a:txBody>
                  <a:tcPr marL="54864" marR="54864" marT="36576" marB="36576" anchor="ctr">
                    <a:lnL w="9525" cap="flat" cmpd="sng" algn="ctr">
                      <a:solidFill>
                        <a:srgbClr val="BDD7EE"/>
                      </a:solidFill>
                      <a:prstDash val="solid"/>
                      <a:round/>
                      <a:headEnd type="none" w="med" len="med"/>
                      <a:tailEnd type="none" w="med" len="med"/>
                    </a:lnL>
                    <a:lnR w="9525" cap="flat" cmpd="sng" algn="ctr">
                      <a:solidFill>
                        <a:srgbClr val="BDD7EE"/>
                      </a:solidFill>
                      <a:prstDash val="solid"/>
                      <a:round/>
                      <a:headEnd type="none" w="med" len="med"/>
                      <a:tailEnd type="none" w="med" len="med"/>
                    </a:lnR>
                    <a:lnT w="9525" cap="flat" cmpd="sng" algn="ctr">
                      <a:solidFill>
                        <a:srgbClr val="BDD7EE"/>
                      </a:solidFill>
                      <a:prstDash val="solid"/>
                      <a:round/>
                      <a:headEnd type="none" w="med" len="med"/>
                      <a:tailEnd type="none" w="med" len="med"/>
                    </a:lnT>
                    <a:lnB w="9525" cap="flat" cmpd="sng" algn="ctr">
                      <a:solidFill>
                        <a:srgbClr val="BDD7EE"/>
                      </a:solidFill>
                      <a:prstDash val="solid"/>
                      <a:round/>
                      <a:headEnd type="none" w="med" len="med"/>
                      <a:tailEnd type="none" w="med" len="med"/>
                    </a:lnB>
                    <a:solidFill>
                      <a:srgbClr val="2E75B6"/>
                    </a:solidFill>
                  </a:tcPr>
                </a:tc>
                <a:tc>
                  <a:txBody>
                    <a:bodyPr/>
                    <a:lstStyle/>
                    <a:p>
                      <a:pPr marL="0" indent="0" algn="ctr">
                        <a:buNone/>
                      </a:pPr>
                      <a:r>
                        <a:rPr lang="en-US" sz="1100" b="1" dirty="0">
                          <a:solidFill>
                            <a:srgbClr val="FFFFFF"/>
                          </a:solidFill>
                          <a:latin typeface="Microsoft JhengHei" pitchFamily="34" charset="0"/>
                          <a:ea typeface="Microsoft JhengHei" pitchFamily="34" charset="-122"/>
                          <a:cs typeface="Microsoft JhengHei" pitchFamily="34" charset="-120"/>
                        </a:rPr>
                        <a:t>醫師對 SP 說的話</a:t>
                      </a:r>
                      <a:endParaRPr lang="en-US" sz="1100" dirty="0">
                        <a:latin typeface="Microsoft JhengHei" charset="0"/>
                        <a:ea typeface="Microsoft JhengHei" charset="0"/>
                        <a:cs typeface="Microsoft JhengHei" charset="0"/>
                      </a:endParaRPr>
                    </a:p>
                  </a:txBody>
                  <a:tcPr marL="54864" marR="54864" marT="36576" marB="36576" anchor="ctr">
                    <a:lnL w="9525" cap="flat" cmpd="sng" algn="ctr">
                      <a:solidFill>
                        <a:srgbClr val="BDD7EE"/>
                      </a:solidFill>
                      <a:prstDash val="solid"/>
                      <a:round/>
                      <a:headEnd type="none" w="med" len="med"/>
                      <a:tailEnd type="none" w="med" len="med"/>
                    </a:lnL>
                    <a:lnR w="9525" cap="flat" cmpd="sng" algn="ctr">
                      <a:solidFill>
                        <a:srgbClr val="BDD7EE"/>
                      </a:solidFill>
                      <a:prstDash val="solid"/>
                      <a:round/>
                      <a:headEnd type="none" w="med" len="med"/>
                      <a:tailEnd type="none" w="med" len="med"/>
                    </a:lnR>
                    <a:lnT w="9525" cap="flat" cmpd="sng" algn="ctr">
                      <a:solidFill>
                        <a:srgbClr val="BDD7EE"/>
                      </a:solidFill>
                      <a:prstDash val="solid"/>
                      <a:round/>
                      <a:headEnd type="none" w="med" len="med"/>
                      <a:tailEnd type="none" w="med" len="med"/>
                    </a:lnT>
                    <a:lnB w="9525" cap="flat" cmpd="sng" algn="ctr">
                      <a:solidFill>
                        <a:srgbClr val="BDD7EE"/>
                      </a:solidFill>
                      <a:prstDash val="solid"/>
                      <a:round/>
                      <a:headEnd type="none" w="med" len="med"/>
                      <a:tailEnd type="none" w="med" len="med"/>
                    </a:lnB>
                    <a:solidFill>
                      <a:srgbClr val="2E75B6"/>
                    </a:solidFill>
                  </a:tcPr>
                </a:tc>
                <a:tc>
                  <a:txBody>
                    <a:bodyPr/>
                    <a:lstStyle/>
                    <a:p>
                      <a:pPr marL="0" indent="0" algn="ctr">
                        <a:buNone/>
                      </a:pPr>
                      <a:r>
                        <a:rPr lang="en-US" sz="1100" b="1" dirty="0">
                          <a:solidFill>
                            <a:srgbClr val="FFFFFF"/>
                          </a:solidFill>
                          <a:latin typeface="Microsoft JhengHei" pitchFamily="34" charset="0"/>
                          <a:ea typeface="Microsoft JhengHei" pitchFamily="34" charset="-122"/>
                          <a:cs typeface="Microsoft JhengHei" pitchFamily="34" charset="-120"/>
                        </a:rPr>
                        <a:t>SP 的回應</a:t>
                      </a:r>
                      <a:endParaRPr lang="en-US" sz="1100" dirty="0">
                        <a:latin typeface="Microsoft JhengHei" charset="0"/>
                        <a:ea typeface="Microsoft JhengHei" charset="0"/>
                        <a:cs typeface="Microsoft JhengHei" charset="0"/>
                      </a:endParaRPr>
                    </a:p>
                  </a:txBody>
                  <a:tcPr marL="54864" marR="54864" marT="36576" marB="36576" anchor="ctr">
                    <a:lnL w="9525" cap="flat" cmpd="sng" algn="ctr">
                      <a:solidFill>
                        <a:srgbClr val="BDD7EE"/>
                      </a:solidFill>
                      <a:prstDash val="solid"/>
                      <a:round/>
                      <a:headEnd type="none" w="med" len="med"/>
                      <a:tailEnd type="none" w="med" len="med"/>
                    </a:lnL>
                    <a:lnR w="9525" cap="flat" cmpd="sng" algn="ctr">
                      <a:solidFill>
                        <a:srgbClr val="BDD7EE"/>
                      </a:solidFill>
                      <a:prstDash val="solid"/>
                      <a:round/>
                      <a:headEnd type="none" w="med" len="med"/>
                      <a:tailEnd type="none" w="med" len="med"/>
                    </a:lnR>
                    <a:lnT w="9525" cap="flat" cmpd="sng" algn="ctr">
                      <a:solidFill>
                        <a:srgbClr val="BDD7EE"/>
                      </a:solidFill>
                      <a:prstDash val="solid"/>
                      <a:round/>
                      <a:headEnd type="none" w="med" len="med"/>
                      <a:tailEnd type="none" w="med" len="med"/>
                    </a:lnT>
                    <a:lnB w="9525" cap="flat" cmpd="sng" algn="ctr">
                      <a:solidFill>
                        <a:srgbClr val="BDD7EE"/>
                      </a:solidFill>
                      <a:prstDash val="solid"/>
                      <a:round/>
                      <a:headEnd type="none" w="med" len="med"/>
                      <a:tailEnd type="none" w="med" len="med"/>
                    </a:lnB>
                    <a:solidFill>
                      <a:srgbClr val="2E75B6"/>
                    </a:solidFill>
                  </a:tcPr>
                </a:tc>
                <a:extLst>
                  <a:ext uri="{0D108BD9-81ED-4DB2-BD59-A6C34878D82A}">
                    <a16:rowId xmlns:a16="http://schemas.microsoft.com/office/drawing/2014/main" val="10000"/>
                  </a:ext>
                </a:extLst>
              </a:tr>
              <a:tr h="0">
                <a:tc>
                  <a:txBody>
                    <a:bodyPr/>
                    <a:lstStyle/>
                    <a:p>
                      <a:pPr marL="0" indent="0">
                        <a:buNone/>
                      </a:pPr>
                      <a:r>
                        <a:rPr lang="en-US" sz="1050" dirty="0">
                          <a:solidFill>
                            <a:srgbClr val="1F2937"/>
                          </a:solidFill>
                          <a:latin typeface="Microsoft JhengHei" pitchFamily="34" charset="0"/>
                          <a:ea typeface="Microsoft JhengHei" pitchFamily="34" charset="-122"/>
                          <a:cs typeface="Microsoft JhengHei" pitchFamily="34" charset="-120"/>
                        </a:rPr>
                        <a:t>自我介紹</a:t>
                      </a:r>
                      <a:endParaRPr lang="en-US" sz="1050" dirty="0">
                        <a:latin typeface="Microsoft JhengHei" charset="0"/>
                        <a:ea typeface="Microsoft JhengHei" charset="0"/>
                        <a:cs typeface="Microsoft JhengHei" charset="0"/>
                      </a:endParaRPr>
                    </a:p>
                  </a:txBody>
                  <a:tcPr marL="54864" marR="54864" marT="36576" marB="36576" anchor="ctr">
                    <a:lnL w="9525" cap="flat" cmpd="sng" algn="ctr">
                      <a:solidFill>
                        <a:srgbClr val="BDD7EE"/>
                      </a:solidFill>
                      <a:prstDash val="solid"/>
                      <a:round/>
                      <a:headEnd type="none" w="med" len="med"/>
                      <a:tailEnd type="none" w="med" len="med"/>
                    </a:lnL>
                    <a:lnR w="9525" cap="flat" cmpd="sng" algn="ctr">
                      <a:solidFill>
                        <a:srgbClr val="BDD7EE"/>
                      </a:solidFill>
                      <a:prstDash val="solid"/>
                      <a:round/>
                      <a:headEnd type="none" w="med" len="med"/>
                      <a:tailEnd type="none" w="med" len="med"/>
                    </a:lnR>
                    <a:lnT w="9525" cap="flat" cmpd="sng" algn="ctr">
                      <a:solidFill>
                        <a:srgbClr val="BDD7EE"/>
                      </a:solidFill>
                      <a:prstDash val="solid"/>
                      <a:round/>
                      <a:headEnd type="none" w="med" len="med"/>
                      <a:tailEnd type="none" w="med" len="med"/>
                    </a:lnT>
                    <a:lnB w="9525" cap="flat" cmpd="sng" algn="ctr">
                      <a:solidFill>
                        <a:srgbClr val="BDD7EE"/>
                      </a:solidFill>
                      <a:prstDash val="solid"/>
                      <a:round/>
                      <a:headEnd type="none" w="med" len="med"/>
                      <a:tailEnd type="none" w="med" len="med"/>
                    </a:lnB>
                  </a:tcPr>
                </a:tc>
                <a:tc>
                  <a:txBody>
                    <a:bodyPr/>
                    <a:lstStyle/>
                    <a:p>
                      <a:pPr marL="0" indent="0">
                        <a:buNone/>
                      </a:pPr>
                      <a:r>
                        <a:rPr lang="en-US" sz="1050" dirty="0">
                          <a:solidFill>
                            <a:srgbClr val="1F2937"/>
                          </a:solidFill>
                          <a:latin typeface="Microsoft JhengHei" pitchFamily="34" charset="0"/>
                          <a:ea typeface="Microsoft JhengHei" pitchFamily="34" charset="-122"/>
                          <a:cs typeface="Microsoft JhengHei" pitchFamily="34" charset="-120"/>
                        </a:rPr>
                        <a:t>您好，我是X醫師，今天怎麼了？</a:t>
                      </a:r>
                      <a:endParaRPr lang="en-US" sz="1050" dirty="0">
                        <a:latin typeface="Microsoft JhengHei" charset="0"/>
                        <a:ea typeface="Microsoft JhengHei" charset="0"/>
                        <a:cs typeface="Microsoft JhengHei" charset="0"/>
                      </a:endParaRPr>
                    </a:p>
                  </a:txBody>
                  <a:tcPr marL="54864" marR="54864" marT="36576" marB="36576" anchor="ctr">
                    <a:lnL w="9525" cap="flat" cmpd="sng" algn="ctr">
                      <a:solidFill>
                        <a:srgbClr val="BDD7EE"/>
                      </a:solidFill>
                      <a:prstDash val="solid"/>
                      <a:round/>
                      <a:headEnd type="none" w="med" len="med"/>
                      <a:tailEnd type="none" w="med" len="med"/>
                    </a:lnL>
                    <a:lnR w="9525" cap="flat" cmpd="sng" algn="ctr">
                      <a:solidFill>
                        <a:srgbClr val="BDD7EE"/>
                      </a:solidFill>
                      <a:prstDash val="solid"/>
                      <a:round/>
                      <a:headEnd type="none" w="med" len="med"/>
                      <a:tailEnd type="none" w="med" len="med"/>
                    </a:lnR>
                    <a:lnT w="9525" cap="flat" cmpd="sng" algn="ctr">
                      <a:solidFill>
                        <a:srgbClr val="BDD7EE"/>
                      </a:solidFill>
                      <a:prstDash val="solid"/>
                      <a:round/>
                      <a:headEnd type="none" w="med" len="med"/>
                      <a:tailEnd type="none" w="med" len="med"/>
                    </a:lnT>
                    <a:lnB w="9525" cap="flat" cmpd="sng" algn="ctr">
                      <a:solidFill>
                        <a:srgbClr val="BDD7EE"/>
                      </a:solidFill>
                      <a:prstDash val="solid"/>
                      <a:round/>
                      <a:headEnd type="none" w="med" len="med"/>
                      <a:tailEnd type="none" w="med" len="med"/>
                    </a:lnB>
                  </a:tcPr>
                </a:tc>
                <a:tc>
                  <a:txBody>
                    <a:bodyPr/>
                    <a:lstStyle/>
                    <a:p>
                      <a:pPr marL="0" indent="0">
                        <a:buNone/>
                      </a:pPr>
                      <a:r>
                        <a:rPr lang="en-US" sz="1050" dirty="0">
                          <a:solidFill>
                            <a:srgbClr val="1F2937"/>
                          </a:solidFill>
                          <a:latin typeface="Microsoft JhengHei" pitchFamily="34" charset="0"/>
                          <a:ea typeface="Microsoft JhengHei" pitchFamily="34" charset="-122"/>
                          <a:cs typeface="Microsoft JhengHei" pitchFamily="34" charset="-120"/>
                        </a:rPr>
                        <a:t>醫師，我肚子痛了三天…</a:t>
                      </a:r>
                      <a:endParaRPr lang="en-US" sz="1050" dirty="0">
                        <a:latin typeface="Microsoft JhengHei" charset="0"/>
                        <a:ea typeface="Microsoft JhengHei" charset="0"/>
                        <a:cs typeface="Microsoft JhengHei" charset="0"/>
                      </a:endParaRPr>
                    </a:p>
                  </a:txBody>
                  <a:tcPr marL="54864" marR="54864" marT="36576" marB="36576" anchor="ctr">
                    <a:lnL w="9525" cap="flat" cmpd="sng" algn="ctr">
                      <a:solidFill>
                        <a:srgbClr val="BDD7EE"/>
                      </a:solidFill>
                      <a:prstDash val="solid"/>
                      <a:round/>
                      <a:headEnd type="none" w="med" len="med"/>
                      <a:tailEnd type="none" w="med" len="med"/>
                    </a:lnL>
                    <a:lnR w="9525" cap="flat" cmpd="sng" algn="ctr">
                      <a:solidFill>
                        <a:srgbClr val="BDD7EE"/>
                      </a:solidFill>
                      <a:prstDash val="solid"/>
                      <a:round/>
                      <a:headEnd type="none" w="med" len="med"/>
                      <a:tailEnd type="none" w="med" len="med"/>
                    </a:lnR>
                    <a:lnT w="9525" cap="flat" cmpd="sng" algn="ctr">
                      <a:solidFill>
                        <a:srgbClr val="BDD7EE"/>
                      </a:solidFill>
                      <a:prstDash val="solid"/>
                      <a:round/>
                      <a:headEnd type="none" w="med" len="med"/>
                      <a:tailEnd type="none" w="med" len="med"/>
                    </a:lnT>
                    <a:lnB w="9525" cap="flat" cmpd="sng" algn="ctr">
                      <a:solidFill>
                        <a:srgbClr val="BDD7EE"/>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050" dirty="0">
                          <a:solidFill>
                            <a:srgbClr val="1F2937"/>
                          </a:solidFill>
                          <a:latin typeface="Microsoft JhengHei" pitchFamily="34" charset="0"/>
                          <a:ea typeface="Microsoft JhengHei" pitchFamily="34" charset="-122"/>
                          <a:cs typeface="Microsoft JhengHei" pitchFamily="34" charset="-120"/>
                        </a:rPr>
                        <a:t>疼痛特徵</a:t>
                      </a:r>
                      <a:endParaRPr lang="en-US" sz="1050" dirty="0">
                        <a:latin typeface="Microsoft JhengHei" charset="0"/>
                        <a:ea typeface="Microsoft JhengHei" charset="0"/>
                        <a:cs typeface="Microsoft JhengHei" charset="0"/>
                      </a:endParaRPr>
                    </a:p>
                  </a:txBody>
                  <a:tcPr marL="54864" marR="54864" marT="36576" marB="36576" anchor="ctr">
                    <a:lnL w="9525" cap="flat" cmpd="sng" algn="ctr">
                      <a:solidFill>
                        <a:srgbClr val="BDD7EE"/>
                      </a:solidFill>
                      <a:prstDash val="solid"/>
                      <a:round/>
                      <a:headEnd type="none" w="med" len="med"/>
                      <a:tailEnd type="none" w="med" len="med"/>
                    </a:lnL>
                    <a:lnR w="9525" cap="flat" cmpd="sng" algn="ctr">
                      <a:solidFill>
                        <a:srgbClr val="BDD7EE"/>
                      </a:solidFill>
                      <a:prstDash val="solid"/>
                      <a:round/>
                      <a:headEnd type="none" w="med" len="med"/>
                      <a:tailEnd type="none" w="med" len="med"/>
                    </a:lnR>
                    <a:lnT w="9525" cap="flat" cmpd="sng" algn="ctr">
                      <a:solidFill>
                        <a:srgbClr val="BDD7EE"/>
                      </a:solidFill>
                      <a:prstDash val="solid"/>
                      <a:round/>
                      <a:headEnd type="none" w="med" len="med"/>
                      <a:tailEnd type="none" w="med" len="med"/>
                    </a:lnT>
                    <a:lnB w="9525" cap="flat" cmpd="sng" algn="ctr">
                      <a:solidFill>
                        <a:srgbClr val="BDD7EE"/>
                      </a:solidFill>
                      <a:prstDash val="solid"/>
                      <a:round/>
                      <a:headEnd type="none" w="med" len="med"/>
                      <a:tailEnd type="none" w="med" len="med"/>
                    </a:lnB>
                  </a:tcPr>
                </a:tc>
                <a:tc>
                  <a:txBody>
                    <a:bodyPr/>
                    <a:lstStyle/>
                    <a:p>
                      <a:pPr marL="0" indent="0">
                        <a:buNone/>
                      </a:pPr>
                      <a:r>
                        <a:rPr lang="en-US" sz="1050" dirty="0">
                          <a:solidFill>
                            <a:srgbClr val="1F2937"/>
                          </a:solidFill>
                          <a:latin typeface="Microsoft JhengHei" pitchFamily="34" charset="0"/>
                          <a:ea typeface="Microsoft JhengHei" pitchFamily="34" charset="-122"/>
                          <a:cs typeface="Microsoft JhengHei" pitchFamily="34" charset="-120"/>
                        </a:rPr>
                        <a:t>哪裡痛？怎麼個痛法？</a:t>
                      </a:r>
                      <a:endParaRPr lang="en-US" sz="1050" dirty="0">
                        <a:latin typeface="Microsoft JhengHei" charset="0"/>
                        <a:ea typeface="Microsoft JhengHei" charset="0"/>
                        <a:cs typeface="Microsoft JhengHei" charset="0"/>
                      </a:endParaRPr>
                    </a:p>
                  </a:txBody>
                  <a:tcPr marL="54864" marR="54864" marT="36576" marB="36576" anchor="ctr">
                    <a:lnL w="9525" cap="flat" cmpd="sng" algn="ctr">
                      <a:solidFill>
                        <a:srgbClr val="BDD7EE"/>
                      </a:solidFill>
                      <a:prstDash val="solid"/>
                      <a:round/>
                      <a:headEnd type="none" w="med" len="med"/>
                      <a:tailEnd type="none" w="med" len="med"/>
                    </a:lnL>
                    <a:lnR w="9525" cap="flat" cmpd="sng" algn="ctr">
                      <a:solidFill>
                        <a:srgbClr val="BDD7EE"/>
                      </a:solidFill>
                      <a:prstDash val="solid"/>
                      <a:round/>
                      <a:headEnd type="none" w="med" len="med"/>
                      <a:tailEnd type="none" w="med" len="med"/>
                    </a:lnR>
                    <a:lnT w="9525" cap="flat" cmpd="sng" algn="ctr">
                      <a:solidFill>
                        <a:srgbClr val="BDD7EE"/>
                      </a:solidFill>
                      <a:prstDash val="solid"/>
                      <a:round/>
                      <a:headEnd type="none" w="med" len="med"/>
                      <a:tailEnd type="none" w="med" len="med"/>
                    </a:lnT>
                    <a:lnB w="9525" cap="flat" cmpd="sng" algn="ctr">
                      <a:solidFill>
                        <a:srgbClr val="BDD7EE"/>
                      </a:solidFill>
                      <a:prstDash val="solid"/>
                      <a:round/>
                      <a:headEnd type="none" w="med" len="med"/>
                      <a:tailEnd type="none" w="med" len="med"/>
                    </a:lnB>
                  </a:tcPr>
                </a:tc>
                <a:tc>
                  <a:txBody>
                    <a:bodyPr/>
                    <a:lstStyle/>
                    <a:p>
                      <a:pPr marL="0" indent="0">
                        <a:buNone/>
                      </a:pPr>
                      <a:r>
                        <a:rPr lang="en-US" sz="1050" dirty="0">
                          <a:solidFill>
                            <a:srgbClr val="1F2937"/>
                          </a:solidFill>
                          <a:latin typeface="Microsoft JhengHei" pitchFamily="34" charset="0"/>
                          <a:ea typeface="Microsoft JhengHei" pitchFamily="34" charset="-122"/>
                          <a:cs typeface="Microsoft JhengHei" pitchFamily="34" charset="-120"/>
                        </a:rPr>
                        <a:t>一開始肚臍周圍，現在右下腹。</a:t>
                      </a:r>
                      <a:endParaRPr lang="en-US" sz="1050" dirty="0">
                        <a:latin typeface="Microsoft JhengHei" charset="0"/>
                        <a:ea typeface="Microsoft JhengHei" charset="0"/>
                        <a:cs typeface="Microsoft JhengHei" charset="0"/>
                      </a:endParaRPr>
                    </a:p>
                  </a:txBody>
                  <a:tcPr marL="54864" marR="54864" marT="36576" marB="36576" anchor="ctr">
                    <a:lnL w="9525" cap="flat" cmpd="sng" algn="ctr">
                      <a:solidFill>
                        <a:srgbClr val="BDD7EE"/>
                      </a:solidFill>
                      <a:prstDash val="solid"/>
                      <a:round/>
                      <a:headEnd type="none" w="med" len="med"/>
                      <a:tailEnd type="none" w="med" len="med"/>
                    </a:lnL>
                    <a:lnR w="9525" cap="flat" cmpd="sng" algn="ctr">
                      <a:solidFill>
                        <a:srgbClr val="BDD7EE"/>
                      </a:solidFill>
                      <a:prstDash val="solid"/>
                      <a:round/>
                      <a:headEnd type="none" w="med" len="med"/>
                      <a:tailEnd type="none" w="med" len="med"/>
                    </a:lnR>
                    <a:lnT w="9525" cap="flat" cmpd="sng" algn="ctr">
                      <a:solidFill>
                        <a:srgbClr val="BDD7EE"/>
                      </a:solidFill>
                      <a:prstDash val="solid"/>
                      <a:round/>
                      <a:headEnd type="none" w="med" len="med"/>
                      <a:tailEnd type="none" w="med" len="med"/>
                    </a:lnT>
                    <a:lnB w="9525" cap="flat" cmpd="sng" algn="ctr">
                      <a:solidFill>
                        <a:srgbClr val="BDD7EE"/>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050" dirty="0">
                          <a:solidFill>
                            <a:srgbClr val="1F2937"/>
                          </a:solidFill>
                          <a:latin typeface="Microsoft JhengHei" pitchFamily="34" charset="0"/>
                          <a:ea typeface="Microsoft JhengHei" pitchFamily="34" charset="-122"/>
                          <a:cs typeface="Microsoft JhengHei" pitchFamily="34" charset="-120"/>
                        </a:rPr>
                        <a:t>危險因子</a:t>
                      </a:r>
                      <a:endParaRPr lang="en-US" sz="1050" dirty="0">
                        <a:latin typeface="Microsoft JhengHei" charset="0"/>
                        <a:ea typeface="Microsoft JhengHei" charset="0"/>
                        <a:cs typeface="Microsoft JhengHei" charset="0"/>
                      </a:endParaRPr>
                    </a:p>
                  </a:txBody>
                  <a:tcPr marL="54864" marR="54864" marT="36576" marB="36576" anchor="ctr">
                    <a:lnL w="9525" cap="flat" cmpd="sng" algn="ctr">
                      <a:solidFill>
                        <a:srgbClr val="BDD7EE"/>
                      </a:solidFill>
                      <a:prstDash val="solid"/>
                      <a:round/>
                      <a:headEnd type="none" w="med" len="med"/>
                      <a:tailEnd type="none" w="med" len="med"/>
                    </a:lnL>
                    <a:lnR w="9525" cap="flat" cmpd="sng" algn="ctr">
                      <a:solidFill>
                        <a:srgbClr val="BDD7EE"/>
                      </a:solidFill>
                      <a:prstDash val="solid"/>
                      <a:round/>
                      <a:headEnd type="none" w="med" len="med"/>
                      <a:tailEnd type="none" w="med" len="med"/>
                    </a:lnR>
                    <a:lnT w="9525" cap="flat" cmpd="sng" algn="ctr">
                      <a:solidFill>
                        <a:srgbClr val="BDD7EE"/>
                      </a:solidFill>
                      <a:prstDash val="solid"/>
                      <a:round/>
                      <a:headEnd type="none" w="med" len="med"/>
                      <a:tailEnd type="none" w="med" len="med"/>
                    </a:lnT>
                    <a:lnB w="9525" cap="flat" cmpd="sng" algn="ctr">
                      <a:solidFill>
                        <a:srgbClr val="BDD7EE"/>
                      </a:solidFill>
                      <a:prstDash val="solid"/>
                      <a:round/>
                      <a:headEnd type="none" w="med" len="med"/>
                      <a:tailEnd type="none" w="med" len="med"/>
                    </a:lnB>
                  </a:tcPr>
                </a:tc>
                <a:tc>
                  <a:txBody>
                    <a:bodyPr/>
                    <a:lstStyle/>
                    <a:p>
                      <a:pPr marL="0" indent="0">
                        <a:buNone/>
                      </a:pPr>
                      <a:r>
                        <a:rPr lang="en-US" sz="1050" dirty="0">
                          <a:solidFill>
                            <a:srgbClr val="1F2937"/>
                          </a:solidFill>
                          <a:latin typeface="Microsoft JhengHei" pitchFamily="34" charset="0"/>
                          <a:ea typeface="Microsoft JhengHei" pitchFamily="34" charset="-122"/>
                          <a:cs typeface="Microsoft JhengHei" pitchFamily="34" charset="-120"/>
                        </a:rPr>
                        <a:t>以前開過刀嗎？</a:t>
                      </a:r>
                      <a:endParaRPr lang="en-US" sz="1050" dirty="0">
                        <a:latin typeface="Microsoft JhengHei" charset="0"/>
                        <a:ea typeface="Microsoft JhengHei" charset="0"/>
                        <a:cs typeface="Microsoft JhengHei" charset="0"/>
                      </a:endParaRPr>
                    </a:p>
                  </a:txBody>
                  <a:tcPr marL="54864" marR="54864" marT="36576" marB="36576" anchor="ctr">
                    <a:lnL w="9525" cap="flat" cmpd="sng" algn="ctr">
                      <a:solidFill>
                        <a:srgbClr val="BDD7EE"/>
                      </a:solidFill>
                      <a:prstDash val="solid"/>
                      <a:round/>
                      <a:headEnd type="none" w="med" len="med"/>
                      <a:tailEnd type="none" w="med" len="med"/>
                    </a:lnL>
                    <a:lnR w="9525" cap="flat" cmpd="sng" algn="ctr">
                      <a:solidFill>
                        <a:srgbClr val="BDD7EE"/>
                      </a:solidFill>
                      <a:prstDash val="solid"/>
                      <a:round/>
                      <a:headEnd type="none" w="med" len="med"/>
                      <a:tailEnd type="none" w="med" len="med"/>
                    </a:lnR>
                    <a:lnT w="9525" cap="flat" cmpd="sng" algn="ctr">
                      <a:solidFill>
                        <a:srgbClr val="BDD7EE"/>
                      </a:solidFill>
                      <a:prstDash val="solid"/>
                      <a:round/>
                      <a:headEnd type="none" w="med" len="med"/>
                      <a:tailEnd type="none" w="med" len="med"/>
                    </a:lnT>
                    <a:lnB w="9525" cap="flat" cmpd="sng" algn="ctr">
                      <a:solidFill>
                        <a:srgbClr val="BDD7EE"/>
                      </a:solidFill>
                      <a:prstDash val="solid"/>
                      <a:round/>
                      <a:headEnd type="none" w="med" len="med"/>
                      <a:tailEnd type="none" w="med" len="med"/>
                    </a:lnB>
                  </a:tcPr>
                </a:tc>
                <a:tc>
                  <a:txBody>
                    <a:bodyPr/>
                    <a:lstStyle/>
                    <a:p>
                      <a:pPr marL="0" indent="0">
                        <a:buNone/>
                      </a:pPr>
                      <a:r>
                        <a:rPr lang="en-US" sz="1050" dirty="0">
                          <a:solidFill>
                            <a:srgbClr val="1F2937"/>
                          </a:solidFill>
                          <a:latin typeface="Microsoft JhengHei" pitchFamily="34" charset="0"/>
                          <a:ea typeface="Microsoft JhengHei" pitchFamily="34" charset="-122"/>
                          <a:cs typeface="Microsoft JhengHei" pitchFamily="34" charset="-120"/>
                        </a:rPr>
                        <a:t>沒有，第一次這麼痛。</a:t>
                      </a:r>
                      <a:endParaRPr lang="en-US" sz="1050" dirty="0">
                        <a:latin typeface="Microsoft JhengHei" charset="0"/>
                        <a:ea typeface="Microsoft JhengHei" charset="0"/>
                        <a:cs typeface="Microsoft JhengHei" charset="0"/>
                      </a:endParaRPr>
                    </a:p>
                  </a:txBody>
                  <a:tcPr marL="54864" marR="54864" marT="36576" marB="36576" anchor="ctr">
                    <a:lnL w="9525" cap="flat" cmpd="sng" algn="ctr">
                      <a:solidFill>
                        <a:srgbClr val="BDD7EE"/>
                      </a:solidFill>
                      <a:prstDash val="solid"/>
                      <a:round/>
                      <a:headEnd type="none" w="med" len="med"/>
                      <a:tailEnd type="none" w="med" len="med"/>
                    </a:lnL>
                    <a:lnR w="9525" cap="flat" cmpd="sng" algn="ctr">
                      <a:solidFill>
                        <a:srgbClr val="BDD7EE"/>
                      </a:solidFill>
                      <a:prstDash val="solid"/>
                      <a:round/>
                      <a:headEnd type="none" w="med" len="med"/>
                      <a:tailEnd type="none" w="med" len="med"/>
                    </a:lnR>
                    <a:lnT w="9525" cap="flat" cmpd="sng" algn="ctr">
                      <a:solidFill>
                        <a:srgbClr val="BDD7EE"/>
                      </a:solidFill>
                      <a:prstDash val="solid"/>
                      <a:round/>
                      <a:headEnd type="none" w="med" len="med"/>
                      <a:tailEnd type="none" w="med" len="med"/>
                    </a:lnT>
                    <a:lnB w="9525" cap="flat" cmpd="sng" algn="ctr">
                      <a:solidFill>
                        <a:srgbClr val="BDD7EE"/>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8" name="Shape 16"/>
          <p:cNvSpPr/>
          <p:nvPr/>
        </p:nvSpPr>
        <p:spPr>
          <a:xfrm>
            <a:off x="502920" y="4069080"/>
            <a:ext cx="8138160" cy="640080"/>
          </a:xfrm>
          <a:prstGeom prst="rect">
            <a:avLst/>
          </a:prstGeom>
          <a:solidFill>
            <a:srgbClr val="DEEBF7"/>
          </a:solidFill>
          <a:ln/>
        </p:spPr>
        <p:txBody>
          <a:bodyPr/>
          <a:lstStyle/>
          <a:p>
            <a:endParaRPr lang="zh-TW" altLang="en-US"/>
          </a:p>
        </p:txBody>
      </p:sp>
      <p:sp>
        <p:nvSpPr>
          <p:cNvPr id="20" name="Text 17"/>
          <p:cNvSpPr/>
          <p:nvPr/>
        </p:nvSpPr>
        <p:spPr>
          <a:xfrm>
            <a:off x="777240" y="4069080"/>
            <a:ext cx="7589520" cy="640080"/>
          </a:xfrm>
          <a:prstGeom prst="rect">
            <a:avLst/>
          </a:prstGeom>
          <a:noFill/>
          <a:ln/>
        </p:spPr>
        <p:txBody>
          <a:bodyPr wrap="square" lIns="0" tIns="0" rIns="0" bIns="0" rtlCol="0" anchor="ctr"/>
          <a:lstStyle/>
          <a:p>
            <a:pPr marL="0" indent="0">
              <a:buNone/>
            </a:pPr>
            <a:r>
              <a:rPr lang="en-US" sz="1300" b="1" dirty="0">
                <a:solidFill>
                  <a:srgbClr val="1F4E79"/>
                </a:solidFill>
                <a:latin typeface="Microsoft JhengHei" pitchFamily="34" charset="0"/>
                <a:ea typeface="Microsoft JhengHei" pitchFamily="34" charset="-122"/>
                <a:cs typeface="Microsoft JhengHei" pitchFamily="34" charset="-120"/>
              </a:rPr>
              <a:t>SP 演得標準，評分才會標準——劇本寫得越具體，SP 訓練成本越低</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641080" y="4828032"/>
            <a:ext cx="365760" cy="274320"/>
          </a:xfrm>
          <a:prstGeom prst="rect">
            <a:avLst/>
          </a:prstGeom>
          <a:noFill/>
          <a:ln/>
        </p:spPr>
        <p:txBody>
          <a:bodyPr wrap="square" lIns="0" tIns="0" rIns="0" bIns="0" rtlCol="0" anchor="ctr"/>
          <a:lstStyle/>
          <a:p>
            <a:pPr marL="0" indent="0" algn="r">
              <a:buNone/>
            </a:pPr>
            <a:r>
              <a:rPr lang="en-US" sz="1000" dirty="0">
                <a:solidFill>
                  <a:srgbClr val="5B6B7F"/>
                </a:solidFill>
                <a:latin typeface="Microsoft JhengHei" pitchFamily="34" charset="0"/>
                <a:ea typeface="Microsoft JhengHei" pitchFamily="34" charset="-122"/>
                <a:cs typeface="Microsoft JhengHei" pitchFamily="34" charset="-120"/>
              </a:rPr>
              <a:t>19</a:t>
            </a:r>
            <a:endParaRPr lang="en-US" sz="1000" dirty="0"/>
          </a:p>
        </p:txBody>
      </p:sp>
      <p:sp>
        <p:nvSpPr>
          <p:cNvPr id="3" name="Text 1"/>
          <p:cNvSpPr/>
          <p:nvPr/>
        </p:nvSpPr>
        <p:spPr>
          <a:xfrm>
            <a:off x="502920" y="201168"/>
            <a:ext cx="8046720" cy="274320"/>
          </a:xfrm>
          <a:prstGeom prst="rect">
            <a:avLst/>
          </a:prstGeom>
          <a:noFill/>
          <a:ln/>
        </p:spPr>
        <p:txBody>
          <a:bodyPr wrap="square" lIns="0" tIns="0" rIns="0" bIns="0" rtlCol="0" anchor="ctr"/>
          <a:lstStyle/>
          <a:p>
            <a:pPr marL="0" indent="0">
              <a:buNone/>
            </a:pPr>
            <a:r>
              <a:rPr lang="en-US" sz="1200" b="1" kern="0" spc="200" dirty="0">
                <a:solidFill>
                  <a:srgbClr val="2E75B6"/>
                </a:solidFill>
                <a:latin typeface="Microsoft JhengHei" pitchFamily="34" charset="0"/>
                <a:ea typeface="Microsoft JhengHei" pitchFamily="34" charset="-122"/>
                <a:cs typeface="Microsoft JhengHei" pitchFamily="34" charset="-120"/>
              </a:rPr>
              <a:t>MATERIALS</a:t>
            </a:r>
            <a:endParaRPr lang="en-US" sz="1200" dirty="0"/>
          </a:p>
        </p:txBody>
      </p:sp>
      <p:sp>
        <p:nvSpPr>
          <p:cNvPr id="4" name="Text 2"/>
          <p:cNvSpPr/>
          <p:nvPr/>
        </p:nvSpPr>
        <p:spPr>
          <a:xfrm>
            <a:off x="502920" y="457200"/>
            <a:ext cx="8138160" cy="566928"/>
          </a:xfrm>
          <a:prstGeom prst="rect">
            <a:avLst/>
          </a:prstGeom>
          <a:noFill/>
          <a:ln/>
        </p:spPr>
        <p:txBody>
          <a:bodyPr wrap="square" lIns="0" tIns="0" rIns="0" bIns="0" rtlCol="0" anchor="ctr"/>
          <a:lstStyle/>
          <a:p>
            <a:pPr marL="0" indent="0">
              <a:buNone/>
            </a:pPr>
            <a:r>
              <a:rPr lang="en-US" sz="2700" b="1" dirty="0">
                <a:solidFill>
                  <a:srgbClr val="1F4E79"/>
                </a:solidFill>
                <a:latin typeface="Microsoft JhengHei" pitchFamily="34" charset="0"/>
                <a:ea typeface="Microsoft JhengHei" pitchFamily="34" charset="-122"/>
                <a:cs typeface="Microsoft JhengHei" pitchFamily="34" charset="-120"/>
              </a:rPr>
              <a:t>道具與相關檢查報告</a:t>
            </a:r>
            <a:endParaRPr lang="en-US" sz="2700" dirty="0"/>
          </a:p>
        </p:txBody>
      </p:sp>
      <p:sp>
        <p:nvSpPr>
          <p:cNvPr id="5" name="Shape 3"/>
          <p:cNvSpPr/>
          <p:nvPr/>
        </p:nvSpPr>
        <p:spPr>
          <a:xfrm>
            <a:off x="502920" y="1188720"/>
            <a:ext cx="2606040" cy="1463040"/>
          </a:xfrm>
          <a:prstGeom prst="rect">
            <a:avLst/>
          </a:prstGeom>
          <a:solidFill>
            <a:srgbClr val="DEEBF7"/>
          </a:solidFill>
          <a:ln/>
        </p:spPr>
        <p:txBody>
          <a:bodyPr/>
          <a:lstStyle/>
          <a:p>
            <a:endParaRPr lang="zh-TW" altLang="en-US"/>
          </a:p>
        </p:txBody>
      </p:sp>
      <p:sp>
        <p:nvSpPr>
          <p:cNvPr id="6" name="Shape 4"/>
          <p:cNvSpPr/>
          <p:nvPr/>
        </p:nvSpPr>
        <p:spPr>
          <a:xfrm>
            <a:off x="502920" y="1188720"/>
            <a:ext cx="64008" cy="1463040"/>
          </a:xfrm>
          <a:prstGeom prst="rect">
            <a:avLst/>
          </a:prstGeom>
          <a:solidFill>
            <a:srgbClr val="2E75B6"/>
          </a:solidFill>
          <a:ln/>
        </p:spPr>
        <p:txBody>
          <a:bodyPr/>
          <a:lstStyle/>
          <a:p>
            <a:endParaRPr lang="zh-TW" altLang="en-US"/>
          </a:p>
        </p:txBody>
      </p:sp>
      <p:sp>
        <p:nvSpPr>
          <p:cNvPr id="7" name="Text 5"/>
          <p:cNvSpPr/>
          <p:nvPr/>
        </p:nvSpPr>
        <p:spPr>
          <a:xfrm>
            <a:off x="502920" y="1325880"/>
            <a:ext cx="2606040" cy="640080"/>
          </a:xfrm>
          <a:prstGeom prst="rect">
            <a:avLst/>
          </a:prstGeom>
          <a:noFill/>
          <a:ln/>
        </p:spPr>
        <p:txBody>
          <a:bodyPr wrap="square" lIns="0" tIns="0" rIns="0" bIns="0" rtlCol="0" anchor="ctr"/>
          <a:lstStyle/>
          <a:p>
            <a:pPr marL="0" indent="0" algn="ctr">
              <a:buNone/>
            </a:pPr>
            <a:r>
              <a:rPr lang="en-US" sz="2600" b="1" dirty="0">
                <a:solidFill>
                  <a:srgbClr val="2E75B6"/>
                </a:solidFill>
                <a:latin typeface="Microsoft JhengHei" pitchFamily="34" charset="0"/>
                <a:ea typeface="Microsoft JhengHei" pitchFamily="34" charset="-122"/>
                <a:cs typeface="Microsoft JhengHei" pitchFamily="34" charset="-120"/>
              </a:rPr>
              <a:t>≤3 張</a:t>
            </a:r>
            <a:endParaRPr lang="en-US" sz="2600" dirty="0"/>
          </a:p>
        </p:txBody>
      </p:sp>
      <p:sp>
        <p:nvSpPr>
          <p:cNvPr id="8" name="Text 6"/>
          <p:cNvSpPr/>
          <p:nvPr/>
        </p:nvSpPr>
        <p:spPr>
          <a:xfrm>
            <a:off x="640080" y="1965960"/>
            <a:ext cx="2331720" cy="594360"/>
          </a:xfrm>
          <a:prstGeom prst="rect">
            <a:avLst/>
          </a:prstGeom>
          <a:noFill/>
          <a:ln/>
        </p:spPr>
        <p:txBody>
          <a:bodyPr wrap="square" lIns="0" tIns="0" rIns="0" bIns="0" rtlCol="0" anchor="ctr"/>
          <a:lstStyle/>
          <a:p>
            <a:pPr marL="0" indent="0" algn="ctr">
              <a:buNone/>
            </a:pPr>
            <a:r>
              <a:rPr lang="en-US" sz="1150" dirty="0">
                <a:solidFill>
                  <a:srgbClr val="1F2937"/>
                </a:solidFill>
                <a:latin typeface="Microsoft JhengHei" pitchFamily="34" charset="0"/>
                <a:ea typeface="Microsoft JhengHei" pitchFamily="34" charset="-122"/>
                <a:cs typeface="Microsoft JhengHei" pitchFamily="34" charset="-120"/>
              </a:rPr>
              <a:t>提示卡上限</a:t>
            </a:r>
            <a:endParaRPr lang="en-US" sz="1150" dirty="0"/>
          </a:p>
        </p:txBody>
      </p:sp>
      <p:sp>
        <p:nvSpPr>
          <p:cNvPr id="9" name="Shape 7"/>
          <p:cNvSpPr/>
          <p:nvPr/>
        </p:nvSpPr>
        <p:spPr>
          <a:xfrm>
            <a:off x="3310128" y="1188720"/>
            <a:ext cx="2606040" cy="1463040"/>
          </a:xfrm>
          <a:prstGeom prst="rect">
            <a:avLst/>
          </a:prstGeom>
          <a:solidFill>
            <a:srgbClr val="DEEBF7"/>
          </a:solidFill>
          <a:ln/>
        </p:spPr>
        <p:txBody>
          <a:bodyPr/>
          <a:lstStyle/>
          <a:p>
            <a:endParaRPr lang="zh-TW" altLang="en-US"/>
          </a:p>
        </p:txBody>
      </p:sp>
      <p:sp>
        <p:nvSpPr>
          <p:cNvPr id="10" name="Shape 8"/>
          <p:cNvSpPr/>
          <p:nvPr/>
        </p:nvSpPr>
        <p:spPr>
          <a:xfrm>
            <a:off x="3310128" y="1188720"/>
            <a:ext cx="64008" cy="1463040"/>
          </a:xfrm>
          <a:prstGeom prst="rect">
            <a:avLst/>
          </a:prstGeom>
          <a:solidFill>
            <a:srgbClr val="2E75B6"/>
          </a:solidFill>
          <a:ln/>
        </p:spPr>
        <p:txBody>
          <a:bodyPr/>
          <a:lstStyle/>
          <a:p>
            <a:endParaRPr lang="zh-TW" altLang="en-US"/>
          </a:p>
        </p:txBody>
      </p:sp>
      <p:sp>
        <p:nvSpPr>
          <p:cNvPr id="11" name="Text 9"/>
          <p:cNvSpPr/>
          <p:nvPr/>
        </p:nvSpPr>
        <p:spPr>
          <a:xfrm>
            <a:off x="3310128" y="1325880"/>
            <a:ext cx="2606040" cy="640080"/>
          </a:xfrm>
          <a:prstGeom prst="rect">
            <a:avLst/>
          </a:prstGeom>
          <a:noFill/>
          <a:ln/>
        </p:spPr>
        <p:txBody>
          <a:bodyPr wrap="square" lIns="0" tIns="0" rIns="0" bIns="0" rtlCol="0" anchor="ctr"/>
          <a:lstStyle/>
          <a:p>
            <a:pPr marL="0" indent="0" algn="ctr">
              <a:buNone/>
            </a:pPr>
            <a:r>
              <a:rPr lang="en-US" sz="2600" b="1" dirty="0">
                <a:solidFill>
                  <a:srgbClr val="2E75B6"/>
                </a:solidFill>
                <a:latin typeface="Microsoft JhengHei" pitchFamily="34" charset="0"/>
                <a:ea typeface="Microsoft JhengHei" pitchFamily="34" charset="-122"/>
                <a:cs typeface="Microsoft JhengHei" pitchFamily="34" charset="-120"/>
              </a:rPr>
              <a:t>≤3 頁</a:t>
            </a:r>
            <a:endParaRPr lang="en-US" sz="2600" dirty="0"/>
          </a:p>
        </p:txBody>
      </p:sp>
      <p:sp>
        <p:nvSpPr>
          <p:cNvPr id="12" name="Text 10"/>
          <p:cNvSpPr/>
          <p:nvPr/>
        </p:nvSpPr>
        <p:spPr>
          <a:xfrm>
            <a:off x="3447288" y="1965960"/>
            <a:ext cx="2331720" cy="594360"/>
          </a:xfrm>
          <a:prstGeom prst="rect">
            <a:avLst/>
          </a:prstGeom>
          <a:noFill/>
          <a:ln/>
        </p:spPr>
        <p:txBody>
          <a:bodyPr wrap="square" lIns="0" tIns="0" rIns="0" bIns="0" rtlCol="0" anchor="ctr"/>
          <a:lstStyle/>
          <a:p>
            <a:pPr marL="0" indent="0" algn="ctr">
              <a:buNone/>
            </a:pPr>
            <a:r>
              <a:rPr lang="en-US" sz="1150" dirty="0">
                <a:solidFill>
                  <a:srgbClr val="1F2937"/>
                </a:solidFill>
                <a:latin typeface="Microsoft JhengHei" pitchFamily="34" charset="0"/>
                <a:ea typeface="Microsoft JhengHei" pitchFamily="34" charset="-122"/>
                <a:cs typeface="Microsoft JhengHei" pitchFamily="34" charset="-120"/>
              </a:rPr>
              <a:t>檢查報告 A4 頁數（純文字 ≤2 頁）</a:t>
            </a:r>
            <a:endParaRPr lang="en-US" sz="1150" dirty="0"/>
          </a:p>
        </p:txBody>
      </p:sp>
      <p:sp>
        <p:nvSpPr>
          <p:cNvPr id="13" name="Shape 11"/>
          <p:cNvSpPr/>
          <p:nvPr/>
        </p:nvSpPr>
        <p:spPr>
          <a:xfrm>
            <a:off x="6117336" y="1188720"/>
            <a:ext cx="2606040" cy="1463040"/>
          </a:xfrm>
          <a:prstGeom prst="rect">
            <a:avLst/>
          </a:prstGeom>
          <a:solidFill>
            <a:srgbClr val="DEEBF7"/>
          </a:solidFill>
          <a:ln/>
        </p:spPr>
        <p:txBody>
          <a:bodyPr/>
          <a:lstStyle/>
          <a:p>
            <a:endParaRPr lang="zh-TW" altLang="en-US"/>
          </a:p>
        </p:txBody>
      </p:sp>
      <p:sp>
        <p:nvSpPr>
          <p:cNvPr id="14" name="Shape 12"/>
          <p:cNvSpPr/>
          <p:nvPr/>
        </p:nvSpPr>
        <p:spPr>
          <a:xfrm>
            <a:off x="6117336" y="1188720"/>
            <a:ext cx="64008" cy="1463040"/>
          </a:xfrm>
          <a:prstGeom prst="rect">
            <a:avLst/>
          </a:prstGeom>
          <a:solidFill>
            <a:srgbClr val="2E75B6"/>
          </a:solidFill>
          <a:ln/>
        </p:spPr>
        <p:txBody>
          <a:bodyPr/>
          <a:lstStyle/>
          <a:p>
            <a:endParaRPr lang="zh-TW" altLang="en-US"/>
          </a:p>
        </p:txBody>
      </p:sp>
      <p:sp>
        <p:nvSpPr>
          <p:cNvPr id="15" name="Text 13"/>
          <p:cNvSpPr/>
          <p:nvPr/>
        </p:nvSpPr>
        <p:spPr>
          <a:xfrm>
            <a:off x="6117336" y="1325880"/>
            <a:ext cx="2606040" cy="640080"/>
          </a:xfrm>
          <a:prstGeom prst="rect">
            <a:avLst/>
          </a:prstGeom>
          <a:noFill/>
          <a:ln/>
        </p:spPr>
        <p:txBody>
          <a:bodyPr wrap="square" lIns="0" tIns="0" rIns="0" bIns="0" rtlCol="0" anchor="ctr"/>
          <a:lstStyle/>
          <a:p>
            <a:pPr marL="0" indent="0" algn="ctr">
              <a:buNone/>
            </a:pPr>
            <a:r>
              <a:rPr lang="en-US" sz="2600" b="1" dirty="0">
                <a:solidFill>
                  <a:srgbClr val="2E75B6"/>
                </a:solidFill>
                <a:latin typeface="Microsoft JhengHei" pitchFamily="34" charset="0"/>
                <a:ea typeface="Microsoft JhengHei" pitchFamily="34" charset="-122"/>
                <a:cs typeface="Microsoft JhengHei" pitchFamily="34" charset="-120"/>
              </a:rPr>
              <a:t>陽性＋陰性</a:t>
            </a:r>
            <a:endParaRPr lang="en-US" sz="2600" dirty="0"/>
          </a:p>
        </p:txBody>
      </p:sp>
      <p:sp>
        <p:nvSpPr>
          <p:cNvPr id="16" name="Text 14"/>
          <p:cNvSpPr/>
          <p:nvPr/>
        </p:nvSpPr>
        <p:spPr>
          <a:xfrm>
            <a:off x="6254496" y="1965960"/>
            <a:ext cx="2331720" cy="594360"/>
          </a:xfrm>
          <a:prstGeom prst="rect">
            <a:avLst/>
          </a:prstGeom>
          <a:noFill/>
          <a:ln/>
        </p:spPr>
        <p:txBody>
          <a:bodyPr wrap="square" lIns="0" tIns="0" rIns="0" bIns="0" rtlCol="0" anchor="ctr"/>
          <a:lstStyle/>
          <a:p>
            <a:pPr marL="0" indent="0" algn="ctr">
              <a:buNone/>
            </a:pPr>
            <a:r>
              <a:rPr lang="en-US" sz="1150" dirty="0">
                <a:solidFill>
                  <a:srgbClr val="1F2937"/>
                </a:solidFill>
                <a:latin typeface="Microsoft JhengHei" pitchFamily="34" charset="0"/>
                <a:ea typeface="Microsoft JhengHei" pitchFamily="34" charset="-122"/>
                <a:cs typeface="Microsoft JhengHei" pitchFamily="34" charset="-120"/>
              </a:rPr>
              <a:t>都要有意義；別塞大量無關正常值</a:t>
            </a:r>
            <a:endParaRPr lang="en-US" sz="1150" dirty="0"/>
          </a:p>
        </p:txBody>
      </p:sp>
      <p:sp>
        <p:nvSpPr>
          <p:cNvPr id="17" name="Text 15"/>
          <p:cNvSpPr/>
          <p:nvPr/>
        </p:nvSpPr>
        <p:spPr>
          <a:xfrm>
            <a:off x="548640" y="2971800"/>
            <a:ext cx="8092440" cy="1828800"/>
          </a:xfrm>
          <a:prstGeom prst="rect">
            <a:avLst/>
          </a:prstGeom>
          <a:noFill/>
          <a:ln/>
        </p:spPr>
        <p:txBody>
          <a:bodyPr wrap="square" lIns="0" tIns="0" rIns="0" bIns="0" rtlCol="0" anchor="ctr"/>
          <a:lstStyle/>
          <a:p>
            <a:pPr marL="342900" indent="-342900">
              <a:spcAft>
                <a:spcPts val="900"/>
              </a:spcAft>
              <a:buSzPct val="100000"/>
              <a:buChar char="•"/>
            </a:pPr>
            <a:r>
              <a:rPr lang="en-US" sz="1350" dirty="0">
                <a:solidFill>
                  <a:srgbClr val="1F2937"/>
                </a:solidFill>
                <a:latin typeface="Microsoft JhengHei" pitchFamily="34" charset="0"/>
                <a:ea typeface="Microsoft JhengHei" pitchFamily="34" charset="-122"/>
                <a:cs typeface="Microsoft JhengHei" pitchFamily="34" charset="-120"/>
              </a:rPr>
              <a:t>難以模擬的徵象（紅疹、黃疸、黑便、傷口）改用圖片／照片</a:t>
            </a:r>
            <a:endParaRPr lang="en-US" sz="1350" dirty="0"/>
          </a:p>
          <a:p>
            <a:pPr marL="342900" indent="-342900">
              <a:spcAft>
                <a:spcPts val="900"/>
              </a:spcAft>
              <a:buSzPct val="100000"/>
              <a:buChar char="•"/>
            </a:pPr>
            <a:r>
              <a:rPr lang="en-US" sz="1350" dirty="0">
                <a:solidFill>
                  <a:srgbClr val="1F2937"/>
                </a:solidFill>
                <a:latin typeface="Microsoft JhengHei" pitchFamily="34" charset="0"/>
                <a:ea typeface="Microsoft JhengHei" pitchFamily="34" charset="-122"/>
                <a:cs typeface="Microsoft JhengHei" pitchFamily="34" charset="-120"/>
              </a:rPr>
              <a:t>報告表格放進考生指引：欄1 生命徵象、欄2 主要症狀摘要</a:t>
            </a:r>
            <a:endParaRPr lang="en-US" sz="1350" dirty="0"/>
          </a:p>
          <a:p>
            <a:pPr marL="342900" indent="-342900">
              <a:spcAft>
                <a:spcPts val="900"/>
              </a:spcAft>
              <a:buSzPct val="100000"/>
              <a:buChar char="•"/>
            </a:pPr>
            <a:r>
              <a:rPr lang="en-US" sz="1350" dirty="0">
                <a:solidFill>
                  <a:srgbClr val="1F2937"/>
                </a:solidFill>
                <a:latin typeface="Microsoft JhengHei" pitchFamily="34" charset="0"/>
                <a:ea typeface="Microsoft JhengHei" pitchFamily="34" charset="-122"/>
                <a:cs typeface="Microsoft JhengHei" pitchFamily="34" charset="-120"/>
              </a:rPr>
              <a:t>「過去病史／藥物史」標示『須由考生自行詢問』——別把答案印在桌上</a:t>
            </a:r>
            <a:endParaRPr lang="en-US" sz="1350" dirty="0"/>
          </a:p>
          <a:p>
            <a:pPr marL="342900" indent="-342900">
              <a:spcAft>
                <a:spcPts val="900"/>
              </a:spcAft>
              <a:buSzPct val="100000"/>
              <a:buChar char="•"/>
            </a:pPr>
            <a:r>
              <a:rPr lang="en-US" sz="1350" dirty="0">
                <a:solidFill>
                  <a:srgbClr val="1F2937"/>
                </a:solidFill>
                <a:latin typeface="Microsoft JhengHei" pitchFamily="34" charset="0"/>
                <a:ea typeface="Microsoft JhengHei" pitchFamily="34" charset="-122"/>
                <a:cs typeface="Microsoft JhengHei" pitchFamily="34" charset="-120"/>
              </a:rPr>
              <a:t>資料夠完成任務即可；過度暴露會縮窄臨床推理空間</a:t>
            </a:r>
            <a:endParaRPr lang="en-US"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641080" y="4828032"/>
            <a:ext cx="365760" cy="274320"/>
          </a:xfrm>
          <a:prstGeom prst="rect">
            <a:avLst/>
          </a:prstGeom>
          <a:noFill/>
          <a:ln/>
        </p:spPr>
        <p:txBody>
          <a:bodyPr wrap="square" lIns="0" tIns="0" rIns="0" bIns="0" rtlCol="0" anchor="ctr"/>
          <a:lstStyle/>
          <a:p>
            <a:pPr marL="0" indent="0" algn="r">
              <a:buNone/>
            </a:pPr>
            <a:r>
              <a:rPr lang="en-US" sz="1000" dirty="0">
                <a:solidFill>
                  <a:srgbClr val="5B6B7F"/>
                </a:solidFill>
                <a:latin typeface="Microsoft JhengHei" pitchFamily="34" charset="0"/>
                <a:ea typeface="Microsoft JhengHei" pitchFamily="34" charset="-122"/>
                <a:cs typeface="Microsoft JhengHei" pitchFamily="34" charset="-120"/>
              </a:rPr>
              <a:t>20</a:t>
            </a:r>
            <a:endParaRPr lang="en-US" sz="1000" dirty="0"/>
          </a:p>
        </p:txBody>
      </p:sp>
      <p:sp>
        <p:nvSpPr>
          <p:cNvPr id="3" name="Text 1"/>
          <p:cNvSpPr/>
          <p:nvPr/>
        </p:nvSpPr>
        <p:spPr>
          <a:xfrm>
            <a:off x="502920" y="201168"/>
            <a:ext cx="8046720" cy="274320"/>
          </a:xfrm>
          <a:prstGeom prst="rect">
            <a:avLst/>
          </a:prstGeom>
          <a:noFill/>
          <a:ln/>
        </p:spPr>
        <p:txBody>
          <a:bodyPr wrap="square" lIns="0" tIns="0" rIns="0" bIns="0" rtlCol="0" anchor="ctr"/>
          <a:lstStyle/>
          <a:p>
            <a:pPr marL="0" indent="0">
              <a:buNone/>
            </a:pPr>
            <a:r>
              <a:rPr lang="en-US" sz="1200" b="1" kern="0" spc="200" dirty="0">
                <a:solidFill>
                  <a:srgbClr val="2E75B6"/>
                </a:solidFill>
                <a:latin typeface="Microsoft JhengHei" pitchFamily="34" charset="0"/>
                <a:ea typeface="Microsoft JhengHei" pitchFamily="34" charset="-122"/>
                <a:cs typeface="Microsoft JhengHei" pitchFamily="34" charset="-120"/>
              </a:rPr>
              <a:t>QUALITY GATE</a:t>
            </a:r>
            <a:endParaRPr lang="en-US" sz="1200" dirty="0"/>
          </a:p>
        </p:txBody>
      </p:sp>
      <p:sp>
        <p:nvSpPr>
          <p:cNvPr id="4" name="Text 2"/>
          <p:cNvSpPr/>
          <p:nvPr/>
        </p:nvSpPr>
        <p:spPr>
          <a:xfrm>
            <a:off x="502920" y="457200"/>
            <a:ext cx="8138160" cy="566928"/>
          </a:xfrm>
          <a:prstGeom prst="rect">
            <a:avLst/>
          </a:prstGeom>
          <a:noFill/>
          <a:ln/>
        </p:spPr>
        <p:txBody>
          <a:bodyPr wrap="square" lIns="0" tIns="0" rIns="0" bIns="0" rtlCol="0" anchor="ctr"/>
          <a:lstStyle/>
          <a:p>
            <a:pPr marL="0" indent="0">
              <a:buNone/>
            </a:pPr>
            <a:r>
              <a:rPr lang="en-US" sz="2700" b="1" dirty="0">
                <a:solidFill>
                  <a:srgbClr val="1F4E79"/>
                </a:solidFill>
                <a:latin typeface="Microsoft JhengHei" pitchFamily="34" charset="0"/>
                <a:ea typeface="Microsoft JhengHei" pitchFamily="34" charset="-122"/>
                <a:cs typeface="Microsoft JhengHei" pitchFamily="34" charset="-120"/>
              </a:rPr>
              <a:t>送出前的品質檢核閘</a:t>
            </a:r>
            <a:endParaRPr lang="en-US" sz="2700" dirty="0"/>
          </a:p>
        </p:txBody>
      </p:sp>
      <p:sp>
        <p:nvSpPr>
          <p:cNvPr id="5" name="Shape 3"/>
          <p:cNvSpPr/>
          <p:nvPr/>
        </p:nvSpPr>
        <p:spPr>
          <a:xfrm>
            <a:off x="502920" y="1170432"/>
            <a:ext cx="4023360" cy="1600200"/>
          </a:xfrm>
          <a:prstGeom prst="rect">
            <a:avLst/>
          </a:prstGeom>
          <a:solidFill>
            <a:srgbClr val="DEEBF7"/>
          </a:solidFill>
          <a:ln/>
        </p:spPr>
        <p:txBody>
          <a:bodyPr/>
          <a:lstStyle/>
          <a:p>
            <a:endParaRPr lang="zh-TW" altLang="en-US"/>
          </a:p>
        </p:txBody>
      </p:sp>
      <p:sp>
        <p:nvSpPr>
          <p:cNvPr id="6" name="Shape 4"/>
          <p:cNvSpPr/>
          <p:nvPr/>
        </p:nvSpPr>
        <p:spPr>
          <a:xfrm>
            <a:off x="502920" y="1170432"/>
            <a:ext cx="64008" cy="1600200"/>
          </a:xfrm>
          <a:prstGeom prst="rect">
            <a:avLst/>
          </a:prstGeom>
          <a:solidFill>
            <a:srgbClr val="2E75B6"/>
          </a:solidFill>
          <a:ln/>
        </p:spPr>
        <p:txBody>
          <a:bodyPr/>
          <a:lstStyle/>
          <a:p>
            <a:endParaRPr lang="zh-TW" altLang="en-US"/>
          </a:p>
        </p:txBody>
      </p:sp>
      <p:sp>
        <p:nvSpPr>
          <p:cNvPr id="7" name="Text 5"/>
          <p:cNvSpPr/>
          <p:nvPr/>
        </p:nvSpPr>
        <p:spPr>
          <a:xfrm>
            <a:off x="704088" y="1261872"/>
            <a:ext cx="3657600" cy="292608"/>
          </a:xfrm>
          <a:prstGeom prst="rect">
            <a:avLst/>
          </a:prstGeom>
          <a:noFill/>
          <a:ln/>
        </p:spPr>
        <p:txBody>
          <a:bodyPr wrap="square" lIns="0" tIns="0" rIns="0" bIns="0" rtlCol="0" anchor="ctr"/>
          <a:lstStyle/>
          <a:p>
            <a:pPr marL="0" indent="0">
              <a:buNone/>
            </a:pPr>
            <a:r>
              <a:rPr lang="en-US" sz="1400" b="1" dirty="0">
                <a:solidFill>
                  <a:srgbClr val="1F4E79"/>
                </a:solidFill>
                <a:latin typeface="Microsoft JhengHei" pitchFamily="34" charset="0"/>
                <a:ea typeface="Microsoft JhengHei" pitchFamily="34" charset="-122"/>
                <a:cs typeface="Microsoft JhengHei" pitchFamily="34" charset="-120"/>
              </a:rPr>
              <a:t>站次層級</a:t>
            </a:r>
            <a:endParaRPr lang="en-US" sz="1400" dirty="0"/>
          </a:p>
        </p:txBody>
      </p:sp>
      <p:sp>
        <p:nvSpPr>
          <p:cNvPr id="8" name="Text 6"/>
          <p:cNvSpPr/>
          <p:nvPr/>
        </p:nvSpPr>
        <p:spPr>
          <a:xfrm>
            <a:off x="704088" y="1609344"/>
            <a:ext cx="3657600" cy="1097280"/>
          </a:xfrm>
          <a:prstGeom prst="rect">
            <a:avLst/>
          </a:prstGeom>
          <a:noFill/>
          <a:ln/>
        </p:spPr>
        <p:txBody>
          <a:bodyPr wrap="square" lIns="0" tIns="0" rIns="0" bIns="0" rtlCol="0" anchor="ctr"/>
          <a:lstStyle/>
          <a:p>
            <a:pPr marL="342900" indent="-342900">
              <a:spcAft>
                <a:spcPts val="400"/>
              </a:spcAft>
              <a:buSzPct val="100000"/>
              <a:buChar char="✓"/>
            </a:pPr>
            <a:r>
              <a:rPr lang="en-US" sz="1150" dirty="0">
                <a:solidFill>
                  <a:srgbClr val="1F2937"/>
                </a:solidFill>
                <a:latin typeface="Microsoft JhengHei" pitchFamily="34" charset="0"/>
                <a:ea typeface="Microsoft JhengHei" pitchFamily="34" charset="-122"/>
                <a:cs typeface="Microsoft JhengHei" pitchFamily="34" charset="-120"/>
              </a:rPr>
              <a:t>任務 8 分鐘內可完成？</a:t>
            </a:r>
            <a:endParaRPr lang="en-US" sz="1150" dirty="0"/>
          </a:p>
          <a:p>
            <a:pPr marL="342900" indent="-342900">
              <a:spcAft>
                <a:spcPts val="400"/>
              </a:spcAft>
              <a:buSzPct val="100000"/>
              <a:buChar char="✓"/>
            </a:pPr>
            <a:r>
              <a:rPr lang="en-US" sz="1150" dirty="0">
                <a:solidFill>
                  <a:srgbClr val="1F2937"/>
                </a:solidFill>
                <a:latin typeface="Microsoft JhengHei" pitchFamily="34" charset="0"/>
                <a:ea typeface="Microsoft JhengHei" pitchFamily="34" charset="-122"/>
                <a:cs typeface="Microsoft JhengHei" pitchFamily="34" charset="-120"/>
              </a:rPr>
              <a:t>符合學員程度與目標能力？</a:t>
            </a:r>
            <a:endParaRPr lang="en-US" sz="1150" dirty="0"/>
          </a:p>
          <a:p>
            <a:pPr marL="342900" indent="-342900">
              <a:spcAft>
                <a:spcPts val="400"/>
              </a:spcAft>
              <a:buSzPct val="100000"/>
              <a:buChar char="✓"/>
            </a:pPr>
            <a:r>
              <a:rPr lang="en-US" sz="1150" dirty="0">
                <a:solidFill>
                  <a:srgbClr val="1F2937"/>
                </a:solidFill>
                <a:latin typeface="Microsoft JhengHei" pitchFamily="34" charset="0"/>
                <a:ea typeface="Microsoft JhengHei" pitchFamily="34" charset="-122"/>
                <a:cs typeface="Microsoft JhengHei" pitchFamily="34" charset="-120"/>
              </a:rPr>
              <a:t>站型乾淨、未混合？</a:t>
            </a:r>
            <a:endParaRPr lang="en-US" sz="1150" dirty="0"/>
          </a:p>
        </p:txBody>
      </p:sp>
      <p:sp>
        <p:nvSpPr>
          <p:cNvPr id="9" name="Shape 7"/>
          <p:cNvSpPr/>
          <p:nvPr/>
        </p:nvSpPr>
        <p:spPr>
          <a:xfrm>
            <a:off x="4709160" y="1170432"/>
            <a:ext cx="4023360" cy="1600200"/>
          </a:xfrm>
          <a:prstGeom prst="rect">
            <a:avLst/>
          </a:prstGeom>
          <a:solidFill>
            <a:srgbClr val="DEEBF7"/>
          </a:solidFill>
          <a:ln/>
        </p:spPr>
        <p:txBody>
          <a:bodyPr/>
          <a:lstStyle/>
          <a:p>
            <a:endParaRPr lang="zh-TW" altLang="en-US"/>
          </a:p>
        </p:txBody>
      </p:sp>
      <p:sp>
        <p:nvSpPr>
          <p:cNvPr id="10" name="Shape 8"/>
          <p:cNvSpPr/>
          <p:nvPr/>
        </p:nvSpPr>
        <p:spPr>
          <a:xfrm>
            <a:off x="4709160" y="1170432"/>
            <a:ext cx="64008" cy="1600200"/>
          </a:xfrm>
          <a:prstGeom prst="rect">
            <a:avLst/>
          </a:prstGeom>
          <a:solidFill>
            <a:srgbClr val="2E75B6"/>
          </a:solidFill>
          <a:ln/>
        </p:spPr>
        <p:txBody>
          <a:bodyPr/>
          <a:lstStyle/>
          <a:p>
            <a:endParaRPr lang="zh-TW" altLang="en-US"/>
          </a:p>
        </p:txBody>
      </p:sp>
      <p:sp>
        <p:nvSpPr>
          <p:cNvPr id="11" name="Text 9"/>
          <p:cNvSpPr/>
          <p:nvPr/>
        </p:nvSpPr>
        <p:spPr>
          <a:xfrm>
            <a:off x="4910328" y="1261872"/>
            <a:ext cx="3657600" cy="292608"/>
          </a:xfrm>
          <a:prstGeom prst="rect">
            <a:avLst/>
          </a:prstGeom>
          <a:noFill/>
          <a:ln/>
        </p:spPr>
        <p:txBody>
          <a:bodyPr wrap="square" lIns="0" tIns="0" rIns="0" bIns="0" rtlCol="0" anchor="ctr"/>
          <a:lstStyle/>
          <a:p>
            <a:pPr marL="0" indent="0">
              <a:buNone/>
            </a:pPr>
            <a:r>
              <a:rPr lang="en-US" sz="1400" b="1" dirty="0">
                <a:solidFill>
                  <a:srgbClr val="1F4E79"/>
                </a:solidFill>
                <a:latin typeface="Microsoft JhengHei" pitchFamily="34" charset="0"/>
                <a:ea typeface="Microsoft JhengHei" pitchFamily="34" charset="-122"/>
                <a:cs typeface="Microsoft JhengHei" pitchFamily="34" charset="-120"/>
              </a:rPr>
              <a:t>評分層級</a:t>
            </a:r>
            <a:endParaRPr lang="en-US" sz="1400" dirty="0"/>
          </a:p>
        </p:txBody>
      </p:sp>
      <p:sp>
        <p:nvSpPr>
          <p:cNvPr id="12" name="Text 10"/>
          <p:cNvSpPr/>
          <p:nvPr/>
        </p:nvSpPr>
        <p:spPr>
          <a:xfrm>
            <a:off x="4910328" y="1609344"/>
            <a:ext cx="3657600" cy="1097280"/>
          </a:xfrm>
          <a:prstGeom prst="rect">
            <a:avLst/>
          </a:prstGeom>
          <a:noFill/>
          <a:ln/>
        </p:spPr>
        <p:txBody>
          <a:bodyPr wrap="square" lIns="0" tIns="0" rIns="0" bIns="0" rtlCol="0" anchor="ctr"/>
          <a:lstStyle/>
          <a:p>
            <a:pPr marL="342900" indent="-342900">
              <a:spcAft>
                <a:spcPts val="400"/>
              </a:spcAft>
              <a:buSzPct val="100000"/>
              <a:buChar char="✓"/>
            </a:pPr>
            <a:r>
              <a:rPr lang="en-US" sz="1150" dirty="0">
                <a:solidFill>
                  <a:srgbClr val="1F2937"/>
                </a:solidFill>
                <a:latin typeface="Microsoft JhengHei" pitchFamily="34" charset="0"/>
                <a:ea typeface="Microsoft JhengHei" pitchFamily="34" charset="-122"/>
                <a:cs typeface="Microsoft JhengHei" pitchFamily="34" charset="-120"/>
              </a:rPr>
              <a:t>全部都是可觀察行為？</a:t>
            </a:r>
            <a:endParaRPr lang="en-US" sz="1150" dirty="0"/>
          </a:p>
          <a:p>
            <a:pPr marL="342900" indent="-342900">
              <a:spcAft>
                <a:spcPts val="400"/>
              </a:spcAft>
              <a:buSzPct val="100000"/>
              <a:buChar char="✓"/>
            </a:pPr>
            <a:r>
              <a:rPr lang="en-US" sz="1150" dirty="0">
                <a:solidFill>
                  <a:srgbClr val="1F2937"/>
                </a:solidFill>
                <a:latin typeface="Microsoft JhengHei" pitchFamily="34" charset="0"/>
                <a:ea typeface="Microsoft JhengHei" pitchFamily="34" charset="-122"/>
                <a:cs typeface="Microsoft JhengHei" pitchFamily="34" charset="-120"/>
              </a:rPr>
              <a:t>15 項？★2–5 項？子項目 ≤3？</a:t>
            </a:r>
            <a:endParaRPr lang="en-US" sz="1150" dirty="0"/>
          </a:p>
          <a:p>
            <a:pPr marL="342900" indent="-342900">
              <a:spcAft>
                <a:spcPts val="400"/>
              </a:spcAft>
              <a:buSzPct val="100000"/>
              <a:buChar char="✓"/>
            </a:pPr>
            <a:r>
              <a:rPr lang="en-US" sz="1150" dirty="0">
                <a:solidFill>
                  <a:srgbClr val="1F2937"/>
                </a:solidFill>
                <a:latin typeface="Microsoft JhengHei" pitchFamily="34" charset="0"/>
                <a:ea typeface="Microsoft JhengHei" pitchFamily="34" charset="-122"/>
                <a:cs typeface="Microsoft JhengHei" pitchFamily="34" charset="-120"/>
              </a:rPr>
              <a:t>共通 ≤1？主要範圍 ≥50%？</a:t>
            </a:r>
            <a:endParaRPr lang="en-US" sz="1150" dirty="0"/>
          </a:p>
        </p:txBody>
      </p:sp>
      <p:sp>
        <p:nvSpPr>
          <p:cNvPr id="13" name="Shape 11"/>
          <p:cNvSpPr/>
          <p:nvPr/>
        </p:nvSpPr>
        <p:spPr>
          <a:xfrm>
            <a:off x="502920" y="2935224"/>
            <a:ext cx="4023360" cy="1600200"/>
          </a:xfrm>
          <a:prstGeom prst="rect">
            <a:avLst/>
          </a:prstGeom>
          <a:solidFill>
            <a:srgbClr val="DEEBF7"/>
          </a:solidFill>
          <a:ln/>
        </p:spPr>
        <p:txBody>
          <a:bodyPr/>
          <a:lstStyle/>
          <a:p>
            <a:endParaRPr lang="zh-TW" altLang="en-US"/>
          </a:p>
        </p:txBody>
      </p:sp>
      <p:sp>
        <p:nvSpPr>
          <p:cNvPr id="14" name="Shape 12"/>
          <p:cNvSpPr/>
          <p:nvPr/>
        </p:nvSpPr>
        <p:spPr>
          <a:xfrm>
            <a:off x="502920" y="2935224"/>
            <a:ext cx="64008" cy="1600200"/>
          </a:xfrm>
          <a:prstGeom prst="rect">
            <a:avLst/>
          </a:prstGeom>
          <a:solidFill>
            <a:srgbClr val="2E75B6"/>
          </a:solidFill>
          <a:ln/>
        </p:spPr>
        <p:txBody>
          <a:bodyPr/>
          <a:lstStyle/>
          <a:p>
            <a:endParaRPr lang="zh-TW" altLang="en-US"/>
          </a:p>
        </p:txBody>
      </p:sp>
      <p:sp>
        <p:nvSpPr>
          <p:cNvPr id="15" name="Text 13"/>
          <p:cNvSpPr/>
          <p:nvPr/>
        </p:nvSpPr>
        <p:spPr>
          <a:xfrm>
            <a:off x="704088" y="3026664"/>
            <a:ext cx="3657600" cy="292608"/>
          </a:xfrm>
          <a:prstGeom prst="rect">
            <a:avLst/>
          </a:prstGeom>
          <a:noFill/>
          <a:ln/>
        </p:spPr>
        <p:txBody>
          <a:bodyPr wrap="square" lIns="0" tIns="0" rIns="0" bIns="0" rtlCol="0" anchor="ctr"/>
          <a:lstStyle/>
          <a:p>
            <a:pPr marL="0" indent="0">
              <a:buNone/>
            </a:pPr>
            <a:r>
              <a:rPr lang="en-US" sz="1400" b="1" dirty="0">
                <a:solidFill>
                  <a:srgbClr val="1F4E79"/>
                </a:solidFill>
                <a:latin typeface="Microsoft JhengHei" pitchFamily="34" charset="0"/>
                <a:ea typeface="Microsoft JhengHei" pitchFamily="34" charset="-122"/>
                <a:cs typeface="Microsoft JhengHei" pitchFamily="34" charset="-120"/>
              </a:rPr>
              <a:t>SP 層級</a:t>
            </a:r>
            <a:endParaRPr lang="en-US" sz="1400" dirty="0"/>
          </a:p>
        </p:txBody>
      </p:sp>
      <p:sp>
        <p:nvSpPr>
          <p:cNvPr id="16" name="Text 14"/>
          <p:cNvSpPr/>
          <p:nvPr/>
        </p:nvSpPr>
        <p:spPr>
          <a:xfrm>
            <a:off x="704088" y="3374136"/>
            <a:ext cx="3657600" cy="1097280"/>
          </a:xfrm>
          <a:prstGeom prst="rect">
            <a:avLst/>
          </a:prstGeom>
          <a:noFill/>
          <a:ln/>
        </p:spPr>
        <p:txBody>
          <a:bodyPr wrap="square" lIns="0" tIns="0" rIns="0" bIns="0" rtlCol="0" anchor="ctr"/>
          <a:lstStyle/>
          <a:p>
            <a:pPr marL="342900" indent="-342900">
              <a:spcAft>
                <a:spcPts val="400"/>
              </a:spcAft>
              <a:buSzPct val="100000"/>
              <a:buChar char="✓"/>
            </a:pPr>
            <a:r>
              <a:rPr lang="en-US" sz="1150" dirty="0">
                <a:solidFill>
                  <a:srgbClr val="1F2937"/>
                </a:solidFill>
                <a:latin typeface="Microsoft JhengHei" pitchFamily="34" charset="0"/>
                <a:ea typeface="Microsoft JhengHei" pitchFamily="34" charset="-122"/>
                <a:cs typeface="Microsoft JhengHei" pitchFamily="34" charset="-120"/>
              </a:rPr>
              <a:t>主動提問 ≤5？</a:t>
            </a:r>
            <a:endParaRPr lang="en-US" sz="1150" dirty="0"/>
          </a:p>
          <a:p>
            <a:pPr marL="342900" indent="-342900">
              <a:spcAft>
                <a:spcPts val="400"/>
              </a:spcAft>
              <a:buSzPct val="100000"/>
              <a:buChar char="✓"/>
            </a:pPr>
            <a:r>
              <a:rPr lang="en-US" sz="1150" dirty="0">
                <a:solidFill>
                  <a:srgbClr val="1F2937"/>
                </a:solidFill>
                <a:latin typeface="Microsoft JhengHei" pitchFamily="34" charset="0"/>
                <a:ea typeface="Microsoft JhengHei" pitchFamily="34" charset="-122"/>
                <a:cs typeface="Microsoft JhengHei" pitchFamily="34" charset="-120"/>
              </a:rPr>
              <a:t>觸發條件明確？</a:t>
            </a:r>
            <a:endParaRPr lang="en-US" sz="1150" dirty="0"/>
          </a:p>
          <a:p>
            <a:pPr marL="342900" indent="-342900">
              <a:spcAft>
                <a:spcPts val="400"/>
              </a:spcAft>
              <a:buSzPct val="100000"/>
              <a:buChar char="✓"/>
            </a:pPr>
            <a:r>
              <a:rPr lang="en-US" sz="1150" dirty="0">
                <a:solidFill>
                  <a:srgbClr val="1F2937"/>
                </a:solidFill>
                <a:latin typeface="Microsoft JhengHei" pitchFamily="34" charset="0"/>
                <a:ea typeface="Microsoft JhengHei" pitchFamily="34" charset="-122"/>
                <a:cs typeface="Microsoft JhengHei" pitchFamily="34" charset="-120"/>
              </a:rPr>
              <a:t>每個 SP 項目有對應回應？</a:t>
            </a:r>
            <a:endParaRPr lang="en-US" sz="1150" dirty="0"/>
          </a:p>
        </p:txBody>
      </p:sp>
      <p:sp>
        <p:nvSpPr>
          <p:cNvPr id="17" name="Shape 15"/>
          <p:cNvSpPr/>
          <p:nvPr/>
        </p:nvSpPr>
        <p:spPr>
          <a:xfrm>
            <a:off x="4709160" y="2935224"/>
            <a:ext cx="4023360" cy="1600200"/>
          </a:xfrm>
          <a:prstGeom prst="rect">
            <a:avLst/>
          </a:prstGeom>
          <a:solidFill>
            <a:srgbClr val="DEEBF7"/>
          </a:solidFill>
          <a:ln/>
        </p:spPr>
        <p:txBody>
          <a:bodyPr/>
          <a:lstStyle/>
          <a:p>
            <a:endParaRPr lang="zh-TW" altLang="en-US"/>
          </a:p>
        </p:txBody>
      </p:sp>
      <p:sp>
        <p:nvSpPr>
          <p:cNvPr id="18" name="Shape 16"/>
          <p:cNvSpPr/>
          <p:nvPr/>
        </p:nvSpPr>
        <p:spPr>
          <a:xfrm>
            <a:off x="4709160" y="2935224"/>
            <a:ext cx="64008" cy="1600200"/>
          </a:xfrm>
          <a:prstGeom prst="rect">
            <a:avLst/>
          </a:prstGeom>
          <a:solidFill>
            <a:srgbClr val="2E75B6"/>
          </a:solidFill>
          <a:ln/>
        </p:spPr>
        <p:txBody>
          <a:bodyPr/>
          <a:lstStyle/>
          <a:p>
            <a:endParaRPr lang="zh-TW" altLang="en-US"/>
          </a:p>
        </p:txBody>
      </p:sp>
      <p:sp>
        <p:nvSpPr>
          <p:cNvPr id="19" name="Text 17"/>
          <p:cNvSpPr/>
          <p:nvPr/>
        </p:nvSpPr>
        <p:spPr>
          <a:xfrm>
            <a:off x="4910328" y="3026664"/>
            <a:ext cx="3657600" cy="292608"/>
          </a:xfrm>
          <a:prstGeom prst="rect">
            <a:avLst/>
          </a:prstGeom>
          <a:noFill/>
          <a:ln/>
        </p:spPr>
        <p:txBody>
          <a:bodyPr wrap="square" lIns="0" tIns="0" rIns="0" bIns="0" rtlCol="0" anchor="ctr"/>
          <a:lstStyle/>
          <a:p>
            <a:pPr marL="0" indent="0">
              <a:buNone/>
            </a:pPr>
            <a:r>
              <a:rPr lang="en-US" sz="1400" b="1" dirty="0">
                <a:solidFill>
                  <a:srgbClr val="1F4E79"/>
                </a:solidFill>
                <a:latin typeface="Microsoft JhengHei" pitchFamily="34" charset="0"/>
                <a:ea typeface="Microsoft JhengHei" pitchFamily="34" charset="-122"/>
                <a:cs typeface="Microsoft JhengHei" pitchFamily="34" charset="-120"/>
              </a:rPr>
              <a:t>考生指引層級</a:t>
            </a:r>
            <a:endParaRPr lang="en-US" sz="1400" dirty="0"/>
          </a:p>
        </p:txBody>
      </p:sp>
      <p:sp>
        <p:nvSpPr>
          <p:cNvPr id="20" name="Text 18"/>
          <p:cNvSpPr/>
          <p:nvPr/>
        </p:nvSpPr>
        <p:spPr>
          <a:xfrm>
            <a:off x="4910328" y="3374136"/>
            <a:ext cx="3657600" cy="1097280"/>
          </a:xfrm>
          <a:prstGeom prst="rect">
            <a:avLst/>
          </a:prstGeom>
          <a:noFill/>
          <a:ln/>
        </p:spPr>
        <p:txBody>
          <a:bodyPr wrap="square" lIns="0" tIns="0" rIns="0" bIns="0" rtlCol="0" anchor="ctr"/>
          <a:lstStyle/>
          <a:p>
            <a:pPr marL="342900" indent="-342900">
              <a:spcAft>
                <a:spcPts val="400"/>
              </a:spcAft>
              <a:buSzPct val="100000"/>
              <a:buChar char="✓"/>
            </a:pPr>
            <a:r>
              <a:rPr lang="en-US" sz="1150" dirty="0">
                <a:solidFill>
                  <a:srgbClr val="1F2937"/>
                </a:solidFill>
                <a:latin typeface="Microsoft JhengHei" pitchFamily="34" charset="0"/>
                <a:ea typeface="Microsoft JhengHei" pitchFamily="34" charset="-122"/>
                <a:cs typeface="Microsoft JhengHei" pitchFamily="34" charset="-120"/>
              </a:rPr>
              <a:t>未洩漏評分？</a:t>
            </a:r>
            <a:endParaRPr lang="en-US" sz="1150" dirty="0"/>
          </a:p>
          <a:p>
            <a:pPr marL="342900" indent="-342900">
              <a:spcAft>
                <a:spcPts val="400"/>
              </a:spcAft>
              <a:buSzPct val="100000"/>
              <a:buChar char="✓"/>
            </a:pPr>
            <a:r>
              <a:rPr lang="en-US" sz="1150" dirty="0">
                <a:solidFill>
                  <a:srgbClr val="1F2937"/>
                </a:solidFill>
                <a:latin typeface="Microsoft JhengHei" pitchFamily="34" charset="0"/>
                <a:ea typeface="Microsoft JhengHei" pitchFamily="34" charset="-122"/>
                <a:cs typeface="Microsoft JhengHei" pitchFamily="34" charset="-120"/>
              </a:rPr>
              <a:t>提示卡 ≤3、報告 ≤3 頁？</a:t>
            </a:r>
            <a:endParaRPr lang="en-US" sz="1150" dirty="0"/>
          </a:p>
          <a:p>
            <a:pPr marL="342900" indent="-342900">
              <a:spcAft>
                <a:spcPts val="400"/>
              </a:spcAft>
              <a:buSzPct val="100000"/>
              <a:buChar char="✓"/>
            </a:pPr>
            <a:r>
              <a:rPr lang="en-US" sz="1150" dirty="0">
                <a:solidFill>
                  <a:srgbClr val="1F2937"/>
                </a:solidFill>
                <a:latin typeface="Microsoft JhengHei" pitchFamily="34" charset="0"/>
                <a:ea typeface="Microsoft JhengHei" pitchFamily="34" charset="-122"/>
                <a:cs typeface="Microsoft JhengHei" pitchFamily="34" charset="-120"/>
              </a:rPr>
              <a:t>不評分領域有說明？</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641080" y="4828032"/>
            <a:ext cx="365760" cy="274320"/>
          </a:xfrm>
          <a:prstGeom prst="rect">
            <a:avLst/>
          </a:prstGeom>
          <a:noFill/>
          <a:ln/>
        </p:spPr>
        <p:txBody>
          <a:bodyPr wrap="square" lIns="0" tIns="0" rIns="0" bIns="0" rtlCol="0" anchor="ctr"/>
          <a:lstStyle/>
          <a:p>
            <a:pPr marL="0" indent="0" algn="r">
              <a:buNone/>
            </a:pPr>
            <a:r>
              <a:rPr lang="en-US" sz="1000" dirty="0">
                <a:solidFill>
                  <a:srgbClr val="5B6B7F"/>
                </a:solidFill>
                <a:latin typeface="Microsoft JhengHei" pitchFamily="34" charset="0"/>
                <a:ea typeface="Microsoft JhengHei" pitchFamily="34" charset="-122"/>
                <a:cs typeface="Microsoft JhengHei" pitchFamily="34" charset="-120"/>
              </a:rPr>
              <a:t>21</a:t>
            </a:r>
            <a:endParaRPr lang="en-US" sz="1000" dirty="0"/>
          </a:p>
        </p:txBody>
      </p:sp>
      <p:sp>
        <p:nvSpPr>
          <p:cNvPr id="3" name="Text 1"/>
          <p:cNvSpPr/>
          <p:nvPr/>
        </p:nvSpPr>
        <p:spPr>
          <a:xfrm>
            <a:off x="502920" y="201168"/>
            <a:ext cx="8046720" cy="274320"/>
          </a:xfrm>
          <a:prstGeom prst="rect">
            <a:avLst/>
          </a:prstGeom>
          <a:noFill/>
          <a:ln/>
        </p:spPr>
        <p:txBody>
          <a:bodyPr wrap="square" lIns="0" tIns="0" rIns="0" bIns="0" rtlCol="0" anchor="ctr"/>
          <a:lstStyle/>
          <a:p>
            <a:pPr marL="0" indent="0">
              <a:buNone/>
            </a:pPr>
            <a:r>
              <a:rPr lang="en-US" sz="1200" b="1" kern="0" spc="200" dirty="0">
                <a:solidFill>
                  <a:srgbClr val="2E75B6"/>
                </a:solidFill>
                <a:latin typeface="Microsoft JhengHei" pitchFamily="34" charset="0"/>
                <a:ea typeface="Microsoft JhengHei" pitchFamily="34" charset="-122"/>
                <a:cs typeface="Microsoft JhengHei" pitchFamily="34" charset="-120"/>
              </a:rPr>
              <a:t>AI CO-WRITING</a:t>
            </a:r>
            <a:endParaRPr lang="en-US" sz="1200" dirty="0"/>
          </a:p>
        </p:txBody>
      </p:sp>
      <p:sp>
        <p:nvSpPr>
          <p:cNvPr id="4" name="Text 2"/>
          <p:cNvSpPr/>
          <p:nvPr/>
        </p:nvSpPr>
        <p:spPr>
          <a:xfrm>
            <a:off x="502920" y="457200"/>
            <a:ext cx="8138160" cy="566928"/>
          </a:xfrm>
          <a:prstGeom prst="rect">
            <a:avLst/>
          </a:prstGeom>
          <a:noFill/>
          <a:ln/>
        </p:spPr>
        <p:txBody>
          <a:bodyPr wrap="square" lIns="0" tIns="0" rIns="0" bIns="0" rtlCol="0" anchor="ctr"/>
          <a:lstStyle/>
          <a:p>
            <a:pPr marL="0" indent="0">
              <a:buNone/>
            </a:pPr>
            <a:r>
              <a:rPr lang="en-US" sz="2700" b="1" dirty="0">
                <a:solidFill>
                  <a:srgbClr val="1F4E79"/>
                </a:solidFill>
                <a:latin typeface="Microsoft JhengHei" pitchFamily="34" charset="0"/>
                <a:ea typeface="Microsoft JhengHei" pitchFamily="34" charset="-122"/>
                <a:cs typeface="Microsoft JhengHei" pitchFamily="34" charset="-120"/>
              </a:rPr>
              <a:t>與 LLM 協作出題</a:t>
            </a:r>
            <a:endParaRPr lang="en-US" sz="2700" dirty="0"/>
          </a:p>
        </p:txBody>
      </p:sp>
      <p:sp>
        <p:nvSpPr>
          <p:cNvPr id="5" name="Shape 3"/>
          <p:cNvSpPr/>
          <p:nvPr/>
        </p:nvSpPr>
        <p:spPr>
          <a:xfrm>
            <a:off x="502920" y="1188720"/>
            <a:ext cx="2606040" cy="2103120"/>
          </a:xfrm>
          <a:prstGeom prst="rect">
            <a:avLst/>
          </a:prstGeom>
          <a:solidFill>
            <a:srgbClr val="DEEBF7"/>
          </a:solidFill>
          <a:ln/>
        </p:spPr>
        <p:txBody>
          <a:bodyPr/>
          <a:lstStyle/>
          <a:p>
            <a:endParaRPr lang="zh-TW" altLang="en-US"/>
          </a:p>
        </p:txBody>
      </p:sp>
      <p:sp>
        <p:nvSpPr>
          <p:cNvPr id="6" name="Shape 4"/>
          <p:cNvSpPr/>
          <p:nvPr/>
        </p:nvSpPr>
        <p:spPr>
          <a:xfrm>
            <a:off x="502920" y="1188720"/>
            <a:ext cx="64008" cy="2103120"/>
          </a:xfrm>
          <a:prstGeom prst="rect">
            <a:avLst/>
          </a:prstGeom>
          <a:solidFill>
            <a:srgbClr val="2E75B6"/>
          </a:solidFill>
          <a:ln/>
        </p:spPr>
        <p:txBody>
          <a:bodyPr/>
          <a:lstStyle/>
          <a:p>
            <a:endParaRPr lang="zh-TW" altLang="en-US"/>
          </a:p>
        </p:txBody>
      </p:sp>
      <p:sp>
        <p:nvSpPr>
          <p:cNvPr id="7" name="Shape 5"/>
          <p:cNvSpPr/>
          <p:nvPr/>
        </p:nvSpPr>
        <p:spPr>
          <a:xfrm>
            <a:off x="704088" y="1371600"/>
            <a:ext cx="457200" cy="457200"/>
          </a:xfrm>
          <a:prstGeom prst="ellipse">
            <a:avLst/>
          </a:prstGeom>
          <a:solidFill>
            <a:srgbClr val="2E75B6"/>
          </a:solidFill>
          <a:ln/>
        </p:spPr>
        <p:txBody>
          <a:bodyPr/>
          <a:lstStyle/>
          <a:p>
            <a:endParaRPr lang="zh-TW" altLang="en-US"/>
          </a:p>
        </p:txBody>
      </p:sp>
      <p:sp>
        <p:nvSpPr>
          <p:cNvPr id="8" name="Text 6"/>
          <p:cNvSpPr/>
          <p:nvPr/>
        </p:nvSpPr>
        <p:spPr>
          <a:xfrm>
            <a:off x="704088" y="1360627"/>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Microsoft JhengHei" pitchFamily="34" charset="0"/>
                <a:ea typeface="Microsoft JhengHei" pitchFamily="34" charset="-122"/>
                <a:cs typeface="Microsoft JhengHei" pitchFamily="34" charset="-120"/>
              </a:rPr>
              <a:t>1</a:t>
            </a:r>
            <a:endParaRPr lang="en-US" sz="1800" dirty="0"/>
          </a:p>
        </p:txBody>
      </p:sp>
      <p:sp>
        <p:nvSpPr>
          <p:cNvPr id="9" name="Text 7"/>
          <p:cNvSpPr/>
          <p:nvPr/>
        </p:nvSpPr>
        <p:spPr>
          <a:xfrm>
            <a:off x="704088" y="2011680"/>
            <a:ext cx="2240280" cy="1188720"/>
          </a:xfrm>
          <a:prstGeom prst="rect">
            <a:avLst/>
          </a:prstGeom>
          <a:noFill/>
          <a:ln/>
        </p:spPr>
        <p:txBody>
          <a:bodyPr wrap="square" lIns="0" tIns="0" rIns="0" bIns="0" rtlCol="0" anchor="ctr"/>
          <a:lstStyle/>
          <a:p>
            <a:pPr marL="0" indent="0">
              <a:lnSpc>
                <a:spcPct val="112000"/>
              </a:lnSpc>
              <a:buNone/>
            </a:pPr>
            <a:r>
              <a:rPr lang="en-US" sz="1500" b="1" dirty="0">
                <a:solidFill>
                  <a:srgbClr val="1F4E79"/>
                </a:solidFill>
                <a:latin typeface="Microsoft JhengHei" pitchFamily="34" charset="0"/>
                <a:ea typeface="Microsoft JhengHei" pitchFamily="34" charset="-122"/>
                <a:cs typeface="Microsoft JhengHei" pitchFamily="34" charset="-120"/>
              </a:rPr>
              <a:t>先說三件事</a:t>
            </a:r>
            <a:endParaRPr lang="en-US" sz="1500" dirty="0"/>
          </a:p>
          <a:p>
            <a:pPr marL="0" indent="0">
              <a:lnSpc>
                <a:spcPct val="112000"/>
              </a:lnSpc>
              <a:buNone/>
            </a:pPr>
            <a:endParaRPr lang="en-US" sz="1500" dirty="0"/>
          </a:p>
          <a:p>
            <a:pPr marL="0" indent="0">
              <a:lnSpc>
                <a:spcPct val="112000"/>
              </a:lnSpc>
              <a:buNone/>
            </a:pPr>
            <a:r>
              <a:rPr lang="en-US" sz="1150" dirty="0">
                <a:solidFill>
                  <a:srgbClr val="1F2937"/>
                </a:solidFill>
                <a:latin typeface="Microsoft JhengHei" pitchFamily="34" charset="0"/>
                <a:ea typeface="Microsoft JhengHei" pitchFamily="34" charset="-122"/>
                <a:cs typeface="Microsoft JhengHei" pitchFamily="34" charset="-120"/>
              </a:rPr>
              <a:t>測驗對象／評量目標／應具備能力——指令越明確，回應越精準</a:t>
            </a:r>
            <a:endParaRPr lang="en-US" sz="1500" dirty="0"/>
          </a:p>
        </p:txBody>
      </p:sp>
      <p:sp>
        <p:nvSpPr>
          <p:cNvPr id="10" name="Shape 8"/>
          <p:cNvSpPr/>
          <p:nvPr/>
        </p:nvSpPr>
        <p:spPr>
          <a:xfrm>
            <a:off x="3310128" y="1188720"/>
            <a:ext cx="2606040" cy="2103120"/>
          </a:xfrm>
          <a:prstGeom prst="rect">
            <a:avLst/>
          </a:prstGeom>
          <a:solidFill>
            <a:srgbClr val="DEEBF7"/>
          </a:solidFill>
          <a:ln/>
        </p:spPr>
        <p:txBody>
          <a:bodyPr/>
          <a:lstStyle/>
          <a:p>
            <a:endParaRPr lang="zh-TW" altLang="en-US"/>
          </a:p>
        </p:txBody>
      </p:sp>
      <p:sp>
        <p:nvSpPr>
          <p:cNvPr id="11" name="Shape 9"/>
          <p:cNvSpPr/>
          <p:nvPr/>
        </p:nvSpPr>
        <p:spPr>
          <a:xfrm>
            <a:off x="3310128" y="1188720"/>
            <a:ext cx="64008" cy="2103120"/>
          </a:xfrm>
          <a:prstGeom prst="rect">
            <a:avLst/>
          </a:prstGeom>
          <a:solidFill>
            <a:srgbClr val="2E75B6"/>
          </a:solidFill>
          <a:ln/>
        </p:spPr>
        <p:txBody>
          <a:bodyPr/>
          <a:lstStyle/>
          <a:p>
            <a:endParaRPr lang="zh-TW" altLang="en-US"/>
          </a:p>
        </p:txBody>
      </p:sp>
      <p:sp>
        <p:nvSpPr>
          <p:cNvPr id="12" name="Shape 10"/>
          <p:cNvSpPr/>
          <p:nvPr/>
        </p:nvSpPr>
        <p:spPr>
          <a:xfrm>
            <a:off x="3511296" y="1371600"/>
            <a:ext cx="457200" cy="457200"/>
          </a:xfrm>
          <a:prstGeom prst="ellipse">
            <a:avLst/>
          </a:prstGeom>
          <a:solidFill>
            <a:srgbClr val="2E75B6"/>
          </a:solidFill>
          <a:ln/>
        </p:spPr>
        <p:txBody>
          <a:bodyPr/>
          <a:lstStyle/>
          <a:p>
            <a:endParaRPr lang="zh-TW" altLang="en-US"/>
          </a:p>
        </p:txBody>
      </p:sp>
      <p:sp>
        <p:nvSpPr>
          <p:cNvPr id="13" name="Text 11"/>
          <p:cNvSpPr/>
          <p:nvPr/>
        </p:nvSpPr>
        <p:spPr>
          <a:xfrm>
            <a:off x="3511296" y="1360627"/>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Microsoft JhengHei" pitchFamily="34" charset="0"/>
                <a:ea typeface="Microsoft JhengHei" pitchFamily="34" charset="-122"/>
                <a:cs typeface="Microsoft JhengHei" pitchFamily="34" charset="-120"/>
              </a:rPr>
              <a:t>2</a:t>
            </a:r>
            <a:endParaRPr lang="en-US" sz="1800" dirty="0"/>
          </a:p>
        </p:txBody>
      </p:sp>
      <p:sp>
        <p:nvSpPr>
          <p:cNvPr id="14" name="Text 12"/>
          <p:cNvSpPr/>
          <p:nvPr/>
        </p:nvSpPr>
        <p:spPr>
          <a:xfrm>
            <a:off x="3511296" y="2011680"/>
            <a:ext cx="2240280" cy="1188720"/>
          </a:xfrm>
          <a:prstGeom prst="rect">
            <a:avLst/>
          </a:prstGeom>
          <a:noFill/>
          <a:ln/>
        </p:spPr>
        <p:txBody>
          <a:bodyPr wrap="square" lIns="0" tIns="0" rIns="0" bIns="0" rtlCol="0" anchor="ctr"/>
          <a:lstStyle/>
          <a:p>
            <a:pPr marL="0" indent="0">
              <a:lnSpc>
                <a:spcPct val="112000"/>
              </a:lnSpc>
              <a:buNone/>
            </a:pPr>
            <a:r>
              <a:rPr lang="en-US" sz="1500" b="1" dirty="0">
                <a:solidFill>
                  <a:srgbClr val="1F4E79"/>
                </a:solidFill>
                <a:latin typeface="Microsoft JhengHei" pitchFamily="34" charset="0"/>
                <a:ea typeface="Microsoft JhengHei" pitchFamily="34" charset="-122"/>
                <a:cs typeface="Microsoft JhengHei" pitchFamily="34" charset="-120"/>
              </a:rPr>
              <a:t>分段產出</a:t>
            </a:r>
            <a:endParaRPr lang="en-US" sz="1500" dirty="0"/>
          </a:p>
          <a:p>
            <a:pPr marL="0" indent="0">
              <a:lnSpc>
                <a:spcPct val="112000"/>
              </a:lnSpc>
              <a:buNone/>
            </a:pPr>
            <a:endParaRPr lang="en-US" sz="1500" dirty="0"/>
          </a:p>
          <a:p>
            <a:pPr marL="0" indent="0">
              <a:lnSpc>
                <a:spcPct val="112000"/>
              </a:lnSpc>
              <a:buNone/>
            </a:pPr>
            <a:r>
              <a:rPr lang="en-US" sz="1150" dirty="0">
                <a:solidFill>
                  <a:srgbClr val="1F2937"/>
                </a:solidFill>
                <a:latin typeface="Microsoft JhengHei" pitchFamily="34" charset="0"/>
                <a:ea typeface="Microsoft JhengHei" pitchFamily="34" charset="-122"/>
                <a:cs typeface="Microsoft JhengHei" pitchFamily="34" charset="-120"/>
              </a:rPr>
              <a:t>藍圖→考生指引→評分表→SP 劇本；反覆溝通、逐步修訂</a:t>
            </a:r>
            <a:endParaRPr lang="en-US" sz="1500" dirty="0"/>
          </a:p>
        </p:txBody>
      </p:sp>
      <p:sp>
        <p:nvSpPr>
          <p:cNvPr id="15" name="Shape 13"/>
          <p:cNvSpPr/>
          <p:nvPr/>
        </p:nvSpPr>
        <p:spPr>
          <a:xfrm>
            <a:off x="6117336" y="1188720"/>
            <a:ext cx="2606040" cy="2103120"/>
          </a:xfrm>
          <a:prstGeom prst="rect">
            <a:avLst/>
          </a:prstGeom>
          <a:solidFill>
            <a:srgbClr val="DEEBF7"/>
          </a:solidFill>
          <a:ln/>
        </p:spPr>
        <p:txBody>
          <a:bodyPr/>
          <a:lstStyle/>
          <a:p>
            <a:endParaRPr lang="zh-TW" altLang="en-US"/>
          </a:p>
        </p:txBody>
      </p:sp>
      <p:sp>
        <p:nvSpPr>
          <p:cNvPr id="16" name="Shape 14"/>
          <p:cNvSpPr/>
          <p:nvPr/>
        </p:nvSpPr>
        <p:spPr>
          <a:xfrm>
            <a:off x="6117336" y="1188720"/>
            <a:ext cx="64008" cy="2103120"/>
          </a:xfrm>
          <a:prstGeom prst="rect">
            <a:avLst/>
          </a:prstGeom>
          <a:solidFill>
            <a:srgbClr val="2E75B6"/>
          </a:solidFill>
          <a:ln/>
        </p:spPr>
        <p:txBody>
          <a:bodyPr/>
          <a:lstStyle/>
          <a:p>
            <a:endParaRPr lang="zh-TW" altLang="en-US"/>
          </a:p>
        </p:txBody>
      </p:sp>
      <p:sp>
        <p:nvSpPr>
          <p:cNvPr id="17" name="Shape 15"/>
          <p:cNvSpPr/>
          <p:nvPr/>
        </p:nvSpPr>
        <p:spPr>
          <a:xfrm>
            <a:off x="6318504" y="1371600"/>
            <a:ext cx="457200" cy="457200"/>
          </a:xfrm>
          <a:prstGeom prst="ellipse">
            <a:avLst/>
          </a:prstGeom>
          <a:solidFill>
            <a:srgbClr val="2E75B6"/>
          </a:solidFill>
          <a:ln/>
        </p:spPr>
        <p:txBody>
          <a:bodyPr/>
          <a:lstStyle/>
          <a:p>
            <a:endParaRPr lang="zh-TW" altLang="en-US"/>
          </a:p>
        </p:txBody>
      </p:sp>
      <p:sp>
        <p:nvSpPr>
          <p:cNvPr id="18" name="Text 16"/>
          <p:cNvSpPr/>
          <p:nvPr/>
        </p:nvSpPr>
        <p:spPr>
          <a:xfrm>
            <a:off x="6318504" y="1360627"/>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Microsoft JhengHei" pitchFamily="34" charset="0"/>
                <a:ea typeface="Microsoft JhengHei" pitchFamily="34" charset="-122"/>
                <a:cs typeface="Microsoft JhengHei" pitchFamily="34" charset="-120"/>
              </a:rPr>
              <a:t>3</a:t>
            </a:r>
            <a:endParaRPr lang="en-US" sz="1800" dirty="0"/>
          </a:p>
        </p:txBody>
      </p:sp>
      <p:sp>
        <p:nvSpPr>
          <p:cNvPr id="19" name="Text 17"/>
          <p:cNvSpPr/>
          <p:nvPr/>
        </p:nvSpPr>
        <p:spPr>
          <a:xfrm>
            <a:off x="6318504" y="2011680"/>
            <a:ext cx="2240280" cy="1188720"/>
          </a:xfrm>
          <a:prstGeom prst="rect">
            <a:avLst/>
          </a:prstGeom>
          <a:noFill/>
          <a:ln/>
        </p:spPr>
        <p:txBody>
          <a:bodyPr wrap="square" lIns="0" tIns="0" rIns="0" bIns="0" rtlCol="0" anchor="ctr"/>
          <a:lstStyle/>
          <a:p>
            <a:pPr marL="0" indent="0">
              <a:lnSpc>
                <a:spcPct val="112000"/>
              </a:lnSpc>
              <a:buNone/>
            </a:pPr>
            <a:r>
              <a:rPr lang="en-US" sz="1500" b="1" dirty="0">
                <a:solidFill>
                  <a:srgbClr val="1F4E79"/>
                </a:solidFill>
                <a:latin typeface="Microsoft JhengHei" pitchFamily="34" charset="0"/>
                <a:ea typeface="Microsoft JhengHei" pitchFamily="34" charset="-122"/>
                <a:cs typeface="Microsoft JhengHei" pitchFamily="34" charset="-120"/>
              </a:rPr>
              <a:t>人負責 20%</a:t>
            </a:r>
            <a:endParaRPr lang="en-US" sz="1500" dirty="0"/>
          </a:p>
          <a:p>
            <a:pPr marL="0" indent="0">
              <a:lnSpc>
                <a:spcPct val="112000"/>
              </a:lnSpc>
              <a:buNone/>
            </a:pPr>
            <a:endParaRPr lang="en-US" sz="1500" dirty="0"/>
          </a:p>
          <a:p>
            <a:pPr marL="0" indent="0">
              <a:lnSpc>
                <a:spcPct val="112000"/>
              </a:lnSpc>
              <a:buNone/>
            </a:pPr>
            <a:r>
              <a:rPr lang="en-US" sz="1150" dirty="0">
                <a:solidFill>
                  <a:srgbClr val="1F2937"/>
                </a:solidFill>
                <a:latin typeface="Microsoft JhengHei" pitchFamily="34" charset="0"/>
                <a:ea typeface="Microsoft JhengHei" pitchFamily="34" charset="-122"/>
                <a:cs typeface="Microsoft JhengHei" pitchFamily="34" charset="-120"/>
              </a:rPr>
              <a:t>確認臨床正確性、修細項、定稿——幻覺(hallucination)由你把關</a:t>
            </a:r>
            <a:endParaRPr lang="en-US" sz="1500" dirty="0"/>
          </a:p>
        </p:txBody>
      </p:sp>
      <p:sp>
        <p:nvSpPr>
          <p:cNvPr id="20" name="Shape 18"/>
          <p:cNvSpPr/>
          <p:nvPr/>
        </p:nvSpPr>
        <p:spPr>
          <a:xfrm>
            <a:off x="502920" y="3611880"/>
            <a:ext cx="8138160" cy="1051560"/>
          </a:xfrm>
          <a:prstGeom prst="rect">
            <a:avLst/>
          </a:prstGeom>
          <a:solidFill>
            <a:srgbClr val="1F4E79"/>
          </a:solidFill>
          <a:ln/>
        </p:spPr>
        <p:txBody>
          <a:bodyPr/>
          <a:lstStyle/>
          <a:p>
            <a:endParaRPr lang="zh-TW" altLang="en-US"/>
          </a:p>
        </p:txBody>
      </p:sp>
      <p:sp>
        <p:nvSpPr>
          <p:cNvPr id="21" name="Text 19"/>
          <p:cNvSpPr/>
          <p:nvPr/>
        </p:nvSpPr>
        <p:spPr>
          <a:xfrm>
            <a:off x="777240" y="3611880"/>
            <a:ext cx="7589520" cy="1051560"/>
          </a:xfrm>
          <a:prstGeom prst="rect">
            <a:avLst/>
          </a:prstGeom>
          <a:noFill/>
          <a:ln/>
        </p:spPr>
        <p:txBody>
          <a:bodyPr wrap="square" lIns="0" tIns="0" rIns="0" bIns="0" rtlCol="0" anchor="ctr"/>
          <a:lstStyle/>
          <a:p>
            <a:pPr marL="0" indent="0">
              <a:lnSpc>
                <a:spcPct val="120000"/>
              </a:lnSpc>
              <a:buNone/>
            </a:pPr>
            <a:r>
              <a:rPr lang="en-US" sz="1500" b="1" dirty="0">
                <a:solidFill>
                  <a:srgbClr val="FFFFFF"/>
                </a:solidFill>
                <a:latin typeface="Microsoft JhengHei" pitchFamily="34" charset="0"/>
                <a:ea typeface="Microsoft JhengHei" pitchFamily="34" charset="-122"/>
                <a:cs typeface="Microsoft JhengHei" pitchFamily="34" charset="-120"/>
              </a:rPr>
              <a:t>AI 只能完成 80% 的事，剩下 20% 需要人。</a:t>
            </a:r>
            <a:endParaRPr lang="en-US" sz="1500" dirty="0"/>
          </a:p>
          <a:p>
            <a:pPr marL="0" indent="0">
              <a:lnSpc>
                <a:spcPct val="120000"/>
              </a:lnSpc>
              <a:buNone/>
            </a:pPr>
            <a:r>
              <a:rPr lang="en-US" sz="1250" dirty="0">
                <a:solidFill>
                  <a:srgbClr val="BDD7EE"/>
                </a:solidFill>
                <a:latin typeface="Microsoft JhengHei" pitchFamily="34" charset="0"/>
                <a:ea typeface="Microsoft JhengHei" pitchFamily="34" charset="-122"/>
                <a:cs typeface="Microsoft JhengHei" pitchFamily="34" charset="-120"/>
              </a:rPr>
              <a:t>你的臨床經驗，是最好的題材——LLM 是助手，不是出題者</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641080" y="4828032"/>
            <a:ext cx="365760" cy="274320"/>
          </a:xfrm>
          <a:prstGeom prst="rect">
            <a:avLst/>
          </a:prstGeom>
          <a:noFill/>
          <a:ln/>
        </p:spPr>
        <p:txBody>
          <a:bodyPr wrap="square" lIns="0" tIns="0" rIns="0" bIns="0" rtlCol="0" anchor="ctr"/>
          <a:lstStyle/>
          <a:p>
            <a:pPr marL="0" indent="0" algn="r">
              <a:buNone/>
            </a:pPr>
            <a:r>
              <a:rPr lang="en-US" sz="1000" dirty="0">
                <a:solidFill>
                  <a:srgbClr val="5B6B7F"/>
                </a:solidFill>
                <a:latin typeface="Microsoft JhengHei" pitchFamily="34" charset="0"/>
                <a:ea typeface="Microsoft JhengHei" pitchFamily="34" charset="-122"/>
                <a:cs typeface="Microsoft JhengHei" pitchFamily="34" charset="-120"/>
              </a:rPr>
              <a:t>22</a:t>
            </a:r>
            <a:endParaRPr lang="en-US" sz="1000" dirty="0"/>
          </a:p>
        </p:txBody>
      </p:sp>
      <p:sp>
        <p:nvSpPr>
          <p:cNvPr id="3" name="Text 1"/>
          <p:cNvSpPr/>
          <p:nvPr/>
        </p:nvSpPr>
        <p:spPr>
          <a:xfrm>
            <a:off x="502920" y="201168"/>
            <a:ext cx="8046720" cy="274320"/>
          </a:xfrm>
          <a:prstGeom prst="rect">
            <a:avLst/>
          </a:prstGeom>
          <a:noFill/>
          <a:ln/>
        </p:spPr>
        <p:txBody>
          <a:bodyPr wrap="square" lIns="0" tIns="0" rIns="0" bIns="0" rtlCol="0" anchor="ctr"/>
          <a:lstStyle/>
          <a:p>
            <a:pPr marL="0" indent="0">
              <a:buNone/>
            </a:pPr>
            <a:r>
              <a:rPr lang="en-US" sz="1200" b="1" kern="0" spc="200" dirty="0">
                <a:solidFill>
                  <a:srgbClr val="2E75B6"/>
                </a:solidFill>
                <a:latin typeface="Microsoft JhengHei" pitchFamily="34" charset="0"/>
                <a:ea typeface="Microsoft JhengHei" pitchFamily="34" charset="-122"/>
                <a:cs typeface="Microsoft JhengHei" pitchFamily="34" charset="-120"/>
              </a:rPr>
              <a:t>EVOLUTION｜OpenAI · Google · Anthropic · Meta</a:t>
            </a:r>
            <a:endParaRPr lang="en-US" sz="1200" dirty="0"/>
          </a:p>
        </p:txBody>
      </p:sp>
      <p:sp>
        <p:nvSpPr>
          <p:cNvPr id="4" name="Text 2"/>
          <p:cNvSpPr/>
          <p:nvPr/>
        </p:nvSpPr>
        <p:spPr>
          <a:xfrm>
            <a:off x="502920" y="457200"/>
            <a:ext cx="8138160" cy="566928"/>
          </a:xfrm>
          <a:prstGeom prst="rect">
            <a:avLst/>
          </a:prstGeom>
          <a:noFill/>
          <a:ln/>
        </p:spPr>
        <p:txBody>
          <a:bodyPr wrap="square" lIns="0" tIns="0" rIns="0" bIns="0" rtlCol="0" anchor="ctr"/>
          <a:lstStyle/>
          <a:p>
            <a:pPr marL="0" indent="0">
              <a:buNone/>
            </a:pPr>
            <a:r>
              <a:rPr lang="en-US" sz="2700" b="1" dirty="0">
                <a:solidFill>
                  <a:srgbClr val="1F4E79"/>
                </a:solidFill>
                <a:latin typeface="Microsoft JhengHei" pitchFamily="34" charset="0"/>
                <a:ea typeface="Microsoft JhengHei" pitchFamily="34" charset="-122"/>
                <a:cs typeface="Microsoft JhengHei" pitchFamily="34" charset="-120"/>
              </a:rPr>
              <a:t>從 LLM 到 AI Agent：美國模型的演進史</a:t>
            </a:r>
            <a:endParaRPr lang="en-US" sz="2700" dirty="0"/>
          </a:p>
        </p:txBody>
      </p:sp>
      <p:sp>
        <p:nvSpPr>
          <p:cNvPr id="5" name="Shape 3"/>
          <p:cNvSpPr/>
          <p:nvPr/>
        </p:nvSpPr>
        <p:spPr>
          <a:xfrm>
            <a:off x="502920" y="1078992"/>
            <a:ext cx="8138160" cy="676656"/>
          </a:xfrm>
          <a:prstGeom prst="rect">
            <a:avLst/>
          </a:prstGeom>
          <a:solidFill>
            <a:srgbClr val="DEEBF7"/>
          </a:solidFill>
          <a:ln/>
        </p:spPr>
        <p:txBody>
          <a:bodyPr/>
          <a:lstStyle/>
          <a:p>
            <a:endParaRPr lang="zh-TW" altLang="en-US"/>
          </a:p>
        </p:txBody>
      </p:sp>
      <p:sp>
        <p:nvSpPr>
          <p:cNvPr id="6" name="Shape 4"/>
          <p:cNvSpPr/>
          <p:nvPr/>
        </p:nvSpPr>
        <p:spPr>
          <a:xfrm>
            <a:off x="502920" y="1078992"/>
            <a:ext cx="64008" cy="676656"/>
          </a:xfrm>
          <a:prstGeom prst="rect">
            <a:avLst/>
          </a:prstGeom>
          <a:solidFill>
            <a:srgbClr val="2E75B6"/>
          </a:solidFill>
          <a:ln/>
        </p:spPr>
        <p:txBody>
          <a:bodyPr/>
          <a:lstStyle/>
          <a:p>
            <a:endParaRPr lang="zh-TW" altLang="en-US"/>
          </a:p>
        </p:txBody>
      </p:sp>
      <p:sp>
        <p:nvSpPr>
          <p:cNvPr id="7" name="Shape 5"/>
          <p:cNvSpPr/>
          <p:nvPr/>
        </p:nvSpPr>
        <p:spPr>
          <a:xfrm>
            <a:off x="658368" y="1234440"/>
            <a:ext cx="384048" cy="384048"/>
          </a:xfrm>
          <a:prstGeom prst="ellipse">
            <a:avLst/>
          </a:prstGeom>
          <a:solidFill>
            <a:srgbClr val="2E75B6"/>
          </a:solidFill>
          <a:ln/>
        </p:spPr>
        <p:txBody>
          <a:bodyPr/>
          <a:lstStyle/>
          <a:p>
            <a:endParaRPr lang="zh-TW" altLang="en-US"/>
          </a:p>
        </p:txBody>
      </p:sp>
      <p:sp>
        <p:nvSpPr>
          <p:cNvPr id="8" name="Text 6"/>
          <p:cNvSpPr/>
          <p:nvPr/>
        </p:nvSpPr>
        <p:spPr>
          <a:xfrm>
            <a:off x="658368" y="1223467"/>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Microsoft JhengHei" pitchFamily="34" charset="0"/>
                <a:ea typeface="Microsoft JhengHei" pitchFamily="34" charset="-122"/>
                <a:cs typeface="Microsoft JhengHei" pitchFamily="34" charset="-120"/>
              </a:rPr>
              <a:t>1</a:t>
            </a:r>
            <a:endParaRPr lang="en-US" sz="1500" dirty="0"/>
          </a:p>
        </p:txBody>
      </p:sp>
      <p:sp>
        <p:nvSpPr>
          <p:cNvPr id="9" name="Text 7"/>
          <p:cNvSpPr/>
          <p:nvPr/>
        </p:nvSpPr>
        <p:spPr>
          <a:xfrm>
            <a:off x="1170432" y="1115568"/>
            <a:ext cx="2103120" cy="603504"/>
          </a:xfrm>
          <a:prstGeom prst="rect">
            <a:avLst/>
          </a:prstGeom>
          <a:noFill/>
          <a:ln/>
        </p:spPr>
        <p:txBody>
          <a:bodyPr wrap="square" lIns="0" tIns="0" rIns="0" bIns="0" rtlCol="0" anchor="ctr"/>
          <a:lstStyle/>
          <a:p>
            <a:pPr marL="0" indent="0">
              <a:lnSpc>
                <a:spcPct val="100000"/>
              </a:lnSpc>
              <a:buNone/>
            </a:pPr>
            <a:r>
              <a:rPr lang="en-US" sz="1100" b="1" dirty="0">
                <a:solidFill>
                  <a:srgbClr val="2E75B6"/>
                </a:solidFill>
                <a:latin typeface="Microsoft JhengHei" pitchFamily="34" charset="0"/>
                <a:ea typeface="Microsoft JhengHei" pitchFamily="34" charset="-122"/>
                <a:cs typeface="Microsoft JhengHei" pitchFamily="34" charset="-120"/>
              </a:rPr>
              <a:t>2017–2020</a:t>
            </a:r>
            <a:endParaRPr lang="en-US" sz="1100" dirty="0"/>
          </a:p>
          <a:p>
            <a:pPr marL="0" indent="0">
              <a:lnSpc>
                <a:spcPct val="100000"/>
              </a:lnSpc>
              <a:buNone/>
            </a:pPr>
            <a:r>
              <a:rPr lang="en-US" sz="1350" b="1" dirty="0">
                <a:solidFill>
                  <a:srgbClr val="1F4E79"/>
                </a:solidFill>
                <a:latin typeface="Microsoft JhengHei" pitchFamily="34" charset="0"/>
                <a:ea typeface="Microsoft JhengHei" pitchFamily="34" charset="-122"/>
                <a:cs typeface="Microsoft JhengHei" pitchFamily="34" charset="-120"/>
              </a:rPr>
              <a:t>基礎奠定期</a:t>
            </a:r>
            <a:endParaRPr lang="en-US" sz="1100" dirty="0"/>
          </a:p>
        </p:txBody>
      </p:sp>
      <p:sp>
        <p:nvSpPr>
          <p:cNvPr id="10" name="Text 8"/>
          <p:cNvSpPr/>
          <p:nvPr/>
        </p:nvSpPr>
        <p:spPr>
          <a:xfrm>
            <a:off x="3291840" y="1115568"/>
            <a:ext cx="5257800" cy="603504"/>
          </a:xfrm>
          <a:prstGeom prst="rect">
            <a:avLst/>
          </a:prstGeom>
          <a:noFill/>
          <a:ln/>
        </p:spPr>
        <p:txBody>
          <a:bodyPr wrap="square" lIns="0" tIns="0" rIns="0" bIns="0" rtlCol="0" anchor="ctr"/>
          <a:lstStyle/>
          <a:p>
            <a:pPr marL="0" indent="0">
              <a:lnSpc>
                <a:spcPct val="105000"/>
              </a:lnSpc>
              <a:buNone/>
            </a:pPr>
            <a:r>
              <a:rPr lang="en-US" sz="1200" dirty="0">
                <a:solidFill>
                  <a:srgbClr val="1F2937"/>
                </a:solidFill>
                <a:latin typeface="Microsoft JhengHei" pitchFamily="34" charset="0"/>
                <a:ea typeface="Microsoft JhengHei" pitchFamily="34" charset="-122"/>
                <a:cs typeface="Microsoft JhengHei" pitchFamily="34" charset="-120"/>
              </a:rPr>
              <a:t>Transformer（2017）→ BERT、GPT-1／2 → GPT-3（175B，2020）</a:t>
            </a:r>
            <a:endParaRPr lang="en-US" sz="1200" dirty="0"/>
          </a:p>
          <a:p>
            <a:pPr marL="0" indent="0">
              <a:lnSpc>
                <a:spcPct val="105000"/>
              </a:lnSpc>
              <a:buNone/>
            </a:pPr>
            <a:r>
              <a:rPr lang="en-US" sz="1100" dirty="0">
                <a:solidFill>
                  <a:srgbClr val="5B6B7F"/>
                </a:solidFill>
                <a:latin typeface="Microsoft JhengHei" pitchFamily="34" charset="0"/>
                <a:ea typeface="Microsoft JhengHei" pitchFamily="34" charset="-122"/>
                <a:cs typeface="Microsoft JhengHei" pitchFamily="34" charset="-120"/>
              </a:rPr>
              <a:t>大規模預訓練＋few-shot 學習——「預測下一個字」</a:t>
            </a:r>
            <a:endParaRPr lang="en-US" sz="1200" dirty="0"/>
          </a:p>
        </p:txBody>
      </p:sp>
      <p:sp>
        <p:nvSpPr>
          <p:cNvPr id="11" name="Shape 9"/>
          <p:cNvSpPr/>
          <p:nvPr/>
        </p:nvSpPr>
        <p:spPr>
          <a:xfrm>
            <a:off x="502920" y="1837944"/>
            <a:ext cx="8138160" cy="676656"/>
          </a:xfrm>
          <a:prstGeom prst="rect">
            <a:avLst/>
          </a:prstGeom>
          <a:solidFill>
            <a:srgbClr val="DEEBF7"/>
          </a:solidFill>
          <a:ln/>
        </p:spPr>
        <p:txBody>
          <a:bodyPr/>
          <a:lstStyle/>
          <a:p>
            <a:endParaRPr lang="zh-TW" altLang="en-US"/>
          </a:p>
        </p:txBody>
      </p:sp>
      <p:sp>
        <p:nvSpPr>
          <p:cNvPr id="12" name="Shape 10"/>
          <p:cNvSpPr/>
          <p:nvPr/>
        </p:nvSpPr>
        <p:spPr>
          <a:xfrm>
            <a:off x="502920" y="1837944"/>
            <a:ext cx="64008" cy="676656"/>
          </a:xfrm>
          <a:prstGeom prst="rect">
            <a:avLst/>
          </a:prstGeom>
          <a:solidFill>
            <a:srgbClr val="2E75B6"/>
          </a:solidFill>
          <a:ln/>
        </p:spPr>
        <p:txBody>
          <a:bodyPr/>
          <a:lstStyle/>
          <a:p>
            <a:endParaRPr lang="zh-TW" altLang="en-US"/>
          </a:p>
        </p:txBody>
      </p:sp>
      <p:sp>
        <p:nvSpPr>
          <p:cNvPr id="13" name="Shape 11"/>
          <p:cNvSpPr/>
          <p:nvPr/>
        </p:nvSpPr>
        <p:spPr>
          <a:xfrm>
            <a:off x="658368" y="1993392"/>
            <a:ext cx="384048" cy="384048"/>
          </a:xfrm>
          <a:prstGeom prst="ellipse">
            <a:avLst/>
          </a:prstGeom>
          <a:solidFill>
            <a:srgbClr val="2E75B6"/>
          </a:solidFill>
          <a:ln/>
        </p:spPr>
        <p:txBody>
          <a:bodyPr/>
          <a:lstStyle/>
          <a:p>
            <a:endParaRPr lang="zh-TW" altLang="en-US"/>
          </a:p>
        </p:txBody>
      </p:sp>
      <p:sp>
        <p:nvSpPr>
          <p:cNvPr id="14" name="Text 12"/>
          <p:cNvSpPr/>
          <p:nvPr/>
        </p:nvSpPr>
        <p:spPr>
          <a:xfrm>
            <a:off x="658368" y="1982419"/>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Microsoft JhengHei" pitchFamily="34" charset="0"/>
                <a:ea typeface="Microsoft JhengHei" pitchFamily="34" charset="-122"/>
                <a:cs typeface="Microsoft JhengHei" pitchFamily="34" charset="-120"/>
              </a:rPr>
              <a:t>2</a:t>
            </a:r>
            <a:endParaRPr lang="en-US" sz="1500" dirty="0"/>
          </a:p>
        </p:txBody>
      </p:sp>
      <p:sp>
        <p:nvSpPr>
          <p:cNvPr id="15" name="Text 13"/>
          <p:cNvSpPr/>
          <p:nvPr/>
        </p:nvSpPr>
        <p:spPr>
          <a:xfrm>
            <a:off x="1170432" y="1874520"/>
            <a:ext cx="2103120" cy="603504"/>
          </a:xfrm>
          <a:prstGeom prst="rect">
            <a:avLst/>
          </a:prstGeom>
          <a:noFill/>
          <a:ln/>
        </p:spPr>
        <p:txBody>
          <a:bodyPr wrap="square" lIns="0" tIns="0" rIns="0" bIns="0" rtlCol="0" anchor="ctr"/>
          <a:lstStyle/>
          <a:p>
            <a:pPr marL="0" indent="0">
              <a:lnSpc>
                <a:spcPct val="100000"/>
              </a:lnSpc>
              <a:buNone/>
            </a:pPr>
            <a:r>
              <a:rPr lang="en-US" sz="1100" b="1" dirty="0">
                <a:solidFill>
                  <a:srgbClr val="2E75B6"/>
                </a:solidFill>
                <a:latin typeface="Microsoft JhengHei" pitchFamily="34" charset="0"/>
                <a:ea typeface="Microsoft JhengHei" pitchFamily="34" charset="-122"/>
                <a:cs typeface="Microsoft JhengHei" pitchFamily="34" charset="-120"/>
              </a:rPr>
              <a:t>2022–2023</a:t>
            </a:r>
            <a:endParaRPr lang="en-US" sz="1100" dirty="0"/>
          </a:p>
          <a:p>
            <a:pPr marL="0" indent="0">
              <a:lnSpc>
                <a:spcPct val="100000"/>
              </a:lnSpc>
              <a:buNone/>
            </a:pPr>
            <a:r>
              <a:rPr lang="en-US" sz="1350" b="1" dirty="0">
                <a:solidFill>
                  <a:srgbClr val="1F4E79"/>
                </a:solidFill>
                <a:latin typeface="Microsoft JhengHei" pitchFamily="34" charset="0"/>
                <a:ea typeface="Microsoft JhengHei" pitchFamily="34" charset="-122"/>
                <a:cs typeface="Microsoft JhengHei" pitchFamily="34" charset="-120"/>
              </a:rPr>
              <a:t>對話與對齊</a:t>
            </a:r>
            <a:endParaRPr lang="en-US" sz="1100" dirty="0"/>
          </a:p>
        </p:txBody>
      </p:sp>
      <p:sp>
        <p:nvSpPr>
          <p:cNvPr id="16" name="Text 14"/>
          <p:cNvSpPr/>
          <p:nvPr/>
        </p:nvSpPr>
        <p:spPr>
          <a:xfrm>
            <a:off x="3291840" y="1874520"/>
            <a:ext cx="5257800" cy="603504"/>
          </a:xfrm>
          <a:prstGeom prst="rect">
            <a:avLst/>
          </a:prstGeom>
          <a:noFill/>
          <a:ln/>
        </p:spPr>
        <p:txBody>
          <a:bodyPr wrap="square" lIns="0" tIns="0" rIns="0" bIns="0" rtlCol="0" anchor="ctr"/>
          <a:lstStyle/>
          <a:p>
            <a:pPr marL="0" indent="0">
              <a:lnSpc>
                <a:spcPct val="105000"/>
              </a:lnSpc>
              <a:buNone/>
            </a:pPr>
            <a:r>
              <a:rPr lang="en-US" sz="1200" dirty="0">
                <a:solidFill>
                  <a:srgbClr val="1F2937"/>
                </a:solidFill>
                <a:latin typeface="Microsoft JhengHei" pitchFamily="34" charset="0"/>
                <a:ea typeface="Microsoft JhengHei" pitchFamily="34" charset="-122"/>
                <a:cs typeface="Microsoft JhengHei" pitchFamily="34" charset="-120"/>
              </a:rPr>
              <a:t>InstructGPT／RLHF → ChatGPT（2022.11）→ GPT-4、Claude（2023）</a:t>
            </a:r>
            <a:endParaRPr lang="en-US" sz="1200" dirty="0"/>
          </a:p>
          <a:p>
            <a:pPr marL="0" indent="0">
              <a:lnSpc>
                <a:spcPct val="105000"/>
              </a:lnSpc>
              <a:buNone/>
            </a:pPr>
            <a:r>
              <a:rPr lang="en-US" sz="1100" dirty="0">
                <a:solidFill>
                  <a:srgbClr val="5B6B7F"/>
                </a:solidFill>
                <a:latin typeface="Microsoft JhengHei" pitchFamily="34" charset="0"/>
                <a:ea typeface="Microsoft JhengHei" pitchFamily="34" charset="-122"/>
                <a:cs typeface="Microsoft JhengHei" pitchFamily="34" charset="-120"/>
              </a:rPr>
              <a:t>人類回饋對齊——從補完文字到「能對話、聽得懂指令」</a:t>
            </a:r>
            <a:endParaRPr lang="en-US" sz="1200" dirty="0"/>
          </a:p>
        </p:txBody>
      </p:sp>
      <p:sp>
        <p:nvSpPr>
          <p:cNvPr id="17" name="Shape 15"/>
          <p:cNvSpPr/>
          <p:nvPr/>
        </p:nvSpPr>
        <p:spPr>
          <a:xfrm>
            <a:off x="502920" y="2596896"/>
            <a:ext cx="8138160" cy="676656"/>
          </a:xfrm>
          <a:prstGeom prst="rect">
            <a:avLst/>
          </a:prstGeom>
          <a:solidFill>
            <a:srgbClr val="DEEBF7"/>
          </a:solidFill>
          <a:ln/>
        </p:spPr>
        <p:txBody>
          <a:bodyPr/>
          <a:lstStyle/>
          <a:p>
            <a:endParaRPr lang="zh-TW" altLang="en-US"/>
          </a:p>
        </p:txBody>
      </p:sp>
      <p:sp>
        <p:nvSpPr>
          <p:cNvPr id="18" name="Shape 16"/>
          <p:cNvSpPr/>
          <p:nvPr/>
        </p:nvSpPr>
        <p:spPr>
          <a:xfrm>
            <a:off x="502920" y="2596896"/>
            <a:ext cx="64008" cy="676656"/>
          </a:xfrm>
          <a:prstGeom prst="rect">
            <a:avLst/>
          </a:prstGeom>
          <a:solidFill>
            <a:srgbClr val="2E75B6"/>
          </a:solidFill>
          <a:ln/>
        </p:spPr>
        <p:txBody>
          <a:bodyPr/>
          <a:lstStyle/>
          <a:p>
            <a:endParaRPr lang="zh-TW" altLang="en-US"/>
          </a:p>
        </p:txBody>
      </p:sp>
      <p:sp>
        <p:nvSpPr>
          <p:cNvPr id="19" name="Shape 17"/>
          <p:cNvSpPr/>
          <p:nvPr/>
        </p:nvSpPr>
        <p:spPr>
          <a:xfrm>
            <a:off x="658368" y="2752344"/>
            <a:ext cx="384048" cy="384048"/>
          </a:xfrm>
          <a:prstGeom prst="ellipse">
            <a:avLst/>
          </a:prstGeom>
          <a:solidFill>
            <a:srgbClr val="2E75B6"/>
          </a:solidFill>
          <a:ln/>
        </p:spPr>
        <p:txBody>
          <a:bodyPr/>
          <a:lstStyle/>
          <a:p>
            <a:endParaRPr lang="zh-TW" altLang="en-US"/>
          </a:p>
        </p:txBody>
      </p:sp>
      <p:sp>
        <p:nvSpPr>
          <p:cNvPr id="20" name="Text 18"/>
          <p:cNvSpPr/>
          <p:nvPr/>
        </p:nvSpPr>
        <p:spPr>
          <a:xfrm>
            <a:off x="658368" y="2741371"/>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Microsoft JhengHei" pitchFamily="34" charset="0"/>
                <a:ea typeface="Microsoft JhengHei" pitchFamily="34" charset="-122"/>
                <a:cs typeface="Microsoft JhengHei" pitchFamily="34" charset="-120"/>
              </a:rPr>
              <a:t>3</a:t>
            </a:r>
            <a:endParaRPr lang="en-US" sz="1500" dirty="0"/>
          </a:p>
        </p:txBody>
      </p:sp>
      <p:sp>
        <p:nvSpPr>
          <p:cNvPr id="21" name="Text 19"/>
          <p:cNvSpPr/>
          <p:nvPr/>
        </p:nvSpPr>
        <p:spPr>
          <a:xfrm>
            <a:off x="1170432" y="2633472"/>
            <a:ext cx="2103120" cy="603504"/>
          </a:xfrm>
          <a:prstGeom prst="rect">
            <a:avLst/>
          </a:prstGeom>
          <a:noFill/>
          <a:ln/>
        </p:spPr>
        <p:txBody>
          <a:bodyPr wrap="square" lIns="0" tIns="0" rIns="0" bIns="0" rtlCol="0" anchor="ctr"/>
          <a:lstStyle/>
          <a:p>
            <a:pPr marL="0" indent="0">
              <a:lnSpc>
                <a:spcPct val="100000"/>
              </a:lnSpc>
              <a:buNone/>
            </a:pPr>
            <a:r>
              <a:rPr lang="en-US" sz="1100" b="1" dirty="0">
                <a:solidFill>
                  <a:srgbClr val="2E75B6"/>
                </a:solidFill>
                <a:latin typeface="Microsoft JhengHei" pitchFamily="34" charset="0"/>
                <a:ea typeface="Microsoft JhengHei" pitchFamily="34" charset="-122"/>
                <a:cs typeface="Microsoft JhengHei" pitchFamily="34" charset="-120"/>
              </a:rPr>
              <a:t>2024</a:t>
            </a:r>
            <a:endParaRPr lang="en-US" sz="1100" dirty="0"/>
          </a:p>
          <a:p>
            <a:pPr marL="0" indent="0">
              <a:lnSpc>
                <a:spcPct val="100000"/>
              </a:lnSpc>
              <a:buNone/>
            </a:pPr>
            <a:r>
              <a:rPr lang="en-US" sz="1350" b="1" dirty="0">
                <a:solidFill>
                  <a:srgbClr val="1F4E79"/>
                </a:solidFill>
                <a:latin typeface="Microsoft JhengHei" pitchFamily="34" charset="0"/>
                <a:ea typeface="Microsoft JhengHei" pitchFamily="34" charset="-122"/>
                <a:cs typeface="Microsoft JhengHei" pitchFamily="34" charset="-120"/>
              </a:rPr>
              <a:t>多模態＋工具</a:t>
            </a:r>
            <a:endParaRPr lang="en-US" sz="1100" dirty="0"/>
          </a:p>
        </p:txBody>
      </p:sp>
      <p:sp>
        <p:nvSpPr>
          <p:cNvPr id="22" name="Text 20"/>
          <p:cNvSpPr/>
          <p:nvPr/>
        </p:nvSpPr>
        <p:spPr>
          <a:xfrm>
            <a:off x="3291840" y="2633472"/>
            <a:ext cx="5257800" cy="603504"/>
          </a:xfrm>
          <a:prstGeom prst="rect">
            <a:avLst/>
          </a:prstGeom>
          <a:noFill/>
          <a:ln/>
        </p:spPr>
        <p:txBody>
          <a:bodyPr wrap="square" lIns="0" tIns="0" rIns="0" bIns="0" rtlCol="0" anchor="ctr"/>
          <a:lstStyle/>
          <a:p>
            <a:pPr marL="0" indent="0">
              <a:lnSpc>
                <a:spcPct val="105000"/>
              </a:lnSpc>
              <a:buNone/>
            </a:pPr>
            <a:r>
              <a:rPr lang="en-US" sz="1200" dirty="0">
                <a:solidFill>
                  <a:srgbClr val="1F2937"/>
                </a:solidFill>
                <a:latin typeface="Microsoft JhengHei" pitchFamily="34" charset="0"/>
                <a:ea typeface="Microsoft JhengHei" pitchFamily="34" charset="-122"/>
                <a:cs typeface="Microsoft JhengHei" pitchFamily="34" charset="-120"/>
              </a:rPr>
              <a:t>GPT-4o、Claude 3.5、Gemini 1.5</a:t>
            </a:r>
            <a:endParaRPr lang="en-US" sz="1200" dirty="0"/>
          </a:p>
          <a:p>
            <a:pPr marL="0" indent="0">
              <a:lnSpc>
                <a:spcPct val="105000"/>
              </a:lnSpc>
              <a:buNone/>
            </a:pPr>
            <a:r>
              <a:rPr lang="en-US" sz="1100" dirty="0">
                <a:solidFill>
                  <a:srgbClr val="5B6B7F"/>
                </a:solidFill>
                <a:latin typeface="Microsoft JhengHei" pitchFamily="34" charset="0"/>
                <a:ea typeface="Microsoft JhengHei" pitchFamily="34" charset="-122"/>
                <a:cs typeface="Microsoft JhengHei" pitchFamily="34" charset="-120"/>
              </a:rPr>
              <a:t>看圖聽聲＋function calling／RAG／MCP／Computer Use——「會用工具」</a:t>
            </a:r>
            <a:endParaRPr lang="en-US" sz="1200" dirty="0"/>
          </a:p>
        </p:txBody>
      </p:sp>
      <p:sp>
        <p:nvSpPr>
          <p:cNvPr id="23" name="Shape 21"/>
          <p:cNvSpPr/>
          <p:nvPr/>
        </p:nvSpPr>
        <p:spPr>
          <a:xfrm>
            <a:off x="502920" y="3355848"/>
            <a:ext cx="8138160" cy="676656"/>
          </a:xfrm>
          <a:prstGeom prst="rect">
            <a:avLst/>
          </a:prstGeom>
          <a:solidFill>
            <a:srgbClr val="DEEBF7"/>
          </a:solidFill>
          <a:ln/>
        </p:spPr>
        <p:txBody>
          <a:bodyPr/>
          <a:lstStyle/>
          <a:p>
            <a:endParaRPr lang="zh-TW" altLang="en-US"/>
          </a:p>
        </p:txBody>
      </p:sp>
      <p:sp>
        <p:nvSpPr>
          <p:cNvPr id="24" name="Shape 22"/>
          <p:cNvSpPr/>
          <p:nvPr/>
        </p:nvSpPr>
        <p:spPr>
          <a:xfrm>
            <a:off x="502920" y="3355848"/>
            <a:ext cx="64008" cy="676656"/>
          </a:xfrm>
          <a:prstGeom prst="rect">
            <a:avLst/>
          </a:prstGeom>
          <a:solidFill>
            <a:srgbClr val="2E75B6"/>
          </a:solidFill>
          <a:ln/>
        </p:spPr>
        <p:txBody>
          <a:bodyPr/>
          <a:lstStyle/>
          <a:p>
            <a:endParaRPr lang="zh-TW" altLang="en-US"/>
          </a:p>
        </p:txBody>
      </p:sp>
      <p:sp>
        <p:nvSpPr>
          <p:cNvPr id="25" name="Shape 23"/>
          <p:cNvSpPr/>
          <p:nvPr/>
        </p:nvSpPr>
        <p:spPr>
          <a:xfrm>
            <a:off x="658368" y="3511296"/>
            <a:ext cx="384048" cy="384048"/>
          </a:xfrm>
          <a:prstGeom prst="ellipse">
            <a:avLst/>
          </a:prstGeom>
          <a:solidFill>
            <a:srgbClr val="2E75B6"/>
          </a:solidFill>
          <a:ln/>
        </p:spPr>
        <p:txBody>
          <a:bodyPr/>
          <a:lstStyle/>
          <a:p>
            <a:endParaRPr lang="zh-TW" altLang="en-US"/>
          </a:p>
        </p:txBody>
      </p:sp>
      <p:sp>
        <p:nvSpPr>
          <p:cNvPr id="26" name="Text 24"/>
          <p:cNvSpPr/>
          <p:nvPr/>
        </p:nvSpPr>
        <p:spPr>
          <a:xfrm>
            <a:off x="658368" y="3500323"/>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Microsoft JhengHei" pitchFamily="34" charset="0"/>
                <a:ea typeface="Microsoft JhengHei" pitchFamily="34" charset="-122"/>
                <a:cs typeface="Microsoft JhengHei" pitchFamily="34" charset="-120"/>
              </a:rPr>
              <a:t>4</a:t>
            </a:r>
            <a:endParaRPr lang="en-US" sz="1500" dirty="0"/>
          </a:p>
        </p:txBody>
      </p:sp>
      <p:sp>
        <p:nvSpPr>
          <p:cNvPr id="27" name="Text 25"/>
          <p:cNvSpPr/>
          <p:nvPr/>
        </p:nvSpPr>
        <p:spPr>
          <a:xfrm>
            <a:off x="1170432" y="3392424"/>
            <a:ext cx="2103120" cy="603504"/>
          </a:xfrm>
          <a:prstGeom prst="rect">
            <a:avLst/>
          </a:prstGeom>
          <a:noFill/>
          <a:ln/>
        </p:spPr>
        <p:txBody>
          <a:bodyPr wrap="square" lIns="0" tIns="0" rIns="0" bIns="0" rtlCol="0" anchor="ctr"/>
          <a:lstStyle/>
          <a:p>
            <a:pPr marL="0" indent="0">
              <a:lnSpc>
                <a:spcPct val="100000"/>
              </a:lnSpc>
              <a:buNone/>
            </a:pPr>
            <a:r>
              <a:rPr lang="en-US" sz="1100" b="1" dirty="0">
                <a:solidFill>
                  <a:srgbClr val="2E75B6"/>
                </a:solidFill>
                <a:latin typeface="Microsoft JhengHei" pitchFamily="34" charset="0"/>
                <a:ea typeface="Microsoft JhengHei" pitchFamily="34" charset="-122"/>
                <a:cs typeface="Microsoft JhengHei" pitchFamily="34" charset="-120"/>
              </a:rPr>
              <a:t>2024末–2025</a:t>
            </a:r>
            <a:endParaRPr lang="en-US" sz="1100" dirty="0"/>
          </a:p>
          <a:p>
            <a:pPr marL="0" indent="0">
              <a:lnSpc>
                <a:spcPct val="100000"/>
              </a:lnSpc>
              <a:buNone/>
            </a:pPr>
            <a:r>
              <a:rPr lang="en-US" sz="1350" b="1" dirty="0">
                <a:solidFill>
                  <a:srgbClr val="1F4E79"/>
                </a:solidFill>
                <a:latin typeface="Microsoft JhengHei" pitchFamily="34" charset="0"/>
                <a:ea typeface="Microsoft JhengHei" pitchFamily="34" charset="-122"/>
                <a:cs typeface="Microsoft JhengHei" pitchFamily="34" charset="-120"/>
              </a:rPr>
              <a:t>推理模型</a:t>
            </a:r>
            <a:endParaRPr lang="en-US" sz="1100" dirty="0"/>
          </a:p>
        </p:txBody>
      </p:sp>
      <p:sp>
        <p:nvSpPr>
          <p:cNvPr id="28" name="Text 26"/>
          <p:cNvSpPr/>
          <p:nvPr/>
        </p:nvSpPr>
        <p:spPr>
          <a:xfrm>
            <a:off x="3291840" y="3392424"/>
            <a:ext cx="5257800" cy="603504"/>
          </a:xfrm>
          <a:prstGeom prst="rect">
            <a:avLst/>
          </a:prstGeom>
          <a:noFill/>
          <a:ln/>
        </p:spPr>
        <p:txBody>
          <a:bodyPr wrap="square" lIns="0" tIns="0" rIns="0" bIns="0" rtlCol="0" anchor="ctr"/>
          <a:lstStyle/>
          <a:p>
            <a:pPr marL="0" indent="0">
              <a:lnSpc>
                <a:spcPct val="105000"/>
              </a:lnSpc>
              <a:buNone/>
            </a:pPr>
            <a:r>
              <a:rPr lang="en-US" sz="1200" dirty="0">
                <a:solidFill>
                  <a:srgbClr val="1F2937"/>
                </a:solidFill>
                <a:latin typeface="Microsoft JhengHei" pitchFamily="34" charset="0"/>
                <a:ea typeface="Microsoft JhengHei" pitchFamily="34" charset="-122"/>
                <a:cs typeface="Microsoft JhengHei" pitchFamily="34" charset="-120"/>
              </a:rPr>
              <a:t>OpenAI o1／o3、Claude 延伸思考、Gemini 2</a:t>
            </a:r>
            <a:endParaRPr lang="en-US" sz="1200" dirty="0"/>
          </a:p>
          <a:p>
            <a:pPr marL="0" indent="0">
              <a:lnSpc>
                <a:spcPct val="105000"/>
              </a:lnSpc>
              <a:buNone/>
            </a:pPr>
            <a:r>
              <a:rPr lang="en-US" sz="1100" dirty="0">
                <a:solidFill>
                  <a:srgbClr val="5B6B7F"/>
                </a:solidFill>
                <a:latin typeface="Microsoft JhengHei" pitchFamily="34" charset="0"/>
                <a:ea typeface="Microsoft JhengHei" pitchFamily="34" charset="-122"/>
                <a:cs typeface="Microsoft JhengHei" pitchFamily="34" charset="-120"/>
              </a:rPr>
              <a:t>先想再答、自我檢查——「會推理」</a:t>
            </a:r>
            <a:endParaRPr lang="en-US" sz="1200" dirty="0"/>
          </a:p>
        </p:txBody>
      </p:sp>
      <p:sp>
        <p:nvSpPr>
          <p:cNvPr id="29" name="Shape 27"/>
          <p:cNvSpPr/>
          <p:nvPr/>
        </p:nvSpPr>
        <p:spPr>
          <a:xfrm>
            <a:off x="502920" y="4114800"/>
            <a:ext cx="8138160" cy="676656"/>
          </a:xfrm>
          <a:prstGeom prst="rect">
            <a:avLst/>
          </a:prstGeom>
          <a:solidFill>
            <a:srgbClr val="BDD7EE"/>
          </a:solidFill>
          <a:ln/>
        </p:spPr>
        <p:txBody>
          <a:bodyPr/>
          <a:lstStyle/>
          <a:p>
            <a:endParaRPr lang="zh-TW" altLang="en-US"/>
          </a:p>
        </p:txBody>
      </p:sp>
      <p:sp>
        <p:nvSpPr>
          <p:cNvPr id="30" name="Shape 28"/>
          <p:cNvSpPr/>
          <p:nvPr/>
        </p:nvSpPr>
        <p:spPr>
          <a:xfrm>
            <a:off x="502920" y="4114800"/>
            <a:ext cx="64008" cy="676656"/>
          </a:xfrm>
          <a:prstGeom prst="rect">
            <a:avLst/>
          </a:prstGeom>
          <a:solidFill>
            <a:srgbClr val="2E75B6"/>
          </a:solidFill>
          <a:ln/>
        </p:spPr>
        <p:txBody>
          <a:bodyPr/>
          <a:lstStyle/>
          <a:p>
            <a:endParaRPr lang="zh-TW" altLang="en-US"/>
          </a:p>
        </p:txBody>
      </p:sp>
      <p:sp>
        <p:nvSpPr>
          <p:cNvPr id="31" name="Shape 29"/>
          <p:cNvSpPr/>
          <p:nvPr/>
        </p:nvSpPr>
        <p:spPr>
          <a:xfrm>
            <a:off x="658368" y="4270248"/>
            <a:ext cx="384048" cy="384048"/>
          </a:xfrm>
          <a:prstGeom prst="ellipse">
            <a:avLst/>
          </a:prstGeom>
          <a:solidFill>
            <a:srgbClr val="1F4E79"/>
          </a:solidFill>
          <a:ln/>
        </p:spPr>
        <p:txBody>
          <a:bodyPr/>
          <a:lstStyle/>
          <a:p>
            <a:endParaRPr lang="zh-TW" altLang="en-US"/>
          </a:p>
        </p:txBody>
      </p:sp>
      <p:sp>
        <p:nvSpPr>
          <p:cNvPr id="32" name="Text 30"/>
          <p:cNvSpPr/>
          <p:nvPr/>
        </p:nvSpPr>
        <p:spPr>
          <a:xfrm>
            <a:off x="658368" y="4259275"/>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Microsoft JhengHei" pitchFamily="34" charset="0"/>
                <a:ea typeface="Microsoft JhengHei" pitchFamily="34" charset="-122"/>
                <a:cs typeface="Microsoft JhengHei" pitchFamily="34" charset="-120"/>
              </a:rPr>
              <a:t>5</a:t>
            </a:r>
            <a:endParaRPr lang="en-US" sz="1500" dirty="0"/>
          </a:p>
        </p:txBody>
      </p:sp>
      <p:sp>
        <p:nvSpPr>
          <p:cNvPr id="33" name="Text 31"/>
          <p:cNvSpPr/>
          <p:nvPr/>
        </p:nvSpPr>
        <p:spPr>
          <a:xfrm>
            <a:off x="1170432" y="4151376"/>
            <a:ext cx="2103120" cy="603504"/>
          </a:xfrm>
          <a:prstGeom prst="rect">
            <a:avLst/>
          </a:prstGeom>
          <a:noFill/>
          <a:ln/>
        </p:spPr>
        <p:txBody>
          <a:bodyPr wrap="square" lIns="0" tIns="0" rIns="0" bIns="0" rtlCol="0" anchor="ctr"/>
          <a:lstStyle/>
          <a:p>
            <a:pPr marL="0" indent="0">
              <a:lnSpc>
                <a:spcPct val="100000"/>
              </a:lnSpc>
              <a:buNone/>
            </a:pPr>
            <a:r>
              <a:rPr lang="en-US" sz="1100" b="1" dirty="0">
                <a:solidFill>
                  <a:srgbClr val="2E75B6"/>
                </a:solidFill>
                <a:latin typeface="Microsoft JhengHei" pitchFamily="34" charset="0"/>
                <a:ea typeface="Microsoft JhengHei" pitchFamily="34" charset="-122"/>
                <a:cs typeface="Microsoft JhengHei" pitchFamily="34" charset="-120"/>
              </a:rPr>
              <a:t>2025–2026</a:t>
            </a:r>
            <a:endParaRPr lang="en-US" sz="1100" dirty="0"/>
          </a:p>
          <a:p>
            <a:pPr marL="0" indent="0">
              <a:lnSpc>
                <a:spcPct val="100000"/>
              </a:lnSpc>
              <a:buNone/>
            </a:pPr>
            <a:r>
              <a:rPr lang="en-US" sz="1350" b="1" dirty="0">
                <a:solidFill>
                  <a:srgbClr val="1F4E79"/>
                </a:solidFill>
                <a:latin typeface="Microsoft JhengHei" pitchFamily="34" charset="0"/>
                <a:ea typeface="Microsoft JhengHei" pitchFamily="34" charset="-122"/>
                <a:cs typeface="Microsoft JhengHei" pitchFamily="34" charset="-120"/>
              </a:rPr>
              <a:t>AI Agent 時代</a:t>
            </a:r>
            <a:endParaRPr lang="en-US" sz="1100" dirty="0"/>
          </a:p>
        </p:txBody>
      </p:sp>
      <p:sp>
        <p:nvSpPr>
          <p:cNvPr id="34" name="Text 32"/>
          <p:cNvSpPr/>
          <p:nvPr/>
        </p:nvSpPr>
        <p:spPr>
          <a:xfrm>
            <a:off x="3291840" y="4151376"/>
            <a:ext cx="5257800" cy="603504"/>
          </a:xfrm>
          <a:prstGeom prst="rect">
            <a:avLst/>
          </a:prstGeom>
          <a:noFill/>
          <a:ln/>
        </p:spPr>
        <p:txBody>
          <a:bodyPr wrap="square" lIns="0" tIns="0" rIns="0" bIns="0" rtlCol="0" anchor="ctr"/>
          <a:lstStyle/>
          <a:p>
            <a:pPr marL="0" indent="0">
              <a:lnSpc>
                <a:spcPct val="105000"/>
              </a:lnSpc>
              <a:buNone/>
            </a:pPr>
            <a:r>
              <a:rPr lang="en-US" sz="1200" dirty="0">
                <a:solidFill>
                  <a:srgbClr val="1F2937"/>
                </a:solidFill>
                <a:latin typeface="Microsoft JhengHei" pitchFamily="34" charset="0"/>
                <a:ea typeface="Microsoft JhengHei" pitchFamily="34" charset="-122"/>
                <a:cs typeface="Microsoft JhengHei" pitchFamily="34" charset="-120"/>
              </a:rPr>
              <a:t>Coding agents（Claude Code、Codex）、Operator、多代理編排</a:t>
            </a:r>
            <a:endParaRPr lang="en-US" sz="1200" dirty="0"/>
          </a:p>
          <a:p>
            <a:pPr marL="0" indent="0">
              <a:lnSpc>
                <a:spcPct val="105000"/>
              </a:lnSpc>
              <a:buNone/>
            </a:pPr>
            <a:r>
              <a:rPr lang="en-US" sz="1100" dirty="0">
                <a:solidFill>
                  <a:srgbClr val="5B6B7F"/>
                </a:solidFill>
                <a:latin typeface="Microsoft JhengHei" pitchFamily="34" charset="0"/>
                <a:ea typeface="Microsoft JhengHei" pitchFamily="34" charset="-122"/>
                <a:cs typeface="Microsoft JhengHei" pitchFamily="34" charset="-120"/>
              </a:rPr>
              <a:t>自主規劃→行動→修正、操作電腦——「從工具變同事」</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641080" y="4828032"/>
            <a:ext cx="365760" cy="274320"/>
          </a:xfrm>
          <a:prstGeom prst="rect">
            <a:avLst/>
          </a:prstGeom>
          <a:noFill/>
          <a:ln/>
        </p:spPr>
        <p:txBody>
          <a:bodyPr wrap="square" lIns="0" tIns="0" rIns="0" bIns="0" rtlCol="0" anchor="ctr"/>
          <a:lstStyle/>
          <a:p>
            <a:pPr marL="0" indent="0" algn="r">
              <a:buNone/>
            </a:pPr>
            <a:r>
              <a:rPr lang="en-US" sz="1000" dirty="0">
                <a:solidFill>
                  <a:srgbClr val="5B6B7F"/>
                </a:solidFill>
                <a:latin typeface="Microsoft JhengHei" pitchFamily="34" charset="0"/>
                <a:ea typeface="Microsoft JhengHei" pitchFamily="34" charset="-122"/>
                <a:cs typeface="Microsoft JhengHei" pitchFamily="34" charset="-120"/>
              </a:rPr>
              <a:t>23</a:t>
            </a:r>
            <a:endParaRPr lang="en-US" sz="1000" dirty="0"/>
          </a:p>
        </p:txBody>
      </p:sp>
      <p:sp>
        <p:nvSpPr>
          <p:cNvPr id="3" name="Text 1"/>
          <p:cNvSpPr/>
          <p:nvPr/>
        </p:nvSpPr>
        <p:spPr>
          <a:xfrm>
            <a:off x="502920" y="201168"/>
            <a:ext cx="8046720" cy="274320"/>
          </a:xfrm>
          <a:prstGeom prst="rect">
            <a:avLst/>
          </a:prstGeom>
          <a:noFill/>
          <a:ln/>
        </p:spPr>
        <p:txBody>
          <a:bodyPr wrap="square" lIns="0" tIns="0" rIns="0" bIns="0" rtlCol="0" anchor="ctr"/>
          <a:lstStyle/>
          <a:p>
            <a:pPr marL="0" indent="0">
              <a:buNone/>
            </a:pPr>
            <a:r>
              <a:rPr lang="en-US" sz="1200" b="1" kern="0" spc="200" dirty="0">
                <a:solidFill>
                  <a:srgbClr val="2E75B6"/>
                </a:solidFill>
                <a:latin typeface="Microsoft JhengHei" pitchFamily="34" charset="0"/>
                <a:ea typeface="Microsoft JhengHei" pitchFamily="34" charset="-122"/>
                <a:cs typeface="Microsoft JhengHei" pitchFamily="34" charset="-120"/>
              </a:rPr>
              <a:t>BIGGER PICTURE</a:t>
            </a:r>
            <a:endParaRPr lang="en-US" sz="1200" dirty="0"/>
          </a:p>
        </p:txBody>
      </p:sp>
      <p:sp>
        <p:nvSpPr>
          <p:cNvPr id="4" name="Text 2"/>
          <p:cNvSpPr/>
          <p:nvPr/>
        </p:nvSpPr>
        <p:spPr>
          <a:xfrm>
            <a:off x="502920" y="457200"/>
            <a:ext cx="8138160" cy="566928"/>
          </a:xfrm>
          <a:prstGeom prst="rect">
            <a:avLst/>
          </a:prstGeom>
          <a:noFill/>
          <a:ln/>
        </p:spPr>
        <p:txBody>
          <a:bodyPr wrap="square" lIns="0" tIns="0" rIns="0" bIns="0" rtlCol="0" anchor="ctr"/>
          <a:lstStyle/>
          <a:p>
            <a:pPr marL="0" indent="0">
              <a:buNone/>
            </a:pPr>
            <a:r>
              <a:rPr lang="en-US" sz="2700" b="1" dirty="0">
                <a:solidFill>
                  <a:srgbClr val="1F4E79"/>
                </a:solidFill>
                <a:latin typeface="Microsoft JhengHei" pitchFamily="34" charset="0"/>
                <a:ea typeface="Microsoft JhengHei" pitchFamily="34" charset="-122"/>
                <a:cs typeface="Microsoft JhengHei" pitchFamily="34" charset="-120"/>
              </a:rPr>
              <a:t>不只是出題助手：LLM 在醫學教育的角色</a:t>
            </a:r>
            <a:endParaRPr lang="en-US" sz="2700" dirty="0"/>
          </a:p>
        </p:txBody>
      </p:sp>
      <p:sp>
        <p:nvSpPr>
          <p:cNvPr id="5" name="Shape 3"/>
          <p:cNvSpPr/>
          <p:nvPr/>
        </p:nvSpPr>
        <p:spPr>
          <a:xfrm>
            <a:off x="502920" y="1234440"/>
            <a:ext cx="3931920" cy="2148840"/>
          </a:xfrm>
          <a:prstGeom prst="rect">
            <a:avLst/>
          </a:prstGeom>
          <a:solidFill>
            <a:srgbClr val="DEEBF7"/>
          </a:solidFill>
          <a:ln/>
        </p:spPr>
        <p:txBody>
          <a:bodyPr/>
          <a:lstStyle/>
          <a:p>
            <a:endParaRPr lang="zh-TW" altLang="en-US"/>
          </a:p>
        </p:txBody>
      </p:sp>
      <p:sp>
        <p:nvSpPr>
          <p:cNvPr id="6" name="Shape 4"/>
          <p:cNvSpPr/>
          <p:nvPr/>
        </p:nvSpPr>
        <p:spPr>
          <a:xfrm>
            <a:off x="502920" y="1234440"/>
            <a:ext cx="64008" cy="2148840"/>
          </a:xfrm>
          <a:prstGeom prst="rect">
            <a:avLst/>
          </a:prstGeom>
          <a:solidFill>
            <a:srgbClr val="2E75B6"/>
          </a:solidFill>
          <a:ln/>
        </p:spPr>
        <p:txBody>
          <a:bodyPr/>
          <a:lstStyle/>
          <a:p>
            <a:endParaRPr lang="zh-TW" altLang="en-US"/>
          </a:p>
        </p:txBody>
      </p:sp>
      <p:sp>
        <p:nvSpPr>
          <p:cNvPr id="7" name="Text 5"/>
          <p:cNvSpPr/>
          <p:nvPr/>
        </p:nvSpPr>
        <p:spPr>
          <a:xfrm>
            <a:off x="731520" y="1371600"/>
            <a:ext cx="3474720" cy="320040"/>
          </a:xfrm>
          <a:prstGeom prst="rect">
            <a:avLst/>
          </a:prstGeom>
          <a:noFill/>
          <a:ln/>
        </p:spPr>
        <p:txBody>
          <a:bodyPr wrap="square" lIns="0" tIns="0" rIns="0" bIns="0" rtlCol="0" anchor="ctr"/>
          <a:lstStyle/>
          <a:p>
            <a:pPr marL="0" indent="0">
              <a:buNone/>
            </a:pPr>
            <a:r>
              <a:rPr lang="en-US" sz="1400" b="1" dirty="0">
                <a:solidFill>
                  <a:srgbClr val="1F4E79"/>
                </a:solidFill>
                <a:latin typeface="Microsoft JhengHei" pitchFamily="34" charset="0"/>
                <a:ea typeface="Microsoft JhengHei" pitchFamily="34" charset="-122"/>
                <a:cs typeface="Microsoft JhengHei" pitchFamily="34" charset="-120"/>
              </a:rPr>
              <a:t>過去：點狀式工具</a:t>
            </a:r>
            <a:endParaRPr lang="en-US" sz="1400" dirty="0"/>
          </a:p>
        </p:txBody>
      </p:sp>
      <p:sp>
        <p:nvSpPr>
          <p:cNvPr id="8" name="Text 6"/>
          <p:cNvSpPr/>
          <p:nvPr/>
        </p:nvSpPr>
        <p:spPr>
          <a:xfrm>
            <a:off x="777240" y="1847088"/>
            <a:ext cx="3520440" cy="141732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1F2937"/>
                </a:solidFill>
                <a:latin typeface="Microsoft JhengHei" pitchFamily="34" charset="0"/>
                <a:ea typeface="Microsoft JhengHei" pitchFamily="34" charset="-122"/>
                <a:cs typeface="Microsoft JhengHei" pitchFamily="34" charset="-120"/>
              </a:rPr>
              <a:t>判別式 AI：醫學影像、病理切片自動分類</a:t>
            </a:r>
            <a:endParaRPr lang="en-US" sz="1200" dirty="0"/>
          </a:p>
          <a:p>
            <a:pPr marL="342900" indent="-342900">
              <a:spcAft>
                <a:spcPts val="800"/>
              </a:spcAft>
              <a:buSzPct val="100000"/>
              <a:buChar char="•"/>
            </a:pPr>
            <a:r>
              <a:rPr lang="en-US" sz="1200" dirty="0">
                <a:solidFill>
                  <a:srgbClr val="1F2937"/>
                </a:solidFill>
                <a:latin typeface="Microsoft JhengHei" pitchFamily="34" charset="0"/>
                <a:ea typeface="Microsoft JhengHei" pitchFamily="34" charset="-122"/>
                <a:cs typeface="Microsoft JhengHei" pitchFamily="34" charset="-120"/>
              </a:rPr>
              <a:t>單一任務、各自獨立</a:t>
            </a:r>
            <a:endParaRPr lang="en-US" sz="1200" dirty="0"/>
          </a:p>
          <a:p>
            <a:pPr marL="342900" indent="-342900">
              <a:spcAft>
                <a:spcPts val="800"/>
              </a:spcAft>
              <a:buSzPct val="100000"/>
              <a:buChar char="•"/>
            </a:pPr>
            <a:r>
              <a:rPr lang="en-US" sz="1200" dirty="0">
                <a:solidFill>
                  <a:srgbClr val="1F2937"/>
                </a:solidFill>
                <a:latin typeface="Microsoft JhengHei" pitchFamily="34" charset="0"/>
                <a:ea typeface="Microsoft JhengHei" pitchFamily="34" charset="-122"/>
                <a:cs typeface="Microsoft JhengHei" pitchFamily="34" charset="-120"/>
              </a:rPr>
              <a:t>OSCE 對話、評語用完即丟</a:t>
            </a:r>
            <a:endParaRPr lang="en-US" sz="1200" dirty="0"/>
          </a:p>
        </p:txBody>
      </p:sp>
      <p:sp>
        <p:nvSpPr>
          <p:cNvPr id="9" name="Shape 7"/>
          <p:cNvSpPr/>
          <p:nvPr/>
        </p:nvSpPr>
        <p:spPr>
          <a:xfrm>
            <a:off x="4709160" y="1234440"/>
            <a:ext cx="3931920" cy="2148840"/>
          </a:xfrm>
          <a:prstGeom prst="rect">
            <a:avLst/>
          </a:prstGeom>
          <a:solidFill>
            <a:srgbClr val="1F4E79"/>
          </a:solidFill>
          <a:ln/>
        </p:spPr>
        <p:txBody>
          <a:bodyPr/>
          <a:lstStyle/>
          <a:p>
            <a:endParaRPr lang="zh-TW" altLang="en-US"/>
          </a:p>
        </p:txBody>
      </p:sp>
      <p:sp>
        <p:nvSpPr>
          <p:cNvPr id="10" name="Shape 8"/>
          <p:cNvSpPr/>
          <p:nvPr/>
        </p:nvSpPr>
        <p:spPr>
          <a:xfrm>
            <a:off x="4709160" y="1234440"/>
            <a:ext cx="64008" cy="2148840"/>
          </a:xfrm>
          <a:prstGeom prst="rect">
            <a:avLst/>
          </a:prstGeom>
          <a:solidFill>
            <a:srgbClr val="BDD7EE"/>
          </a:solidFill>
          <a:ln/>
        </p:spPr>
        <p:txBody>
          <a:bodyPr/>
          <a:lstStyle/>
          <a:p>
            <a:endParaRPr lang="zh-TW" altLang="en-US"/>
          </a:p>
        </p:txBody>
      </p:sp>
      <p:sp>
        <p:nvSpPr>
          <p:cNvPr id="11" name="Text 9"/>
          <p:cNvSpPr/>
          <p:nvPr/>
        </p:nvSpPr>
        <p:spPr>
          <a:xfrm>
            <a:off x="4937760" y="1371600"/>
            <a:ext cx="3566160" cy="320040"/>
          </a:xfrm>
          <a:prstGeom prst="rect">
            <a:avLst/>
          </a:prstGeom>
          <a:noFill/>
          <a:ln/>
        </p:spPr>
        <p:txBody>
          <a:bodyPr wrap="square" lIns="0" tIns="0" rIns="0" bIns="0" rtlCol="0" anchor="ctr"/>
          <a:lstStyle/>
          <a:p>
            <a:pPr marL="0" indent="0">
              <a:buNone/>
            </a:pPr>
            <a:r>
              <a:rPr lang="en-US" sz="1400" b="1" dirty="0">
                <a:solidFill>
                  <a:srgbClr val="FFFFFF"/>
                </a:solidFill>
                <a:latin typeface="Microsoft JhengHei" pitchFamily="34" charset="0"/>
                <a:ea typeface="Microsoft JhengHei" pitchFamily="34" charset="-122"/>
                <a:cs typeface="Microsoft JhengHei" pitchFamily="34" charset="-120"/>
              </a:rPr>
              <a:t>現在：具理解能力的「數位員工」</a:t>
            </a:r>
            <a:endParaRPr lang="en-US" sz="1400" dirty="0"/>
          </a:p>
        </p:txBody>
      </p:sp>
      <p:sp>
        <p:nvSpPr>
          <p:cNvPr id="12" name="Text 10"/>
          <p:cNvSpPr/>
          <p:nvPr/>
        </p:nvSpPr>
        <p:spPr>
          <a:xfrm>
            <a:off x="4983480" y="1847088"/>
            <a:ext cx="3520440" cy="141732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BDD7EE"/>
                </a:solidFill>
                <a:latin typeface="Microsoft JhengHei" pitchFamily="34" charset="0"/>
                <a:ea typeface="Microsoft JhengHei" pitchFamily="34" charset="-122"/>
                <a:cs typeface="Microsoft JhengHei" pitchFamily="34" charset="-120"/>
              </a:rPr>
              <a:t>生成式 LLM：讀懂非結構化臨床語言</a:t>
            </a:r>
            <a:endParaRPr lang="en-US" sz="1200" dirty="0"/>
          </a:p>
          <a:p>
            <a:pPr marL="342900" indent="-342900">
              <a:spcAft>
                <a:spcPts val="800"/>
              </a:spcAft>
              <a:buSzPct val="100000"/>
              <a:buChar char="•"/>
            </a:pPr>
            <a:r>
              <a:rPr lang="en-US" sz="1200" dirty="0">
                <a:solidFill>
                  <a:srgbClr val="BDD7EE"/>
                </a:solidFill>
                <a:latin typeface="Microsoft JhengHei" pitchFamily="34" charset="0"/>
                <a:ea typeface="Microsoft JhengHei" pitchFamily="34" charset="-122"/>
                <a:cs typeface="Microsoft JhengHei" pitchFamily="34" charset="-120"/>
              </a:rPr>
              <a:t>置於「工作流管理」的核心</a:t>
            </a:r>
            <a:endParaRPr lang="en-US" sz="1200" dirty="0"/>
          </a:p>
          <a:p>
            <a:pPr marL="342900" indent="-342900">
              <a:spcAft>
                <a:spcPts val="800"/>
              </a:spcAft>
              <a:buSzPct val="100000"/>
              <a:buChar char="•"/>
            </a:pPr>
            <a:r>
              <a:rPr lang="en-US" sz="1200" dirty="0">
                <a:solidFill>
                  <a:srgbClr val="BDD7EE"/>
                </a:solidFill>
                <a:latin typeface="Microsoft JhengHei" pitchFamily="34" charset="0"/>
                <a:ea typeface="Microsoft JhengHei" pitchFamily="34" charset="-122"/>
                <a:cs typeface="Microsoft JhengHei" pitchFamily="34" charset="-120"/>
              </a:rPr>
              <a:t>把對話、紀錄精煉為可優化的知識資產</a:t>
            </a:r>
            <a:endParaRPr lang="en-US" sz="1200" dirty="0"/>
          </a:p>
        </p:txBody>
      </p:sp>
      <p:sp>
        <p:nvSpPr>
          <p:cNvPr id="13" name="Shape 11"/>
          <p:cNvSpPr/>
          <p:nvPr/>
        </p:nvSpPr>
        <p:spPr>
          <a:xfrm>
            <a:off x="502920" y="3657600"/>
            <a:ext cx="8138160" cy="1005840"/>
          </a:xfrm>
          <a:prstGeom prst="rect">
            <a:avLst/>
          </a:prstGeom>
          <a:solidFill>
            <a:srgbClr val="DEEBF7"/>
          </a:solidFill>
          <a:ln/>
        </p:spPr>
        <p:txBody>
          <a:bodyPr/>
          <a:lstStyle/>
          <a:p>
            <a:endParaRPr lang="zh-TW" altLang="en-US"/>
          </a:p>
        </p:txBody>
      </p:sp>
      <p:sp>
        <p:nvSpPr>
          <p:cNvPr id="14" name="Text 12"/>
          <p:cNvSpPr/>
          <p:nvPr/>
        </p:nvSpPr>
        <p:spPr>
          <a:xfrm>
            <a:off x="777240" y="3657600"/>
            <a:ext cx="7589520" cy="1005840"/>
          </a:xfrm>
          <a:prstGeom prst="rect">
            <a:avLst/>
          </a:prstGeom>
          <a:noFill/>
          <a:ln/>
        </p:spPr>
        <p:txBody>
          <a:bodyPr wrap="square" lIns="0" tIns="0" rIns="0" bIns="0" rtlCol="0" anchor="ctr"/>
          <a:lstStyle/>
          <a:p>
            <a:pPr marL="0" indent="0">
              <a:lnSpc>
                <a:spcPct val="120000"/>
              </a:lnSpc>
              <a:buNone/>
            </a:pPr>
            <a:r>
              <a:rPr lang="en-US" sz="1500" b="1" dirty="0">
                <a:solidFill>
                  <a:srgbClr val="1F4E79"/>
                </a:solidFill>
                <a:latin typeface="Microsoft JhengHei" pitchFamily="34" charset="0"/>
                <a:ea typeface="Microsoft JhengHei" pitchFamily="34" charset="-122"/>
                <a:cs typeface="Microsoft JhengHei" pitchFamily="34" charset="-120"/>
              </a:rPr>
              <a:t>從取代「勞力」到輔助「腦力」</a:t>
            </a:r>
            <a:endParaRPr lang="en-US" sz="1500" dirty="0"/>
          </a:p>
          <a:p>
            <a:pPr marL="0" indent="0">
              <a:lnSpc>
                <a:spcPct val="120000"/>
              </a:lnSpc>
              <a:buNone/>
            </a:pPr>
            <a:r>
              <a:rPr lang="en-US" sz="1250" dirty="0">
                <a:solidFill>
                  <a:srgbClr val="1F2937"/>
                </a:solidFill>
                <a:latin typeface="Microsoft JhengHei" pitchFamily="34" charset="0"/>
                <a:ea typeface="Microsoft JhengHei" pitchFamily="34" charset="-122"/>
                <a:cs typeface="Microsoft JhengHei" pitchFamily="34" charset="-120"/>
              </a:rPr>
              <a:t>LLM 的戰略價值：把醫學中最龐大卻最難活用的資產——非結構化臨床語言——做「知識轉化（Transformation）」</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641080" y="4828032"/>
            <a:ext cx="365760" cy="274320"/>
          </a:xfrm>
          <a:prstGeom prst="rect">
            <a:avLst/>
          </a:prstGeom>
          <a:noFill/>
          <a:ln/>
        </p:spPr>
        <p:txBody>
          <a:bodyPr wrap="square" lIns="0" tIns="0" rIns="0" bIns="0" rtlCol="0" anchor="ctr"/>
          <a:lstStyle/>
          <a:p>
            <a:pPr marL="0" indent="0" algn="r">
              <a:buNone/>
            </a:pPr>
            <a:r>
              <a:rPr lang="en-US" sz="1000" dirty="0">
                <a:solidFill>
                  <a:srgbClr val="5B6B7F"/>
                </a:solidFill>
                <a:latin typeface="Microsoft JhengHei" pitchFamily="34" charset="0"/>
                <a:ea typeface="Microsoft JhengHei" pitchFamily="34" charset="-122"/>
                <a:cs typeface="Microsoft JhengHei" pitchFamily="34" charset="-120"/>
              </a:rPr>
              <a:t>24</a:t>
            </a:r>
            <a:endParaRPr lang="en-US" sz="1000" dirty="0"/>
          </a:p>
        </p:txBody>
      </p:sp>
      <p:sp>
        <p:nvSpPr>
          <p:cNvPr id="3" name="Text 1"/>
          <p:cNvSpPr/>
          <p:nvPr/>
        </p:nvSpPr>
        <p:spPr>
          <a:xfrm>
            <a:off x="502920" y="201168"/>
            <a:ext cx="8046720" cy="274320"/>
          </a:xfrm>
          <a:prstGeom prst="rect">
            <a:avLst/>
          </a:prstGeom>
          <a:noFill/>
          <a:ln/>
        </p:spPr>
        <p:txBody>
          <a:bodyPr wrap="square" lIns="0" tIns="0" rIns="0" bIns="0" rtlCol="0" anchor="ctr"/>
          <a:lstStyle/>
          <a:p>
            <a:pPr marL="0" indent="0">
              <a:buNone/>
            </a:pPr>
            <a:r>
              <a:rPr lang="en-US" sz="1200" b="1" kern="0" spc="200" dirty="0">
                <a:solidFill>
                  <a:srgbClr val="2E75B6"/>
                </a:solidFill>
                <a:latin typeface="Microsoft JhengHei" pitchFamily="34" charset="0"/>
                <a:ea typeface="Microsoft JhengHei" pitchFamily="34" charset="-122"/>
                <a:cs typeface="Microsoft JhengHei" pitchFamily="34" charset="-120"/>
              </a:rPr>
              <a:t>ROLES</a:t>
            </a:r>
            <a:endParaRPr lang="en-US" sz="1200" dirty="0"/>
          </a:p>
        </p:txBody>
      </p:sp>
      <p:sp>
        <p:nvSpPr>
          <p:cNvPr id="4" name="Text 2"/>
          <p:cNvSpPr/>
          <p:nvPr/>
        </p:nvSpPr>
        <p:spPr>
          <a:xfrm>
            <a:off x="502920" y="457200"/>
            <a:ext cx="8138160" cy="566928"/>
          </a:xfrm>
          <a:prstGeom prst="rect">
            <a:avLst/>
          </a:prstGeom>
          <a:noFill/>
          <a:ln/>
        </p:spPr>
        <p:txBody>
          <a:bodyPr wrap="square" lIns="0" tIns="0" rIns="0" bIns="0" rtlCol="0" anchor="ctr"/>
          <a:lstStyle/>
          <a:p>
            <a:pPr marL="0" indent="0">
              <a:buNone/>
            </a:pPr>
            <a:r>
              <a:rPr lang="en-US" sz="2700" b="1" dirty="0">
                <a:solidFill>
                  <a:srgbClr val="1F4E79"/>
                </a:solidFill>
                <a:latin typeface="Microsoft JhengHei" pitchFamily="34" charset="0"/>
                <a:ea typeface="Microsoft JhengHei" pitchFamily="34" charset="-122"/>
                <a:cs typeface="Microsoft JhengHei" pitchFamily="34" charset="-120"/>
              </a:rPr>
              <a:t>LLM 在醫學教育中的五個角色</a:t>
            </a:r>
            <a:endParaRPr lang="en-US" sz="2700" dirty="0"/>
          </a:p>
        </p:txBody>
      </p:sp>
      <p:sp>
        <p:nvSpPr>
          <p:cNvPr id="5" name="Shape 3"/>
          <p:cNvSpPr/>
          <p:nvPr/>
        </p:nvSpPr>
        <p:spPr>
          <a:xfrm>
            <a:off x="502920" y="1078992"/>
            <a:ext cx="8138160" cy="658368"/>
          </a:xfrm>
          <a:prstGeom prst="rect">
            <a:avLst/>
          </a:prstGeom>
          <a:solidFill>
            <a:srgbClr val="DEEBF7"/>
          </a:solidFill>
          <a:ln/>
        </p:spPr>
        <p:txBody>
          <a:bodyPr/>
          <a:lstStyle/>
          <a:p>
            <a:endParaRPr lang="zh-TW" altLang="en-US"/>
          </a:p>
        </p:txBody>
      </p:sp>
      <p:sp>
        <p:nvSpPr>
          <p:cNvPr id="6" name="Shape 4"/>
          <p:cNvSpPr/>
          <p:nvPr/>
        </p:nvSpPr>
        <p:spPr>
          <a:xfrm>
            <a:off x="502920" y="1078992"/>
            <a:ext cx="64008" cy="658368"/>
          </a:xfrm>
          <a:prstGeom prst="rect">
            <a:avLst/>
          </a:prstGeom>
          <a:solidFill>
            <a:srgbClr val="2E75B6"/>
          </a:solidFill>
          <a:ln/>
        </p:spPr>
        <p:txBody>
          <a:bodyPr/>
          <a:lstStyle/>
          <a:p>
            <a:endParaRPr lang="zh-TW" altLang="en-US"/>
          </a:p>
        </p:txBody>
      </p:sp>
      <p:sp>
        <p:nvSpPr>
          <p:cNvPr id="7" name="Shape 5"/>
          <p:cNvSpPr/>
          <p:nvPr/>
        </p:nvSpPr>
        <p:spPr>
          <a:xfrm>
            <a:off x="713232" y="1197864"/>
            <a:ext cx="420624" cy="420624"/>
          </a:xfrm>
          <a:prstGeom prst="ellipse">
            <a:avLst/>
          </a:prstGeom>
          <a:solidFill>
            <a:srgbClr val="1F4E79"/>
          </a:solidFill>
          <a:ln/>
        </p:spPr>
        <p:txBody>
          <a:bodyPr/>
          <a:lstStyle/>
          <a:p>
            <a:endParaRPr lang="zh-TW" altLang="en-US"/>
          </a:p>
        </p:txBody>
      </p:sp>
      <p:sp>
        <p:nvSpPr>
          <p:cNvPr id="8" name="Text 6"/>
          <p:cNvSpPr/>
          <p:nvPr/>
        </p:nvSpPr>
        <p:spPr>
          <a:xfrm>
            <a:off x="713232" y="1186891"/>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Microsoft JhengHei" pitchFamily="34" charset="0"/>
                <a:ea typeface="Microsoft JhengHei" pitchFamily="34" charset="-122"/>
                <a:cs typeface="Microsoft JhengHei" pitchFamily="34" charset="-120"/>
              </a:rPr>
              <a:t>1</a:t>
            </a:r>
            <a:endParaRPr lang="en-US" sz="1600" dirty="0"/>
          </a:p>
        </p:txBody>
      </p:sp>
      <p:sp>
        <p:nvSpPr>
          <p:cNvPr id="9" name="Text 7"/>
          <p:cNvSpPr/>
          <p:nvPr/>
        </p:nvSpPr>
        <p:spPr>
          <a:xfrm>
            <a:off x="1298448" y="1078992"/>
            <a:ext cx="7178040" cy="658368"/>
          </a:xfrm>
          <a:prstGeom prst="rect">
            <a:avLst/>
          </a:prstGeom>
          <a:noFill/>
          <a:ln/>
        </p:spPr>
        <p:txBody>
          <a:bodyPr wrap="square" lIns="0" tIns="0" rIns="0" bIns="0" rtlCol="0" anchor="ctr"/>
          <a:lstStyle/>
          <a:p>
            <a:pPr marL="0" indent="0">
              <a:lnSpc>
                <a:spcPct val="105000"/>
              </a:lnSpc>
              <a:buNone/>
            </a:pPr>
            <a:r>
              <a:rPr lang="en-US" sz="1400" b="1" dirty="0">
                <a:solidFill>
                  <a:srgbClr val="1F4E79"/>
                </a:solidFill>
                <a:latin typeface="Microsoft JhengHei" pitchFamily="34" charset="0"/>
                <a:ea typeface="Microsoft JhengHei" pitchFamily="34" charset="-122"/>
                <a:cs typeface="Microsoft JhengHei" pitchFamily="34" charset="-120"/>
              </a:rPr>
              <a:t>知識轉化者　</a:t>
            </a:r>
            <a:r>
              <a:rPr lang="en-US" sz="1200" dirty="0">
                <a:solidFill>
                  <a:srgbClr val="1F2937"/>
                </a:solidFill>
                <a:latin typeface="Microsoft JhengHei" pitchFamily="34" charset="0"/>
                <a:ea typeface="Microsoft JhengHei" pitchFamily="34" charset="-122"/>
                <a:cs typeface="Microsoft JhengHei" pitchFamily="34" charset="-120"/>
              </a:rPr>
              <a:t>把 OSCE 逐字稿、考官評語、學生反思精煉為可分析的知識資產——「結構化會流失資訊」，LLM 保留原始脈絡</a:t>
            </a:r>
            <a:endParaRPr lang="en-US" sz="1400" dirty="0"/>
          </a:p>
        </p:txBody>
      </p:sp>
      <p:sp>
        <p:nvSpPr>
          <p:cNvPr id="10" name="Shape 8"/>
          <p:cNvSpPr/>
          <p:nvPr/>
        </p:nvSpPr>
        <p:spPr>
          <a:xfrm>
            <a:off x="502920" y="1837944"/>
            <a:ext cx="8138160" cy="658368"/>
          </a:xfrm>
          <a:prstGeom prst="rect">
            <a:avLst/>
          </a:prstGeom>
          <a:solidFill>
            <a:srgbClr val="DEEBF7"/>
          </a:solidFill>
          <a:ln/>
        </p:spPr>
        <p:txBody>
          <a:bodyPr/>
          <a:lstStyle/>
          <a:p>
            <a:endParaRPr lang="zh-TW" altLang="en-US"/>
          </a:p>
        </p:txBody>
      </p:sp>
      <p:sp>
        <p:nvSpPr>
          <p:cNvPr id="11" name="Shape 9"/>
          <p:cNvSpPr/>
          <p:nvPr/>
        </p:nvSpPr>
        <p:spPr>
          <a:xfrm>
            <a:off x="502920" y="1837944"/>
            <a:ext cx="64008" cy="658368"/>
          </a:xfrm>
          <a:prstGeom prst="rect">
            <a:avLst/>
          </a:prstGeom>
          <a:solidFill>
            <a:srgbClr val="2E75B6"/>
          </a:solidFill>
          <a:ln/>
        </p:spPr>
        <p:txBody>
          <a:bodyPr/>
          <a:lstStyle/>
          <a:p>
            <a:endParaRPr lang="zh-TW" altLang="en-US"/>
          </a:p>
        </p:txBody>
      </p:sp>
      <p:sp>
        <p:nvSpPr>
          <p:cNvPr id="12" name="Shape 10"/>
          <p:cNvSpPr/>
          <p:nvPr/>
        </p:nvSpPr>
        <p:spPr>
          <a:xfrm>
            <a:off x="713232" y="1956816"/>
            <a:ext cx="420624" cy="420624"/>
          </a:xfrm>
          <a:prstGeom prst="ellipse">
            <a:avLst/>
          </a:prstGeom>
          <a:solidFill>
            <a:srgbClr val="1F4E79"/>
          </a:solidFill>
          <a:ln/>
        </p:spPr>
        <p:txBody>
          <a:bodyPr/>
          <a:lstStyle/>
          <a:p>
            <a:endParaRPr lang="zh-TW" altLang="en-US"/>
          </a:p>
        </p:txBody>
      </p:sp>
      <p:sp>
        <p:nvSpPr>
          <p:cNvPr id="13" name="Text 11"/>
          <p:cNvSpPr/>
          <p:nvPr/>
        </p:nvSpPr>
        <p:spPr>
          <a:xfrm>
            <a:off x="713232" y="1945843"/>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Microsoft JhengHei" pitchFamily="34" charset="0"/>
                <a:ea typeface="Microsoft JhengHei" pitchFamily="34" charset="-122"/>
                <a:cs typeface="Microsoft JhengHei" pitchFamily="34" charset="-120"/>
              </a:rPr>
              <a:t>2</a:t>
            </a:r>
            <a:endParaRPr lang="en-US" sz="1600" dirty="0"/>
          </a:p>
        </p:txBody>
      </p:sp>
      <p:sp>
        <p:nvSpPr>
          <p:cNvPr id="14" name="Text 12"/>
          <p:cNvSpPr/>
          <p:nvPr/>
        </p:nvSpPr>
        <p:spPr>
          <a:xfrm>
            <a:off x="1298448" y="1837944"/>
            <a:ext cx="7178040" cy="658368"/>
          </a:xfrm>
          <a:prstGeom prst="rect">
            <a:avLst/>
          </a:prstGeom>
          <a:noFill/>
          <a:ln/>
        </p:spPr>
        <p:txBody>
          <a:bodyPr wrap="square" lIns="0" tIns="0" rIns="0" bIns="0" rtlCol="0" anchor="ctr"/>
          <a:lstStyle/>
          <a:p>
            <a:pPr marL="0" indent="0">
              <a:lnSpc>
                <a:spcPct val="105000"/>
              </a:lnSpc>
              <a:buNone/>
            </a:pPr>
            <a:r>
              <a:rPr lang="en-US" sz="1400" b="1" dirty="0">
                <a:solidFill>
                  <a:srgbClr val="1F4E79"/>
                </a:solidFill>
                <a:latin typeface="Microsoft JhengHei" pitchFamily="34" charset="0"/>
                <a:ea typeface="Microsoft JhengHei" pitchFamily="34" charset="-122"/>
                <a:cs typeface="Microsoft JhengHei" pitchFamily="34" charset="-120"/>
              </a:rPr>
              <a:t>臨床紀錄摘要者　</a:t>
            </a:r>
            <a:r>
              <a:rPr lang="en-US" sz="1200" dirty="0">
                <a:solidFill>
                  <a:srgbClr val="1F2937"/>
                </a:solidFill>
                <a:latin typeface="Microsoft JhengHei" pitchFamily="34" charset="0"/>
                <a:ea typeface="Microsoft JhengHei" pitchFamily="34" charset="-122"/>
                <a:cs typeface="Microsoft JhengHei" pitchFamily="34" charset="-120"/>
              </a:rPr>
              <a:t>Speech-to-Summary：把數十分鐘的考試對話自動轉成結構化病例摘要，大幅減輕教師行政負擔</a:t>
            </a:r>
            <a:endParaRPr lang="en-US" sz="1400" dirty="0"/>
          </a:p>
        </p:txBody>
      </p:sp>
      <p:sp>
        <p:nvSpPr>
          <p:cNvPr id="15" name="Shape 13"/>
          <p:cNvSpPr/>
          <p:nvPr/>
        </p:nvSpPr>
        <p:spPr>
          <a:xfrm>
            <a:off x="502920" y="2596896"/>
            <a:ext cx="8138160" cy="658368"/>
          </a:xfrm>
          <a:prstGeom prst="rect">
            <a:avLst/>
          </a:prstGeom>
          <a:solidFill>
            <a:srgbClr val="DEEBF7"/>
          </a:solidFill>
          <a:ln/>
        </p:spPr>
        <p:txBody>
          <a:bodyPr/>
          <a:lstStyle/>
          <a:p>
            <a:endParaRPr lang="zh-TW" altLang="en-US"/>
          </a:p>
        </p:txBody>
      </p:sp>
      <p:sp>
        <p:nvSpPr>
          <p:cNvPr id="16" name="Shape 14"/>
          <p:cNvSpPr/>
          <p:nvPr/>
        </p:nvSpPr>
        <p:spPr>
          <a:xfrm>
            <a:off x="502920" y="2596896"/>
            <a:ext cx="64008" cy="658368"/>
          </a:xfrm>
          <a:prstGeom prst="rect">
            <a:avLst/>
          </a:prstGeom>
          <a:solidFill>
            <a:srgbClr val="2E75B6"/>
          </a:solidFill>
          <a:ln/>
        </p:spPr>
        <p:txBody>
          <a:bodyPr/>
          <a:lstStyle/>
          <a:p>
            <a:endParaRPr lang="zh-TW" altLang="en-US"/>
          </a:p>
        </p:txBody>
      </p:sp>
      <p:sp>
        <p:nvSpPr>
          <p:cNvPr id="17" name="Shape 15"/>
          <p:cNvSpPr/>
          <p:nvPr/>
        </p:nvSpPr>
        <p:spPr>
          <a:xfrm>
            <a:off x="713232" y="2715768"/>
            <a:ext cx="420624" cy="420624"/>
          </a:xfrm>
          <a:prstGeom prst="ellipse">
            <a:avLst/>
          </a:prstGeom>
          <a:solidFill>
            <a:srgbClr val="1F4E79"/>
          </a:solidFill>
          <a:ln/>
        </p:spPr>
        <p:txBody>
          <a:bodyPr/>
          <a:lstStyle/>
          <a:p>
            <a:endParaRPr lang="zh-TW" altLang="en-US"/>
          </a:p>
        </p:txBody>
      </p:sp>
      <p:sp>
        <p:nvSpPr>
          <p:cNvPr id="18" name="Text 16"/>
          <p:cNvSpPr/>
          <p:nvPr/>
        </p:nvSpPr>
        <p:spPr>
          <a:xfrm>
            <a:off x="713232" y="2704795"/>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Microsoft JhengHei" pitchFamily="34" charset="0"/>
                <a:ea typeface="Microsoft JhengHei" pitchFamily="34" charset="-122"/>
                <a:cs typeface="Microsoft JhengHei" pitchFamily="34" charset="-120"/>
              </a:rPr>
              <a:t>3</a:t>
            </a:r>
            <a:endParaRPr lang="en-US" sz="1600" dirty="0"/>
          </a:p>
        </p:txBody>
      </p:sp>
      <p:sp>
        <p:nvSpPr>
          <p:cNvPr id="19" name="Text 17"/>
          <p:cNvSpPr/>
          <p:nvPr/>
        </p:nvSpPr>
        <p:spPr>
          <a:xfrm>
            <a:off x="1298448" y="2596896"/>
            <a:ext cx="7178040" cy="658368"/>
          </a:xfrm>
          <a:prstGeom prst="rect">
            <a:avLst/>
          </a:prstGeom>
          <a:noFill/>
          <a:ln/>
        </p:spPr>
        <p:txBody>
          <a:bodyPr wrap="square" lIns="0" tIns="0" rIns="0" bIns="0" rtlCol="0" anchor="ctr"/>
          <a:lstStyle/>
          <a:p>
            <a:pPr marL="0" indent="0">
              <a:lnSpc>
                <a:spcPct val="105000"/>
              </a:lnSpc>
              <a:buNone/>
            </a:pPr>
            <a:r>
              <a:rPr lang="en-US" sz="1400" b="1" dirty="0">
                <a:solidFill>
                  <a:srgbClr val="1F4E79"/>
                </a:solidFill>
                <a:latin typeface="Microsoft JhengHei" pitchFamily="34" charset="0"/>
                <a:ea typeface="Microsoft JhengHei" pitchFamily="34" charset="-122"/>
                <a:cs typeface="Microsoft JhengHei" pitchFamily="34" charset="-120"/>
              </a:rPr>
              <a:t>特質與同理心評估者　</a:t>
            </a:r>
            <a:r>
              <a:rPr lang="en-US" sz="1200" dirty="0">
                <a:solidFill>
                  <a:srgbClr val="1F2937"/>
                </a:solidFill>
                <a:latin typeface="Microsoft JhengHei" pitchFamily="34" charset="0"/>
                <a:ea typeface="Microsoft JhengHei" pitchFamily="34" charset="-122"/>
                <a:cs typeface="Microsoft JhengHei" pitchFamily="34" charset="-120"/>
              </a:rPr>
              <a:t>借鏡 Stanford 研究，從開放對話分析語言模式，看見問卷測不到的「隱藏的誠實」與同理表現</a:t>
            </a:r>
            <a:endParaRPr lang="en-US" sz="1400" dirty="0"/>
          </a:p>
        </p:txBody>
      </p:sp>
      <p:sp>
        <p:nvSpPr>
          <p:cNvPr id="20" name="Shape 18"/>
          <p:cNvSpPr/>
          <p:nvPr/>
        </p:nvSpPr>
        <p:spPr>
          <a:xfrm>
            <a:off x="502920" y="3355848"/>
            <a:ext cx="8138160" cy="658368"/>
          </a:xfrm>
          <a:prstGeom prst="rect">
            <a:avLst/>
          </a:prstGeom>
          <a:solidFill>
            <a:srgbClr val="DEEBF7"/>
          </a:solidFill>
          <a:ln/>
        </p:spPr>
        <p:txBody>
          <a:bodyPr/>
          <a:lstStyle/>
          <a:p>
            <a:endParaRPr lang="zh-TW" altLang="en-US"/>
          </a:p>
        </p:txBody>
      </p:sp>
      <p:sp>
        <p:nvSpPr>
          <p:cNvPr id="21" name="Shape 19"/>
          <p:cNvSpPr/>
          <p:nvPr/>
        </p:nvSpPr>
        <p:spPr>
          <a:xfrm>
            <a:off x="502920" y="3355848"/>
            <a:ext cx="64008" cy="658368"/>
          </a:xfrm>
          <a:prstGeom prst="rect">
            <a:avLst/>
          </a:prstGeom>
          <a:solidFill>
            <a:srgbClr val="2E75B6"/>
          </a:solidFill>
          <a:ln/>
        </p:spPr>
        <p:txBody>
          <a:bodyPr/>
          <a:lstStyle/>
          <a:p>
            <a:endParaRPr lang="zh-TW" altLang="en-US"/>
          </a:p>
        </p:txBody>
      </p:sp>
      <p:sp>
        <p:nvSpPr>
          <p:cNvPr id="22" name="Shape 20"/>
          <p:cNvSpPr/>
          <p:nvPr/>
        </p:nvSpPr>
        <p:spPr>
          <a:xfrm>
            <a:off x="713232" y="3474720"/>
            <a:ext cx="420624" cy="420624"/>
          </a:xfrm>
          <a:prstGeom prst="ellipse">
            <a:avLst/>
          </a:prstGeom>
          <a:solidFill>
            <a:srgbClr val="1F4E79"/>
          </a:solidFill>
          <a:ln/>
        </p:spPr>
        <p:txBody>
          <a:bodyPr/>
          <a:lstStyle/>
          <a:p>
            <a:endParaRPr lang="zh-TW" altLang="en-US"/>
          </a:p>
        </p:txBody>
      </p:sp>
      <p:sp>
        <p:nvSpPr>
          <p:cNvPr id="23" name="Text 21"/>
          <p:cNvSpPr/>
          <p:nvPr/>
        </p:nvSpPr>
        <p:spPr>
          <a:xfrm>
            <a:off x="713232" y="3463747"/>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Microsoft JhengHei" pitchFamily="34" charset="0"/>
                <a:ea typeface="Microsoft JhengHei" pitchFamily="34" charset="-122"/>
                <a:cs typeface="Microsoft JhengHei" pitchFamily="34" charset="-120"/>
              </a:rPr>
              <a:t>4</a:t>
            </a:r>
            <a:endParaRPr lang="en-US" sz="1600" dirty="0"/>
          </a:p>
        </p:txBody>
      </p:sp>
      <p:sp>
        <p:nvSpPr>
          <p:cNvPr id="24" name="Text 22"/>
          <p:cNvSpPr/>
          <p:nvPr/>
        </p:nvSpPr>
        <p:spPr>
          <a:xfrm>
            <a:off x="1298448" y="3355848"/>
            <a:ext cx="7178040" cy="658368"/>
          </a:xfrm>
          <a:prstGeom prst="rect">
            <a:avLst/>
          </a:prstGeom>
          <a:noFill/>
          <a:ln/>
        </p:spPr>
        <p:txBody>
          <a:bodyPr wrap="square" lIns="0" tIns="0" rIns="0" bIns="0" rtlCol="0" anchor="ctr"/>
          <a:lstStyle/>
          <a:p>
            <a:pPr marL="0" indent="0">
              <a:lnSpc>
                <a:spcPct val="105000"/>
              </a:lnSpc>
              <a:buNone/>
            </a:pPr>
            <a:r>
              <a:rPr lang="en-US" sz="1400" b="1" dirty="0">
                <a:solidFill>
                  <a:srgbClr val="1F4E79"/>
                </a:solidFill>
                <a:latin typeface="Microsoft JhengHei" pitchFamily="34" charset="0"/>
                <a:ea typeface="Microsoft JhengHei" pitchFamily="34" charset="-122"/>
                <a:cs typeface="Microsoft JhengHei" pitchFamily="34" charset="-120"/>
              </a:rPr>
              <a:t>知識缺口分析與預測者　</a:t>
            </a:r>
            <a:r>
              <a:rPr lang="en-US" sz="1200" dirty="0">
                <a:solidFill>
                  <a:srgbClr val="1F2937"/>
                </a:solidFill>
                <a:latin typeface="Microsoft JhengHei" pitchFamily="34" charset="0"/>
                <a:ea typeface="Microsoft JhengHei" pitchFamily="34" charset="-122"/>
                <a:cs typeface="Microsoft JhengHei" pitchFamily="34" charset="-120"/>
              </a:rPr>
              <a:t>一次掃描全班紀錄，找出群體共同的推理謬誤；最高價值在「預測」風險，而非整理過去</a:t>
            </a:r>
            <a:endParaRPr lang="en-US" sz="1400" dirty="0"/>
          </a:p>
        </p:txBody>
      </p:sp>
      <p:sp>
        <p:nvSpPr>
          <p:cNvPr id="25" name="Shape 23"/>
          <p:cNvSpPr/>
          <p:nvPr/>
        </p:nvSpPr>
        <p:spPr>
          <a:xfrm>
            <a:off x="502920" y="4114800"/>
            <a:ext cx="8138160" cy="658368"/>
          </a:xfrm>
          <a:prstGeom prst="rect">
            <a:avLst/>
          </a:prstGeom>
          <a:solidFill>
            <a:srgbClr val="DEEBF7"/>
          </a:solidFill>
          <a:ln/>
        </p:spPr>
        <p:txBody>
          <a:bodyPr/>
          <a:lstStyle/>
          <a:p>
            <a:endParaRPr lang="zh-TW" altLang="en-US"/>
          </a:p>
        </p:txBody>
      </p:sp>
      <p:sp>
        <p:nvSpPr>
          <p:cNvPr id="26" name="Shape 24"/>
          <p:cNvSpPr/>
          <p:nvPr/>
        </p:nvSpPr>
        <p:spPr>
          <a:xfrm>
            <a:off x="502920" y="4114800"/>
            <a:ext cx="64008" cy="658368"/>
          </a:xfrm>
          <a:prstGeom prst="rect">
            <a:avLst/>
          </a:prstGeom>
          <a:solidFill>
            <a:srgbClr val="2E75B6"/>
          </a:solidFill>
          <a:ln/>
        </p:spPr>
        <p:txBody>
          <a:bodyPr/>
          <a:lstStyle/>
          <a:p>
            <a:endParaRPr lang="zh-TW" altLang="en-US"/>
          </a:p>
        </p:txBody>
      </p:sp>
      <p:sp>
        <p:nvSpPr>
          <p:cNvPr id="27" name="Shape 25"/>
          <p:cNvSpPr/>
          <p:nvPr/>
        </p:nvSpPr>
        <p:spPr>
          <a:xfrm>
            <a:off x="713232" y="4233672"/>
            <a:ext cx="420624" cy="420624"/>
          </a:xfrm>
          <a:prstGeom prst="ellipse">
            <a:avLst/>
          </a:prstGeom>
          <a:solidFill>
            <a:srgbClr val="1F4E79"/>
          </a:solidFill>
          <a:ln/>
        </p:spPr>
        <p:txBody>
          <a:bodyPr/>
          <a:lstStyle/>
          <a:p>
            <a:endParaRPr lang="zh-TW" altLang="en-US"/>
          </a:p>
        </p:txBody>
      </p:sp>
      <p:sp>
        <p:nvSpPr>
          <p:cNvPr id="28" name="Text 26"/>
          <p:cNvSpPr/>
          <p:nvPr/>
        </p:nvSpPr>
        <p:spPr>
          <a:xfrm>
            <a:off x="713232" y="4222699"/>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Microsoft JhengHei" pitchFamily="34" charset="0"/>
                <a:ea typeface="Microsoft JhengHei" pitchFamily="34" charset="-122"/>
                <a:cs typeface="Microsoft JhengHei" pitchFamily="34" charset="-120"/>
              </a:rPr>
              <a:t>5</a:t>
            </a:r>
            <a:endParaRPr lang="en-US" sz="1600" dirty="0"/>
          </a:p>
        </p:txBody>
      </p:sp>
      <p:sp>
        <p:nvSpPr>
          <p:cNvPr id="29" name="Text 27"/>
          <p:cNvSpPr/>
          <p:nvPr/>
        </p:nvSpPr>
        <p:spPr>
          <a:xfrm>
            <a:off x="1298448" y="4114800"/>
            <a:ext cx="7178040" cy="658368"/>
          </a:xfrm>
          <a:prstGeom prst="rect">
            <a:avLst/>
          </a:prstGeom>
          <a:noFill/>
          <a:ln/>
        </p:spPr>
        <p:txBody>
          <a:bodyPr wrap="square" lIns="0" tIns="0" rIns="0" bIns="0" rtlCol="0" anchor="ctr"/>
          <a:lstStyle/>
          <a:p>
            <a:pPr marL="0" indent="0">
              <a:lnSpc>
                <a:spcPct val="105000"/>
              </a:lnSpc>
              <a:buNone/>
            </a:pPr>
            <a:r>
              <a:rPr lang="en-US" sz="1400" b="1" dirty="0">
                <a:solidFill>
                  <a:srgbClr val="1F4E79"/>
                </a:solidFill>
                <a:latin typeface="Microsoft JhengHei" pitchFamily="34" charset="0"/>
                <a:ea typeface="Microsoft JhengHei" pitchFamily="34" charset="-122"/>
                <a:cs typeface="Microsoft JhengHei" pitchFamily="34" charset="-120"/>
              </a:rPr>
              <a:t>出題與教學協作助手　</a:t>
            </a:r>
            <a:r>
              <a:rPr lang="en-US" sz="1200" dirty="0">
                <a:solidFill>
                  <a:srgbClr val="1F2937"/>
                </a:solidFill>
                <a:latin typeface="Microsoft JhengHei" pitchFamily="34" charset="0"/>
                <a:ea typeface="Microsoft JhengHei" pitchFamily="34" charset="-122"/>
                <a:cs typeface="Microsoft JhengHei" pitchFamily="34" charset="-120"/>
              </a:rPr>
              <a:t>分段協作藍圖、考生指引、評分表、SP 劇本——AI 完成 80%，臨床專業把關 20%</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641080" y="4828032"/>
            <a:ext cx="365760" cy="274320"/>
          </a:xfrm>
          <a:prstGeom prst="rect">
            <a:avLst/>
          </a:prstGeom>
          <a:noFill/>
          <a:ln/>
        </p:spPr>
        <p:txBody>
          <a:bodyPr wrap="square" lIns="0" tIns="0" rIns="0" bIns="0" rtlCol="0" anchor="ctr"/>
          <a:lstStyle/>
          <a:p>
            <a:pPr marL="0" indent="0" algn="r">
              <a:buNone/>
            </a:pPr>
            <a:r>
              <a:rPr lang="en-US" sz="1000" dirty="0">
                <a:solidFill>
                  <a:srgbClr val="5B6B7F"/>
                </a:solidFill>
                <a:latin typeface="Microsoft JhengHei" pitchFamily="34" charset="0"/>
                <a:ea typeface="Microsoft JhengHei" pitchFamily="34" charset="-122"/>
                <a:cs typeface="Microsoft JhengHei" pitchFamily="34" charset="-120"/>
              </a:rPr>
              <a:t>25</a:t>
            </a:r>
            <a:endParaRPr lang="en-US" sz="1000" dirty="0"/>
          </a:p>
        </p:txBody>
      </p:sp>
      <p:sp>
        <p:nvSpPr>
          <p:cNvPr id="3" name="Text 1"/>
          <p:cNvSpPr/>
          <p:nvPr/>
        </p:nvSpPr>
        <p:spPr>
          <a:xfrm>
            <a:off x="502920" y="201168"/>
            <a:ext cx="8046720" cy="274320"/>
          </a:xfrm>
          <a:prstGeom prst="rect">
            <a:avLst/>
          </a:prstGeom>
          <a:noFill/>
          <a:ln/>
        </p:spPr>
        <p:txBody>
          <a:bodyPr wrap="square" lIns="0" tIns="0" rIns="0" bIns="0" rtlCol="0" anchor="ctr"/>
          <a:lstStyle/>
          <a:p>
            <a:pPr marL="0" indent="0">
              <a:buNone/>
            </a:pPr>
            <a:r>
              <a:rPr lang="en-US" sz="1200" b="1" kern="0" spc="200" dirty="0">
                <a:solidFill>
                  <a:srgbClr val="2E75B6"/>
                </a:solidFill>
                <a:latin typeface="Microsoft JhengHei" pitchFamily="34" charset="0"/>
                <a:ea typeface="Microsoft JhengHei" pitchFamily="34" charset="-122"/>
                <a:cs typeface="Microsoft JhengHei" pitchFamily="34" charset="-120"/>
              </a:rPr>
              <a:t>BOUNDARIES</a:t>
            </a:r>
            <a:endParaRPr lang="en-US" sz="1200" dirty="0"/>
          </a:p>
        </p:txBody>
      </p:sp>
      <p:sp>
        <p:nvSpPr>
          <p:cNvPr id="4" name="Text 2"/>
          <p:cNvSpPr/>
          <p:nvPr/>
        </p:nvSpPr>
        <p:spPr>
          <a:xfrm>
            <a:off x="502920" y="457200"/>
            <a:ext cx="8138160" cy="566928"/>
          </a:xfrm>
          <a:prstGeom prst="rect">
            <a:avLst/>
          </a:prstGeom>
          <a:noFill/>
          <a:ln/>
        </p:spPr>
        <p:txBody>
          <a:bodyPr wrap="square" lIns="0" tIns="0" rIns="0" bIns="0" rtlCol="0" anchor="ctr"/>
          <a:lstStyle/>
          <a:p>
            <a:pPr marL="0" indent="0">
              <a:buNone/>
            </a:pPr>
            <a:r>
              <a:rPr lang="en-US" sz="2700" b="1" dirty="0">
                <a:solidFill>
                  <a:srgbClr val="1F4E79"/>
                </a:solidFill>
                <a:latin typeface="Microsoft JhengHei" pitchFamily="34" charset="0"/>
                <a:ea typeface="Microsoft JhengHei" pitchFamily="34" charset="-122"/>
                <a:cs typeface="Microsoft JhengHei" pitchFamily="34" charset="-120"/>
              </a:rPr>
              <a:t>用對 LLM：能力邊界與資料治理</a:t>
            </a:r>
            <a:endParaRPr lang="en-US" sz="27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8138160" cy="1645920"/>
        </p:xfrm>
        <a:graphic>
          <a:graphicData uri="http://schemas.openxmlformats.org/drawingml/2006/table">
            <a:tbl>
              <a:tblPr/>
              <a:tblGrid>
                <a:gridCol w="155448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3337560">
                  <a:extLst>
                    <a:ext uri="{9D8B030D-6E8A-4147-A177-3AD203B41FA5}">
                      <a16:colId xmlns:a16="http://schemas.microsoft.com/office/drawing/2014/main" val="20002"/>
                    </a:ext>
                  </a:extLst>
                </a:gridCol>
              </a:tblGrid>
              <a:tr h="411480">
                <a:tc>
                  <a:txBody>
                    <a:bodyPr/>
                    <a:lstStyle/>
                    <a:p>
                      <a:pPr marL="0" indent="0" algn="ctr">
                        <a:buNone/>
                      </a:pPr>
                      <a:r>
                        <a:rPr lang="en-US" sz="1200" b="1" dirty="0">
                          <a:solidFill>
                            <a:srgbClr val="FFFFFF"/>
                          </a:solidFill>
                          <a:latin typeface="Microsoft JhengHei" pitchFamily="34" charset="0"/>
                          <a:ea typeface="Microsoft JhengHei" pitchFamily="34" charset="-122"/>
                          <a:cs typeface="Microsoft JhengHei" pitchFamily="34" charset="-120"/>
                        </a:rPr>
                        <a:t>比較</a:t>
                      </a:r>
                      <a:endParaRPr lang="en-US" sz="1200" dirty="0">
                        <a:latin typeface="Microsoft JhengHei" charset="0"/>
                        <a:ea typeface="Microsoft JhengHei" charset="0"/>
                        <a:cs typeface="Microsoft JhengHei" charset="0"/>
                      </a:endParaRPr>
                    </a:p>
                  </a:txBody>
                  <a:tcPr anchor="ctr">
                    <a:lnL w="9525" cap="flat" cmpd="sng" algn="ctr">
                      <a:solidFill>
                        <a:srgbClr val="BDD7EE"/>
                      </a:solidFill>
                      <a:prstDash val="solid"/>
                      <a:round/>
                      <a:headEnd type="none" w="med" len="med"/>
                      <a:tailEnd type="none" w="med" len="med"/>
                    </a:lnL>
                    <a:lnR w="9525" cap="flat" cmpd="sng" algn="ctr">
                      <a:solidFill>
                        <a:srgbClr val="BDD7EE"/>
                      </a:solidFill>
                      <a:prstDash val="solid"/>
                      <a:round/>
                      <a:headEnd type="none" w="med" len="med"/>
                      <a:tailEnd type="none" w="med" len="med"/>
                    </a:lnR>
                    <a:lnT w="9525" cap="flat" cmpd="sng" algn="ctr">
                      <a:solidFill>
                        <a:srgbClr val="BDD7EE"/>
                      </a:solidFill>
                      <a:prstDash val="solid"/>
                      <a:round/>
                      <a:headEnd type="none" w="med" len="med"/>
                      <a:tailEnd type="none" w="med" len="med"/>
                    </a:lnT>
                    <a:lnB w="9525" cap="flat" cmpd="sng" algn="ctr">
                      <a:solidFill>
                        <a:srgbClr val="BDD7EE"/>
                      </a:solidFill>
                      <a:prstDash val="solid"/>
                      <a:round/>
                      <a:headEnd type="none" w="med" len="med"/>
                      <a:tailEnd type="none" w="med" len="med"/>
                    </a:lnB>
                    <a:solidFill>
                      <a:srgbClr val="1F4E79"/>
                    </a:solidFill>
                  </a:tcPr>
                </a:tc>
                <a:tc>
                  <a:txBody>
                    <a:bodyPr/>
                    <a:lstStyle/>
                    <a:p>
                      <a:pPr marL="0" indent="0" algn="ctr">
                        <a:buNone/>
                      </a:pPr>
                      <a:r>
                        <a:rPr lang="en-US" sz="1200" b="1" dirty="0">
                          <a:solidFill>
                            <a:srgbClr val="FFFFFF"/>
                          </a:solidFill>
                          <a:latin typeface="Microsoft JhengHei" pitchFamily="34" charset="0"/>
                          <a:ea typeface="Microsoft JhengHei" pitchFamily="34" charset="-122"/>
                          <a:cs typeface="Microsoft JhengHei" pitchFamily="34" charset="-120"/>
                        </a:rPr>
                        <a:t>純語言模型 (LLM Only)</a:t>
                      </a:r>
                      <a:endParaRPr lang="en-US" sz="1200" dirty="0">
                        <a:latin typeface="Microsoft JhengHei" charset="0"/>
                        <a:ea typeface="Microsoft JhengHei" charset="0"/>
                        <a:cs typeface="Microsoft JhengHei" charset="0"/>
                      </a:endParaRPr>
                    </a:p>
                  </a:txBody>
                  <a:tcPr anchor="ctr">
                    <a:lnL w="9525" cap="flat" cmpd="sng" algn="ctr">
                      <a:solidFill>
                        <a:srgbClr val="BDD7EE"/>
                      </a:solidFill>
                      <a:prstDash val="solid"/>
                      <a:round/>
                      <a:headEnd type="none" w="med" len="med"/>
                      <a:tailEnd type="none" w="med" len="med"/>
                    </a:lnL>
                    <a:lnR w="9525" cap="flat" cmpd="sng" algn="ctr">
                      <a:solidFill>
                        <a:srgbClr val="BDD7EE"/>
                      </a:solidFill>
                      <a:prstDash val="solid"/>
                      <a:round/>
                      <a:headEnd type="none" w="med" len="med"/>
                      <a:tailEnd type="none" w="med" len="med"/>
                    </a:lnR>
                    <a:lnT w="9525" cap="flat" cmpd="sng" algn="ctr">
                      <a:solidFill>
                        <a:srgbClr val="BDD7EE"/>
                      </a:solidFill>
                      <a:prstDash val="solid"/>
                      <a:round/>
                      <a:headEnd type="none" w="med" len="med"/>
                      <a:tailEnd type="none" w="med" len="med"/>
                    </a:lnT>
                    <a:lnB w="9525" cap="flat" cmpd="sng" algn="ctr">
                      <a:solidFill>
                        <a:srgbClr val="BDD7EE"/>
                      </a:solidFill>
                      <a:prstDash val="solid"/>
                      <a:round/>
                      <a:headEnd type="none" w="med" len="med"/>
                      <a:tailEnd type="none" w="med" len="med"/>
                    </a:lnB>
                    <a:solidFill>
                      <a:srgbClr val="1F4E79"/>
                    </a:solidFill>
                  </a:tcPr>
                </a:tc>
                <a:tc>
                  <a:txBody>
                    <a:bodyPr/>
                    <a:lstStyle/>
                    <a:p>
                      <a:pPr marL="0" indent="0" algn="ctr">
                        <a:buNone/>
                      </a:pPr>
                      <a:r>
                        <a:rPr lang="en-US" sz="1200" b="1" dirty="0">
                          <a:solidFill>
                            <a:srgbClr val="FFFFFF"/>
                          </a:solidFill>
                          <a:latin typeface="Microsoft JhengHei" pitchFamily="34" charset="0"/>
                          <a:ea typeface="Microsoft JhengHei" pitchFamily="34" charset="-122"/>
                          <a:cs typeface="Microsoft JhengHei" pitchFamily="34" charset="-120"/>
                        </a:rPr>
                        <a:t>RAG 檢索增強生成</a:t>
                      </a:r>
                      <a:endParaRPr lang="en-US" sz="1200" dirty="0">
                        <a:latin typeface="Microsoft JhengHei" charset="0"/>
                        <a:ea typeface="Microsoft JhengHei" charset="0"/>
                        <a:cs typeface="Microsoft JhengHei" charset="0"/>
                      </a:endParaRPr>
                    </a:p>
                  </a:txBody>
                  <a:tcPr anchor="ctr">
                    <a:lnL w="9525" cap="flat" cmpd="sng" algn="ctr">
                      <a:solidFill>
                        <a:srgbClr val="BDD7EE"/>
                      </a:solidFill>
                      <a:prstDash val="solid"/>
                      <a:round/>
                      <a:headEnd type="none" w="med" len="med"/>
                      <a:tailEnd type="none" w="med" len="med"/>
                    </a:lnL>
                    <a:lnR w="9525" cap="flat" cmpd="sng" algn="ctr">
                      <a:solidFill>
                        <a:srgbClr val="BDD7EE"/>
                      </a:solidFill>
                      <a:prstDash val="solid"/>
                      <a:round/>
                      <a:headEnd type="none" w="med" len="med"/>
                      <a:tailEnd type="none" w="med" len="med"/>
                    </a:lnR>
                    <a:lnT w="9525" cap="flat" cmpd="sng" algn="ctr">
                      <a:solidFill>
                        <a:srgbClr val="BDD7EE"/>
                      </a:solidFill>
                      <a:prstDash val="solid"/>
                      <a:round/>
                      <a:headEnd type="none" w="med" len="med"/>
                      <a:tailEnd type="none" w="med" len="med"/>
                    </a:lnT>
                    <a:lnB w="9525" cap="flat" cmpd="sng" algn="ctr">
                      <a:solidFill>
                        <a:srgbClr val="BDD7EE"/>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411480">
                <a:tc>
                  <a:txBody>
                    <a:bodyPr/>
                    <a:lstStyle/>
                    <a:p>
                      <a:pPr marL="0" indent="0">
                        <a:buNone/>
                      </a:pPr>
                      <a:r>
                        <a:rPr lang="en-US" sz="1200" b="1" dirty="0">
                          <a:solidFill>
                            <a:srgbClr val="1F4E79"/>
                          </a:solidFill>
                          <a:latin typeface="Microsoft JhengHei" pitchFamily="34" charset="0"/>
                          <a:ea typeface="Microsoft JhengHei" pitchFamily="34" charset="-122"/>
                          <a:cs typeface="Microsoft JhengHei" pitchFamily="34" charset="-120"/>
                        </a:rPr>
                        <a:t>資訊即時性</a:t>
                      </a:r>
                      <a:endParaRPr lang="en-US" sz="1200" dirty="0">
                        <a:latin typeface="Microsoft JhengHei" charset="0"/>
                        <a:ea typeface="Microsoft JhengHei" charset="0"/>
                        <a:cs typeface="Microsoft JhengHei" charset="0"/>
                      </a:endParaRPr>
                    </a:p>
                  </a:txBody>
                  <a:tcPr anchor="ctr">
                    <a:lnL w="9525" cap="flat" cmpd="sng" algn="ctr">
                      <a:solidFill>
                        <a:srgbClr val="BDD7EE"/>
                      </a:solidFill>
                      <a:prstDash val="solid"/>
                      <a:round/>
                      <a:headEnd type="none" w="med" len="med"/>
                      <a:tailEnd type="none" w="med" len="med"/>
                    </a:lnL>
                    <a:lnR w="9525" cap="flat" cmpd="sng" algn="ctr">
                      <a:solidFill>
                        <a:srgbClr val="BDD7EE"/>
                      </a:solidFill>
                      <a:prstDash val="solid"/>
                      <a:round/>
                      <a:headEnd type="none" w="med" len="med"/>
                      <a:tailEnd type="none" w="med" len="med"/>
                    </a:lnR>
                    <a:lnT w="9525" cap="flat" cmpd="sng" algn="ctr">
                      <a:solidFill>
                        <a:srgbClr val="BDD7EE"/>
                      </a:solidFill>
                      <a:prstDash val="solid"/>
                      <a:round/>
                      <a:headEnd type="none" w="med" len="med"/>
                      <a:tailEnd type="none" w="med" len="med"/>
                    </a:lnT>
                    <a:lnB w="9525" cap="flat" cmpd="sng" algn="ctr">
                      <a:solidFill>
                        <a:srgbClr val="BDD7EE"/>
                      </a:solidFill>
                      <a:prstDash val="solid"/>
                      <a:round/>
                      <a:headEnd type="none" w="med" len="med"/>
                      <a:tailEnd type="none" w="med" len="med"/>
                    </a:lnB>
                    <a:solidFill>
                      <a:srgbClr val="DEEBF7"/>
                    </a:solidFill>
                  </a:tcPr>
                </a:tc>
                <a:tc>
                  <a:txBody>
                    <a:bodyPr/>
                    <a:lstStyle/>
                    <a:p>
                      <a:pPr marL="0" indent="0">
                        <a:buNone/>
                      </a:pPr>
                      <a:r>
                        <a:rPr lang="en-US" sz="1150" dirty="0">
                          <a:solidFill>
                            <a:srgbClr val="1F2937"/>
                          </a:solidFill>
                          <a:latin typeface="Microsoft JhengHei" pitchFamily="34" charset="0"/>
                          <a:ea typeface="Microsoft JhengHei" pitchFamily="34" charset="-122"/>
                          <a:cs typeface="Microsoft JhengHei" pitchFamily="34" charset="-120"/>
                        </a:rPr>
                        <a:t>停在訓練截止日</a:t>
                      </a:r>
                      <a:endParaRPr lang="en-US" sz="1150" dirty="0">
                        <a:latin typeface="Microsoft JhengHei" charset="0"/>
                        <a:ea typeface="Microsoft JhengHei" charset="0"/>
                        <a:cs typeface="Microsoft JhengHei" charset="0"/>
                      </a:endParaRPr>
                    </a:p>
                  </a:txBody>
                  <a:tcPr anchor="ctr">
                    <a:lnL w="9525" cap="flat" cmpd="sng" algn="ctr">
                      <a:solidFill>
                        <a:srgbClr val="BDD7EE"/>
                      </a:solidFill>
                      <a:prstDash val="solid"/>
                      <a:round/>
                      <a:headEnd type="none" w="med" len="med"/>
                      <a:tailEnd type="none" w="med" len="med"/>
                    </a:lnL>
                    <a:lnR w="9525" cap="flat" cmpd="sng" algn="ctr">
                      <a:solidFill>
                        <a:srgbClr val="BDD7EE"/>
                      </a:solidFill>
                      <a:prstDash val="solid"/>
                      <a:round/>
                      <a:headEnd type="none" w="med" len="med"/>
                      <a:tailEnd type="none" w="med" len="med"/>
                    </a:lnR>
                    <a:lnT w="9525" cap="flat" cmpd="sng" algn="ctr">
                      <a:solidFill>
                        <a:srgbClr val="BDD7EE"/>
                      </a:solidFill>
                      <a:prstDash val="solid"/>
                      <a:round/>
                      <a:headEnd type="none" w="med" len="med"/>
                      <a:tailEnd type="none" w="med" len="med"/>
                    </a:lnT>
                    <a:lnB w="9525" cap="flat" cmpd="sng" algn="ctr">
                      <a:solidFill>
                        <a:srgbClr val="BDD7EE"/>
                      </a:solidFill>
                      <a:prstDash val="solid"/>
                      <a:round/>
                      <a:headEnd type="none" w="med" len="med"/>
                      <a:tailEnd type="none" w="med" len="med"/>
                    </a:lnB>
                  </a:tcPr>
                </a:tc>
                <a:tc>
                  <a:txBody>
                    <a:bodyPr/>
                    <a:lstStyle/>
                    <a:p>
                      <a:pPr marL="0" indent="0">
                        <a:buNone/>
                      </a:pPr>
                      <a:r>
                        <a:rPr lang="en-US" sz="1150" dirty="0">
                          <a:solidFill>
                            <a:srgbClr val="1F2937"/>
                          </a:solidFill>
                          <a:latin typeface="Microsoft JhengHei" pitchFamily="34" charset="0"/>
                          <a:ea typeface="Microsoft JhengHei" pitchFamily="34" charset="-122"/>
                          <a:cs typeface="Microsoft JhengHei" pitchFamily="34" charset="-120"/>
                        </a:rPr>
                        <a:t>可檢索最新病例與指引</a:t>
                      </a:r>
                      <a:endParaRPr lang="en-US" sz="1150" dirty="0">
                        <a:latin typeface="Microsoft JhengHei" charset="0"/>
                        <a:ea typeface="Microsoft JhengHei" charset="0"/>
                        <a:cs typeface="Microsoft JhengHei" charset="0"/>
                      </a:endParaRPr>
                    </a:p>
                  </a:txBody>
                  <a:tcPr anchor="ctr">
                    <a:lnL w="9525" cap="flat" cmpd="sng" algn="ctr">
                      <a:solidFill>
                        <a:srgbClr val="BDD7EE"/>
                      </a:solidFill>
                      <a:prstDash val="solid"/>
                      <a:round/>
                      <a:headEnd type="none" w="med" len="med"/>
                      <a:tailEnd type="none" w="med" len="med"/>
                    </a:lnL>
                    <a:lnR w="9525" cap="flat" cmpd="sng" algn="ctr">
                      <a:solidFill>
                        <a:srgbClr val="BDD7EE"/>
                      </a:solidFill>
                      <a:prstDash val="solid"/>
                      <a:round/>
                      <a:headEnd type="none" w="med" len="med"/>
                      <a:tailEnd type="none" w="med" len="med"/>
                    </a:lnR>
                    <a:lnT w="9525" cap="flat" cmpd="sng" algn="ctr">
                      <a:solidFill>
                        <a:srgbClr val="BDD7EE"/>
                      </a:solidFill>
                      <a:prstDash val="solid"/>
                      <a:round/>
                      <a:headEnd type="none" w="med" len="med"/>
                      <a:tailEnd type="none" w="med" len="med"/>
                    </a:lnT>
                    <a:lnB w="9525" cap="flat" cmpd="sng" algn="ctr">
                      <a:solidFill>
                        <a:srgbClr val="BDD7EE"/>
                      </a:solidFill>
                      <a:prstDash val="solid"/>
                      <a:round/>
                      <a:headEnd type="none" w="med" len="med"/>
                      <a:tailEnd type="none" w="med" len="med"/>
                    </a:lnB>
                  </a:tcPr>
                </a:tc>
                <a:extLst>
                  <a:ext uri="{0D108BD9-81ED-4DB2-BD59-A6C34878D82A}">
                    <a16:rowId xmlns:a16="http://schemas.microsoft.com/office/drawing/2014/main" val="10001"/>
                  </a:ext>
                </a:extLst>
              </a:tr>
              <a:tr h="411480">
                <a:tc>
                  <a:txBody>
                    <a:bodyPr/>
                    <a:lstStyle/>
                    <a:p>
                      <a:pPr marL="0" indent="0">
                        <a:buNone/>
                      </a:pPr>
                      <a:r>
                        <a:rPr lang="en-US" sz="1200" b="1" dirty="0">
                          <a:solidFill>
                            <a:srgbClr val="1F4E79"/>
                          </a:solidFill>
                          <a:latin typeface="Microsoft JhengHei" pitchFamily="34" charset="0"/>
                          <a:ea typeface="Microsoft JhengHei" pitchFamily="34" charset="-122"/>
                          <a:cs typeface="Microsoft JhengHei" pitchFamily="34" charset="-120"/>
                        </a:rPr>
                        <a:t>來源可追溯</a:t>
                      </a:r>
                      <a:endParaRPr lang="en-US" sz="1200" dirty="0">
                        <a:latin typeface="Microsoft JhengHei" charset="0"/>
                        <a:ea typeface="Microsoft JhengHei" charset="0"/>
                        <a:cs typeface="Microsoft JhengHei" charset="0"/>
                      </a:endParaRPr>
                    </a:p>
                  </a:txBody>
                  <a:tcPr anchor="ctr">
                    <a:lnL w="9525" cap="flat" cmpd="sng" algn="ctr">
                      <a:solidFill>
                        <a:srgbClr val="BDD7EE"/>
                      </a:solidFill>
                      <a:prstDash val="solid"/>
                      <a:round/>
                      <a:headEnd type="none" w="med" len="med"/>
                      <a:tailEnd type="none" w="med" len="med"/>
                    </a:lnL>
                    <a:lnR w="9525" cap="flat" cmpd="sng" algn="ctr">
                      <a:solidFill>
                        <a:srgbClr val="BDD7EE"/>
                      </a:solidFill>
                      <a:prstDash val="solid"/>
                      <a:round/>
                      <a:headEnd type="none" w="med" len="med"/>
                      <a:tailEnd type="none" w="med" len="med"/>
                    </a:lnR>
                    <a:lnT w="9525" cap="flat" cmpd="sng" algn="ctr">
                      <a:solidFill>
                        <a:srgbClr val="BDD7EE"/>
                      </a:solidFill>
                      <a:prstDash val="solid"/>
                      <a:round/>
                      <a:headEnd type="none" w="med" len="med"/>
                      <a:tailEnd type="none" w="med" len="med"/>
                    </a:lnT>
                    <a:lnB w="9525" cap="flat" cmpd="sng" algn="ctr">
                      <a:solidFill>
                        <a:srgbClr val="BDD7EE"/>
                      </a:solidFill>
                      <a:prstDash val="solid"/>
                      <a:round/>
                      <a:headEnd type="none" w="med" len="med"/>
                      <a:tailEnd type="none" w="med" len="med"/>
                    </a:lnB>
                    <a:solidFill>
                      <a:srgbClr val="DEEBF7"/>
                    </a:solidFill>
                  </a:tcPr>
                </a:tc>
                <a:tc>
                  <a:txBody>
                    <a:bodyPr/>
                    <a:lstStyle/>
                    <a:p>
                      <a:pPr marL="0" indent="0">
                        <a:buNone/>
                      </a:pPr>
                      <a:r>
                        <a:rPr lang="en-US" sz="1150" dirty="0">
                          <a:solidFill>
                            <a:srgbClr val="1F2937"/>
                          </a:solidFill>
                          <a:latin typeface="Microsoft JhengHei" pitchFamily="34" charset="0"/>
                          <a:ea typeface="Microsoft JhengHei" pitchFamily="34" charset="-122"/>
                          <a:cs typeface="Microsoft JhengHei" pitchFamily="34" charset="-120"/>
                        </a:rPr>
                        <a:t>難追溯、易產生幻覺</a:t>
                      </a:r>
                      <a:endParaRPr lang="en-US" sz="1150" dirty="0">
                        <a:latin typeface="Microsoft JhengHei" charset="0"/>
                        <a:ea typeface="Microsoft JhengHei" charset="0"/>
                        <a:cs typeface="Microsoft JhengHei" charset="0"/>
                      </a:endParaRPr>
                    </a:p>
                  </a:txBody>
                  <a:tcPr anchor="ctr">
                    <a:lnL w="9525" cap="flat" cmpd="sng" algn="ctr">
                      <a:solidFill>
                        <a:srgbClr val="BDD7EE"/>
                      </a:solidFill>
                      <a:prstDash val="solid"/>
                      <a:round/>
                      <a:headEnd type="none" w="med" len="med"/>
                      <a:tailEnd type="none" w="med" len="med"/>
                    </a:lnL>
                    <a:lnR w="9525" cap="flat" cmpd="sng" algn="ctr">
                      <a:solidFill>
                        <a:srgbClr val="BDD7EE"/>
                      </a:solidFill>
                      <a:prstDash val="solid"/>
                      <a:round/>
                      <a:headEnd type="none" w="med" len="med"/>
                      <a:tailEnd type="none" w="med" len="med"/>
                    </a:lnR>
                    <a:lnT w="9525" cap="flat" cmpd="sng" algn="ctr">
                      <a:solidFill>
                        <a:srgbClr val="BDD7EE"/>
                      </a:solidFill>
                      <a:prstDash val="solid"/>
                      <a:round/>
                      <a:headEnd type="none" w="med" len="med"/>
                      <a:tailEnd type="none" w="med" len="med"/>
                    </a:lnT>
                    <a:lnB w="9525" cap="flat" cmpd="sng" algn="ctr">
                      <a:solidFill>
                        <a:srgbClr val="BDD7EE"/>
                      </a:solidFill>
                      <a:prstDash val="solid"/>
                      <a:round/>
                      <a:headEnd type="none" w="med" len="med"/>
                      <a:tailEnd type="none" w="med" len="med"/>
                    </a:lnB>
                  </a:tcPr>
                </a:tc>
                <a:tc>
                  <a:txBody>
                    <a:bodyPr/>
                    <a:lstStyle/>
                    <a:p>
                      <a:pPr marL="0" indent="0">
                        <a:buNone/>
                      </a:pPr>
                      <a:r>
                        <a:rPr lang="en-US" sz="1150" dirty="0">
                          <a:solidFill>
                            <a:srgbClr val="1F2937"/>
                          </a:solidFill>
                          <a:latin typeface="Microsoft JhengHei" pitchFamily="34" charset="0"/>
                          <a:ea typeface="Microsoft JhengHei" pitchFamily="34" charset="-122"/>
                          <a:cs typeface="Microsoft JhengHei" pitchFamily="34" charset="-120"/>
                        </a:rPr>
                        <a:t>能精確標註資訊來源</a:t>
                      </a:r>
                      <a:endParaRPr lang="en-US" sz="1150" dirty="0">
                        <a:latin typeface="Microsoft JhengHei" charset="0"/>
                        <a:ea typeface="Microsoft JhengHei" charset="0"/>
                        <a:cs typeface="Microsoft JhengHei" charset="0"/>
                      </a:endParaRPr>
                    </a:p>
                  </a:txBody>
                  <a:tcPr anchor="ctr">
                    <a:lnL w="9525" cap="flat" cmpd="sng" algn="ctr">
                      <a:solidFill>
                        <a:srgbClr val="BDD7EE"/>
                      </a:solidFill>
                      <a:prstDash val="solid"/>
                      <a:round/>
                      <a:headEnd type="none" w="med" len="med"/>
                      <a:tailEnd type="none" w="med" len="med"/>
                    </a:lnL>
                    <a:lnR w="9525" cap="flat" cmpd="sng" algn="ctr">
                      <a:solidFill>
                        <a:srgbClr val="BDD7EE"/>
                      </a:solidFill>
                      <a:prstDash val="solid"/>
                      <a:round/>
                      <a:headEnd type="none" w="med" len="med"/>
                      <a:tailEnd type="none" w="med" len="med"/>
                    </a:lnR>
                    <a:lnT w="9525" cap="flat" cmpd="sng" algn="ctr">
                      <a:solidFill>
                        <a:srgbClr val="BDD7EE"/>
                      </a:solidFill>
                      <a:prstDash val="solid"/>
                      <a:round/>
                      <a:headEnd type="none" w="med" len="med"/>
                      <a:tailEnd type="none" w="med" len="med"/>
                    </a:lnT>
                    <a:lnB w="9525" cap="flat" cmpd="sng" algn="ctr">
                      <a:solidFill>
                        <a:srgbClr val="BDD7EE"/>
                      </a:solidFill>
                      <a:prstDash val="solid"/>
                      <a:round/>
                      <a:headEnd type="none" w="med" len="med"/>
                      <a:tailEnd type="none" w="med" len="med"/>
                    </a:lnB>
                  </a:tcPr>
                </a:tc>
                <a:extLst>
                  <a:ext uri="{0D108BD9-81ED-4DB2-BD59-A6C34878D82A}">
                    <a16:rowId xmlns:a16="http://schemas.microsoft.com/office/drawing/2014/main" val="10002"/>
                  </a:ext>
                </a:extLst>
              </a:tr>
              <a:tr h="411480">
                <a:tc>
                  <a:txBody>
                    <a:bodyPr/>
                    <a:lstStyle/>
                    <a:p>
                      <a:pPr marL="0" indent="0">
                        <a:buNone/>
                      </a:pPr>
                      <a:r>
                        <a:rPr lang="en-US" sz="1200" b="1" dirty="0">
                          <a:solidFill>
                            <a:srgbClr val="1F4E79"/>
                          </a:solidFill>
                          <a:latin typeface="Microsoft JhengHei" pitchFamily="34" charset="0"/>
                          <a:ea typeface="Microsoft JhengHei" pitchFamily="34" charset="-122"/>
                          <a:cs typeface="Microsoft JhengHei" pitchFamily="34" charset="-120"/>
                        </a:rPr>
                        <a:t>運作類比</a:t>
                      </a:r>
                      <a:endParaRPr lang="en-US" sz="1200" dirty="0">
                        <a:latin typeface="Microsoft JhengHei" charset="0"/>
                        <a:ea typeface="Microsoft JhengHei" charset="0"/>
                        <a:cs typeface="Microsoft JhengHei" charset="0"/>
                      </a:endParaRPr>
                    </a:p>
                  </a:txBody>
                  <a:tcPr anchor="ctr">
                    <a:lnL w="9525" cap="flat" cmpd="sng" algn="ctr">
                      <a:solidFill>
                        <a:srgbClr val="BDD7EE"/>
                      </a:solidFill>
                      <a:prstDash val="solid"/>
                      <a:round/>
                      <a:headEnd type="none" w="med" len="med"/>
                      <a:tailEnd type="none" w="med" len="med"/>
                    </a:lnL>
                    <a:lnR w="9525" cap="flat" cmpd="sng" algn="ctr">
                      <a:solidFill>
                        <a:srgbClr val="BDD7EE"/>
                      </a:solidFill>
                      <a:prstDash val="solid"/>
                      <a:round/>
                      <a:headEnd type="none" w="med" len="med"/>
                      <a:tailEnd type="none" w="med" len="med"/>
                    </a:lnR>
                    <a:lnT w="9525" cap="flat" cmpd="sng" algn="ctr">
                      <a:solidFill>
                        <a:srgbClr val="BDD7EE"/>
                      </a:solidFill>
                      <a:prstDash val="solid"/>
                      <a:round/>
                      <a:headEnd type="none" w="med" len="med"/>
                      <a:tailEnd type="none" w="med" len="med"/>
                    </a:lnT>
                    <a:lnB w="9525" cap="flat" cmpd="sng" algn="ctr">
                      <a:solidFill>
                        <a:srgbClr val="BDD7EE"/>
                      </a:solidFill>
                      <a:prstDash val="solid"/>
                      <a:round/>
                      <a:headEnd type="none" w="med" len="med"/>
                      <a:tailEnd type="none" w="med" len="med"/>
                    </a:lnB>
                    <a:solidFill>
                      <a:srgbClr val="DEEBF7"/>
                    </a:solidFill>
                  </a:tcPr>
                </a:tc>
                <a:tc>
                  <a:txBody>
                    <a:bodyPr/>
                    <a:lstStyle/>
                    <a:p>
                      <a:pPr marL="0" indent="0">
                        <a:buNone/>
                      </a:pPr>
                      <a:r>
                        <a:rPr lang="en-US" sz="1150" dirty="0">
                          <a:solidFill>
                            <a:srgbClr val="1F2937"/>
                          </a:solidFill>
                          <a:latin typeface="Microsoft JhengHei" pitchFamily="34" charset="0"/>
                          <a:ea typeface="Microsoft JhengHei" pitchFamily="34" charset="-122"/>
                          <a:cs typeface="Microsoft JhengHei" pitchFamily="34" charset="-120"/>
                        </a:rPr>
                        <a:t>憑記憶回答的專家</a:t>
                      </a:r>
                      <a:endParaRPr lang="en-US" sz="1150" dirty="0">
                        <a:latin typeface="Microsoft JhengHei" charset="0"/>
                        <a:ea typeface="Microsoft JhengHei" charset="0"/>
                        <a:cs typeface="Microsoft JhengHei" charset="0"/>
                      </a:endParaRPr>
                    </a:p>
                  </a:txBody>
                  <a:tcPr anchor="ctr">
                    <a:lnL w="9525" cap="flat" cmpd="sng" algn="ctr">
                      <a:solidFill>
                        <a:srgbClr val="BDD7EE"/>
                      </a:solidFill>
                      <a:prstDash val="solid"/>
                      <a:round/>
                      <a:headEnd type="none" w="med" len="med"/>
                      <a:tailEnd type="none" w="med" len="med"/>
                    </a:lnL>
                    <a:lnR w="9525" cap="flat" cmpd="sng" algn="ctr">
                      <a:solidFill>
                        <a:srgbClr val="BDD7EE"/>
                      </a:solidFill>
                      <a:prstDash val="solid"/>
                      <a:round/>
                      <a:headEnd type="none" w="med" len="med"/>
                      <a:tailEnd type="none" w="med" len="med"/>
                    </a:lnR>
                    <a:lnT w="9525" cap="flat" cmpd="sng" algn="ctr">
                      <a:solidFill>
                        <a:srgbClr val="BDD7EE"/>
                      </a:solidFill>
                      <a:prstDash val="solid"/>
                      <a:round/>
                      <a:headEnd type="none" w="med" len="med"/>
                      <a:tailEnd type="none" w="med" len="med"/>
                    </a:lnT>
                    <a:lnB w="9525" cap="flat" cmpd="sng" algn="ctr">
                      <a:solidFill>
                        <a:srgbClr val="BDD7EE"/>
                      </a:solidFill>
                      <a:prstDash val="solid"/>
                      <a:round/>
                      <a:headEnd type="none" w="med" len="med"/>
                      <a:tailEnd type="none" w="med" len="med"/>
                    </a:lnB>
                  </a:tcPr>
                </a:tc>
                <a:tc>
                  <a:txBody>
                    <a:bodyPr/>
                    <a:lstStyle/>
                    <a:p>
                      <a:pPr marL="0" indent="0">
                        <a:buNone/>
                      </a:pPr>
                      <a:r>
                        <a:rPr lang="en-US" sz="1150" dirty="0">
                          <a:solidFill>
                            <a:srgbClr val="1F2937"/>
                          </a:solidFill>
                          <a:latin typeface="Microsoft JhengHei" pitchFamily="34" charset="0"/>
                          <a:ea typeface="Microsoft JhengHei" pitchFamily="34" charset="-122"/>
                          <a:cs typeface="Microsoft JhengHei" pitchFamily="34" charset="-120"/>
                        </a:rPr>
                        <a:t>專家＋會查檔案的「小秘書」</a:t>
                      </a:r>
                      <a:endParaRPr lang="en-US" sz="1150" dirty="0">
                        <a:latin typeface="Microsoft JhengHei" charset="0"/>
                        <a:ea typeface="Microsoft JhengHei" charset="0"/>
                        <a:cs typeface="Microsoft JhengHei" charset="0"/>
                      </a:endParaRPr>
                    </a:p>
                  </a:txBody>
                  <a:tcPr anchor="ctr">
                    <a:lnL w="9525" cap="flat" cmpd="sng" algn="ctr">
                      <a:solidFill>
                        <a:srgbClr val="BDD7EE"/>
                      </a:solidFill>
                      <a:prstDash val="solid"/>
                      <a:round/>
                      <a:headEnd type="none" w="med" len="med"/>
                      <a:tailEnd type="none" w="med" len="med"/>
                    </a:lnL>
                    <a:lnR w="9525" cap="flat" cmpd="sng" algn="ctr">
                      <a:solidFill>
                        <a:srgbClr val="BDD7EE"/>
                      </a:solidFill>
                      <a:prstDash val="solid"/>
                      <a:round/>
                      <a:headEnd type="none" w="med" len="med"/>
                      <a:tailEnd type="none" w="med" len="med"/>
                    </a:lnR>
                    <a:lnT w="9525" cap="flat" cmpd="sng" algn="ctr">
                      <a:solidFill>
                        <a:srgbClr val="BDD7EE"/>
                      </a:solidFill>
                      <a:prstDash val="solid"/>
                      <a:round/>
                      <a:headEnd type="none" w="med" len="med"/>
                      <a:tailEnd type="none" w="med" len="med"/>
                    </a:lnT>
                    <a:lnB w="9525" cap="flat" cmpd="sng" algn="ctr">
                      <a:solidFill>
                        <a:srgbClr val="BDD7EE"/>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Shape 3"/>
          <p:cNvSpPr/>
          <p:nvPr/>
        </p:nvSpPr>
        <p:spPr>
          <a:xfrm>
            <a:off x="502920" y="3108960"/>
            <a:ext cx="2606040" cy="1554480"/>
          </a:xfrm>
          <a:prstGeom prst="rect">
            <a:avLst/>
          </a:prstGeom>
          <a:solidFill>
            <a:srgbClr val="DEEBF7"/>
          </a:solidFill>
          <a:ln/>
        </p:spPr>
        <p:txBody>
          <a:bodyPr/>
          <a:lstStyle/>
          <a:p>
            <a:endParaRPr lang="zh-TW" altLang="en-US"/>
          </a:p>
        </p:txBody>
      </p:sp>
      <p:sp>
        <p:nvSpPr>
          <p:cNvPr id="7" name="Shape 4"/>
          <p:cNvSpPr/>
          <p:nvPr/>
        </p:nvSpPr>
        <p:spPr>
          <a:xfrm>
            <a:off x="502920" y="3108960"/>
            <a:ext cx="64008" cy="1554480"/>
          </a:xfrm>
          <a:prstGeom prst="rect">
            <a:avLst/>
          </a:prstGeom>
          <a:solidFill>
            <a:srgbClr val="2E75B6"/>
          </a:solidFill>
          <a:ln/>
        </p:spPr>
        <p:txBody>
          <a:bodyPr/>
          <a:lstStyle/>
          <a:p>
            <a:endParaRPr lang="zh-TW" altLang="en-US"/>
          </a:p>
        </p:txBody>
      </p:sp>
      <p:sp>
        <p:nvSpPr>
          <p:cNvPr id="8" name="Text 5"/>
          <p:cNvSpPr/>
          <p:nvPr/>
        </p:nvSpPr>
        <p:spPr>
          <a:xfrm>
            <a:off x="685800" y="3246120"/>
            <a:ext cx="2286000" cy="1325880"/>
          </a:xfrm>
          <a:prstGeom prst="rect">
            <a:avLst/>
          </a:prstGeom>
          <a:noFill/>
          <a:ln/>
        </p:spPr>
        <p:txBody>
          <a:bodyPr wrap="square" lIns="0" tIns="0" rIns="0" bIns="0" rtlCol="0" anchor="ctr"/>
          <a:lstStyle/>
          <a:p>
            <a:pPr marL="0" indent="0">
              <a:lnSpc>
                <a:spcPct val="112000"/>
              </a:lnSpc>
              <a:buNone/>
            </a:pPr>
            <a:r>
              <a:rPr lang="en-US" sz="1400" b="1" dirty="0">
                <a:solidFill>
                  <a:srgbClr val="1F4E79"/>
                </a:solidFill>
                <a:latin typeface="Microsoft JhengHei" pitchFamily="34" charset="0"/>
                <a:ea typeface="Microsoft JhengHei" pitchFamily="34" charset="-122"/>
                <a:cs typeface="Microsoft JhengHei" pitchFamily="34" charset="-120"/>
              </a:rPr>
              <a:t>治理「幻覺」</a:t>
            </a:r>
            <a:endParaRPr lang="en-US" sz="1400" dirty="0"/>
          </a:p>
          <a:p>
            <a:pPr marL="0" indent="0">
              <a:lnSpc>
                <a:spcPct val="112000"/>
              </a:lnSpc>
              <a:buNone/>
            </a:pPr>
            <a:endParaRPr lang="en-US" sz="1400" dirty="0"/>
          </a:p>
          <a:p>
            <a:pPr marL="0" indent="0">
              <a:lnSpc>
                <a:spcPct val="112000"/>
              </a:lnSpc>
              <a:buNone/>
            </a:pPr>
            <a:r>
              <a:rPr lang="en-US" sz="1200" dirty="0">
                <a:solidFill>
                  <a:srgbClr val="1F2937"/>
                </a:solidFill>
                <a:latin typeface="Microsoft JhengHei" pitchFamily="34" charset="0"/>
                <a:ea typeface="Microsoft JhengHei" pitchFamily="34" charset="-122"/>
                <a:cs typeface="Microsoft JhengHei" pitchFamily="34" charset="-120"/>
              </a:rPr>
              <a:t>兩階段指令：先列「所有可能」，再請模型「辨識最合適」，壓低過度自信</a:t>
            </a:r>
            <a:endParaRPr lang="en-US" sz="1400" dirty="0"/>
          </a:p>
        </p:txBody>
      </p:sp>
      <p:sp>
        <p:nvSpPr>
          <p:cNvPr id="9" name="Shape 6"/>
          <p:cNvSpPr/>
          <p:nvPr/>
        </p:nvSpPr>
        <p:spPr>
          <a:xfrm>
            <a:off x="3310128" y="3108960"/>
            <a:ext cx="2606040" cy="1554480"/>
          </a:xfrm>
          <a:prstGeom prst="rect">
            <a:avLst/>
          </a:prstGeom>
          <a:solidFill>
            <a:srgbClr val="DEEBF7"/>
          </a:solidFill>
          <a:ln/>
        </p:spPr>
        <p:txBody>
          <a:bodyPr/>
          <a:lstStyle/>
          <a:p>
            <a:endParaRPr lang="zh-TW" altLang="en-US"/>
          </a:p>
        </p:txBody>
      </p:sp>
      <p:sp>
        <p:nvSpPr>
          <p:cNvPr id="10" name="Shape 7"/>
          <p:cNvSpPr/>
          <p:nvPr/>
        </p:nvSpPr>
        <p:spPr>
          <a:xfrm>
            <a:off x="3310128" y="3108960"/>
            <a:ext cx="64008" cy="1554480"/>
          </a:xfrm>
          <a:prstGeom prst="rect">
            <a:avLst/>
          </a:prstGeom>
          <a:solidFill>
            <a:srgbClr val="2E75B6"/>
          </a:solidFill>
          <a:ln/>
        </p:spPr>
        <p:txBody>
          <a:bodyPr/>
          <a:lstStyle/>
          <a:p>
            <a:endParaRPr lang="zh-TW" altLang="en-US"/>
          </a:p>
        </p:txBody>
      </p:sp>
      <p:sp>
        <p:nvSpPr>
          <p:cNvPr id="11" name="Text 8"/>
          <p:cNvSpPr/>
          <p:nvPr/>
        </p:nvSpPr>
        <p:spPr>
          <a:xfrm>
            <a:off x="3493008" y="3246120"/>
            <a:ext cx="2286000" cy="1325880"/>
          </a:xfrm>
          <a:prstGeom prst="rect">
            <a:avLst/>
          </a:prstGeom>
          <a:noFill/>
          <a:ln/>
        </p:spPr>
        <p:txBody>
          <a:bodyPr wrap="square" lIns="0" tIns="0" rIns="0" bIns="0" rtlCol="0" anchor="ctr"/>
          <a:lstStyle/>
          <a:p>
            <a:pPr marL="0" indent="0">
              <a:lnSpc>
                <a:spcPct val="112000"/>
              </a:lnSpc>
              <a:buNone/>
            </a:pPr>
            <a:r>
              <a:rPr lang="en-US" sz="1400" b="1" dirty="0">
                <a:solidFill>
                  <a:srgbClr val="1F4E79"/>
                </a:solidFill>
                <a:latin typeface="Microsoft JhengHei" pitchFamily="34" charset="0"/>
                <a:ea typeface="Microsoft JhengHei" pitchFamily="34" charset="-122"/>
                <a:cs typeface="Microsoft JhengHei" pitchFamily="34" charset="-120"/>
              </a:rPr>
              <a:t>診斷 RAG 失敗</a:t>
            </a:r>
            <a:endParaRPr lang="en-US" sz="1400" dirty="0"/>
          </a:p>
          <a:p>
            <a:pPr marL="0" indent="0">
              <a:lnSpc>
                <a:spcPct val="112000"/>
              </a:lnSpc>
              <a:buNone/>
            </a:pPr>
            <a:endParaRPr lang="en-US" sz="1400" dirty="0"/>
          </a:p>
          <a:p>
            <a:pPr marL="0" indent="0">
              <a:lnSpc>
                <a:spcPct val="112000"/>
              </a:lnSpc>
              <a:buNone/>
            </a:pPr>
            <a:r>
              <a:rPr lang="en-US" sz="1200" dirty="0">
                <a:solidFill>
                  <a:srgbClr val="1F2937"/>
                </a:solidFill>
                <a:latin typeface="Microsoft JhengHei" pitchFamily="34" charset="0"/>
                <a:ea typeface="Microsoft JhengHei" pitchFamily="34" charset="-122"/>
                <a:cs typeface="Microsoft JhengHei" pitchFamily="34" charset="-120"/>
              </a:rPr>
              <a:t>答錯常是「小秘書」沒找到檔案（利基領域知識缺口），不是模型不夠聰明</a:t>
            </a:r>
            <a:endParaRPr lang="en-US" sz="1400" dirty="0"/>
          </a:p>
        </p:txBody>
      </p:sp>
      <p:sp>
        <p:nvSpPr>
          <p:cNvPr id="12" name="Shape 9"/>
          <p:cNvSpPr/>
          <p:nvPr/>
        </p:nvSpPr>
        <p:spPr>
          <a:xfrm>
            <a:off x="6117336" y="3108960"/>
            <a:ext cx="2606040" cy="1554480"/>
          </a:xfrm>
          <a:prstGeom prst="rect">
            <a:avLst/>
          </a:prstGeom>
          <a:solidFill>
            <a:srgbClr val="DEEBF7"/>
          </a:solidFill>
          <a:ln/>
        </p:spPr>
        <p:txBody>
          <a:bodyPr/>
          <a:lstStyle/>
          <a:p>
            <a:endParaRPr lang="zh-TW" altLang="en-US"/>
          </a:p>
        </p:txBody>
      </p:sp>
      <p:sp>
        <p:nvSpPr>
          <p:cNvPr id="13" name="Shape 10"/>
          <p:cNvSpPr/>
          <p:nvPr/>
        </p:nvSpPr>
        <p:spPr>
          <a:xfrm>
            <a:off x="6117336" y="3108960"/>
            <a:ext cx="64008" cy="1554480"/>
          </a:xfrm>
          <a:prstGeom prst="rect">
            <a:avLst/>
          </a:prstGeom>
          <a:solidFill>
            <a:srgbClr val="2E75B6"/>
          </a:solidFill>
          <a:ln/>
        </p:spPr>
        <p:txBody>
          <a:bodyPr/>
          <a:lstStyle/>
          <a:p>
            <a:endParaRPr lang="zh-TW" altLang="en-US"/>
          </a:p>
        </p:txBody>
      </p:sp>
      <p:sp>
        <p:nvSpPr>
          <p:cNvPr id="14" name="Text 11"/>
          <p:cNvSpPr/>
          <p:nvPr/>
        </p:nvSpPr>
        <p:spPr>
          <a:xfrm>
            <a:off x="6300216" y="3246120"/>
            <a:ext cx="2286000" cy="1325880"/>
          </a:xfrm>
          <a:prstGeom prst="rect">
            <a:avLst/>
          </a:prstGeom>
          <a:noFill/>
          <a:ln/>
        </p:spPr>
        <p:txBody>
          <a:bodyPr wrap="square" lIns="0" tIns="0" rIns="0" bIns="0" rtlCol="0" anchor="ctr"/>
          <a:lstStyle/>
          <a:p>
            <a:pPr marL="0" indent="0">
              <a:lnSpc>
                <a:spcPct val="112000"/>
              </a:lnSpc>
              <a:buNone/>
            </a:pPr>
            <a:r>
              <a:rPr lang="en-US" sz="1400" b="1" dirty="0">
                <a:solidFill>
                  <a:srgbClr val="1F4E79"/>
                </a:solidFill>
                <a:latin typeface="Microsoft JhengHei" pitchFamily="34" charset="0"/>
                <a:ea typeface="Microsoft JhengHei" pitchFamily="34" charset="-122"/>
                <a:cs typeface="Microsoft JhengHei" pitchFamily="34" charset="-120"/>
              </a:rPr>
              <a:t>資料治理</a:t>
            </a:r>
            <a:endParaRPr lang="en-US" sz="1400" dirty="0"/>
          </a:p>
          <a:p>
            <a:pPr marL="0" indent="0">
              <a:lnSpc>
                <a:spcPct val="112000"/>
              </a:lnSpc>
              <a:buNone/>
            </a:pPr>
            <a:endParaRPr lang="en-US" sz="1400" dirty="0"/>
          </a:p>
          <a:p>
            <a:pPr marL="0" indent="0">
              <a:lnSpc>
                <a:spcPct val="112000"/>
              </a:lnSpc>
              <a:buNone/>
            </a:pPr>
            <a:r>
              <a:rPr lang="en-US" sz="1200" dirty="0">
                <a:solidFill>
                  <a:srgbClr val="1F2937"/>
                </a:solidFill>
                <a:latin typeface="Microsoft JhengHei" pitchFamily="34" charset="0"/>
                <a:ea typeface="Microsoft JhengHei" pitchFamily="34" charset="-122"/>
                <a:cs typeface="Microsoft JhengHei" pitchFamily="34" charset="-120"/>
              </a:rPr>
              <a:t>「資料不離院」＋部門權限管控——AI 像「隔壁大媽」，可能洩漏跨部門敏感資訊</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641080" y="4828032"/>
            <a:ext cx="365760" cy="274320"/>
          </a:xfrm>
          <a:prstGeom prst="rect">
            <a:avLst/>
          </a:prstGeom>
          <a:noFill/>
          <a:ln/>
        </p:spPr>
        <p:txBody>
          <a:bodyPr wrap="square" lIns="0" tIns="0" rIns="0" bIns="0" rtlCol="0" anchor="ctr"/>
          <a:lstStyle/>
          <a:p>
            <a:pPr marL="0" indent="0" algn="r">
              <a:buNone/>
            </a:pPr>
            <a:r>
              <a:rPr lang="en-US" sz="1000" dirty="0">
                <a:solidFill>
                  <a:srgbClr val="5B6B7F"/>
                </a:solidFill>
                <a:latin typeface="Microsoft JhengHei" pitchFamily="34" charset="0"/>
                <a:ea typeface="Microsoft JhengHei" pitchFamily="34" charset="-122"/>
                <a:cs typeface="Microsoft JhengHei" pitchFamily="34" charset="-120"/>
              </a:rPr>
              <a:t>26</a:t>
            </a:r>
            <a:endParaRPr lang="en-US" sz="1000" dirty="0"/>
          </a:p>
        </p:txBody>
      </p:sp>
      <p:sp>
        <p:nvSpPr>
          <p:cNvPr id="3" name="Text 1"/>
          <p:cNvSpPr/>
          <p:nvPr/>
        </p:nvSpPr>
        <p:spPr>
          <a:xfrm>
            <a:off x="502920" y="201168"/>
            <a:ext cx="8046720" cy="274320"/>
          </a:xfrm>
          <a:prstGeom prst="rect">
            <a:avLst/>
          </a:prstGeom>
          <a:noFill/>
          <a:ln/>
        </p:spPr>
        <p:txBody>
          <a:bodyPr wrap="square" lIns="0" tIns="0" rIns="0" bIns="0" rtlCol="0" anchor="ctr"/>
          <a:lstStyle/>
          <a:p>
            <a:pPr marL="0" indent="0">
              <a:buNone/>
            </a:pPr>
            <a:r>
              <a:rPr lang="en-US" sz="1200" b="1" kern="0" spc="200" dirty="0">
                <a:solidFill>
                  <a:srgbClr val="2E75B6"/>
                </a:solidFill>
                <a:latin typeface="Microsoft JhengHei" pitchFamily="34" charset="0"/>
                <a:ea typeface="Microsoft JhengHei" pitchFamily="34" charset="-122"/>
                <a:cs typeface="Microsoft JhengHei" pitchFamily="34" charset="-120"/>
              </a:rPr>
              <a:t>HUMAN ALIGNMENT</a:t>
            </a:r>
            <a:endParaRPr lang="en-US" sz="1200" dirty="0"/>
          </a:p>
        </p:txBody>
      </p:sp>
      <p:sp>
        <p:nvSpPr>
          <p:cNvPr id="4" name="Text 2"/>
          <p:cNvSpPr/>
          <p:nvPr/>
        </p:nvSpPr>
        <p:spPr>
          <a:xfrm>
            <a:off x="502920" y="457200"/>
            <a:ext cx="8138160" cy="566928"/>
          </a:xfrm>
          <a:prstGeom prst="rect">
            <a:avLst/>
          </a:prstGeom>
          <a:noFill/>
          <a:ln/>
        </p:spPr>
        <p:txBody>
          <a:bodyPr wrap="square" lIns="0" tIns="0" rIns="0" bIns="0" rtlCol="0" anchor="ctr"/>
          <a:lstStyle/>
          <a:p>
            <a:pPr marL="0" indent="0">
              <a:buNone/>
            </a:pPr>
            <a:r>
              <a:rPr lang="en-US" sz="2700" b="1" dirty="0">
                <a:solidFill>
                  <a:srgbClr val="1F4E79"/>
                </a:solidFill>
                <a:latin typeface="Microsoft JhengHei" pitchFamily="34" charset="0"/>
                <a:ea typeface="Microsoft JhengHei" pitchFamily="34" charset="-122"/>
                <a:cs typeface="Microsoft JhengHei" pitchFamily="34" charset="-120"/>
              </a:rPr>
              <a:t>LLM-in-the-Loop：教師是最終的把關者</a:t>
            </a:r>
            <a:endParaRPr lang="en-US" sz="2700" dirty="0"/>
          </a:p>
        </p:txBody>
      </p:sp>
      <p:sp>
        <p:nvSpPr>
          <p:cNvPr id="5" name="Shape 3"/>
          <p:cNvSpPr/>
          <p:nvPr/>
        </p:nvSpPr>
        <p:spPr>
          <a:xfrm>
            <a:off x="502920" y="1234440"/>
            <a:ext cx="2468880" cy="1051560"/>
          </a:xfrm>
          <a:prstGeom prst="rect">
            <a:avLst/>
          </a:prstGeom>
          <a:solidFill>
            <a:srgbClr val="DEEBF7"/>
          </a:solidFill>
          <a:ln/>
        </p:spPr>
        <p:txBody>
          <a:bodyPr/>
          <a:lstStyle/>
          <a:p>
            <a:endParaRPr lang="zh-TW" altLang="en-US"/>
          </a:p>
        </p:txBody>
      </p:sp>
      <p:sp>
        <p:nvSpPr>
          <p:cNvPr id="6" name="Text 4"/>
          <p:cNvSpPr/>
          <p:nvPr/>
        </p:nvSpPr>
        <p:spPr>
          <a:xfrm>
            <a:off x="502920" y="1234440"/>
            <a:ext cx="2468880" cy="1051560"/>
          </a:xfrm>
          <a:prstGeom prst="rect">
            <a:avLst/>
          </a:prstGeom>
          <a:noFill/>
          <a:ln/>
        </p:spPr>
        <p:txBody>
          <a:bodyPr wrap="square" lIns="0" tIns="0" rIns="0" bIns="0" rtlCol="0" anchor="ctr"/>
          <a:lstStyle/>
          <a:p>
            <a:pPr marL="0" indent="0" algn="ctr">
              <a:lnSpc>
                <a:spcPct val="110000"/>
              </a:lnSpc>
              <a:buNone/>
            </a:pPr>
            <a:r>
              <a:rPr lang="en-US" sz="1600" b="1" dirty="0">
                <a:solidFill>
                  <a:srgbClr val="1F4E79"/>
                </a:solidFill>
                <a:latin typeface="Microsoft JhengHei" pitchFamily="34" charset="0"/>
                <a:ea typeface="Microsoft JhengHei" pitchFamily="34" charset="-122"/>
                <a:cs typeface="Microsoft JhengHei" pitchFamily="34" charset="-120"/>
              </a:rPr>
              <a:t>理解</a:t>
            </a:r>
            <a:endParaRPr lang="en-US" sz="1600" dirty="0"/>
          </a:p>
          <a:p>
            <a:pPr marL="0" indent="0" algn="ctr">
              <a:lnSpc>
                <a:spcPct val="110000"/>
              </a:lnSpc>
              <a:buNone/>
            </a:pPr>
            <a:r>
              <a:rPr lang="en-US" sz="1100" dirty="0">
                <a:solidFill>
                  <a:srgbClr val="1F2937"/>
                </a:solidFill>
                <a:latin typeface="Microsoft JhengHei" pitchFamily="34" charset="0"/>
                <a:ea typeface="Microsoft JhengHei" pitchFamily="34" charset="-122"/>
                <a:cs typeface="Microsoft JhengHei" pitchFamily="34" charset="-120"/>
              </a:rPr>
              <a:t>AI 讀懂並整理大量資料</a:t>
            </a:r>
            <a:endParaRPr lang="en-US" sz="1600" dirty="0"/>
          </a:p>
        </p:txBody>
      </p:sp>
      <p:sp>
        <p:nvSpPr>
          <p:cNvPr id="7" name="Text 5"/>
          <p:cNvSpPr/>
          <p:nvPr/>
        </p:nvSpPr>
        <p:spPr>
          <a:xfrm>
            <a:off x="2953512" y="1234440"/>
            <a:ext cx="365760" cy="1051560"/>
          </a:xfrm>
          <a:prstGeom prst="rect">
            <a:avLst/>
          </a:prstGeom>
          <a:noFill/>
          <a:ln/>
        </p:spPr>
        <p:txBody>
          <a:bodyPr wrap="square" lIns="0" tIns="0" rIns="0" bIns="0" rtlCol="0" anchor="ctr"/>
          <a:lstStyle/>
          <a:p>
            <a:pPr marL="0" indent="0" algn="ctr">
              <a:buNone/>
            </a:pPr>
            <a:r>
              <a:rPr lang="en-US" sz="2000" b="1" dirty="0">
                <a:solidFill>
                  <a:srgbClr val="2E75B6"/>
                </a:solidFill>
                <a:latin typeface="Microsoft JhengHei" pitchFamily="34" charset="0"/>
                <a:ea typeface="Microsoft JhengHei" pitchFamily="34" charset="-122"/>
                <a:cs typeface="Microsoft JhengHei" pitchFamily="34" charset="-120"/>
              </a:rPr>
              <a:t>→</a:t>
            </a:r>
            <a:endParaRPr lang="en-US" sz="2000" dirty="0"/>
          </a:p>
        </p:txBody>
      </p:sp>
      <p:sp>
        <p:nvSpPr>
          <p:cNvPr id="8" name="Shape 6"/>
          <p:cNvSpPr/>
          <p:nvPr/>
        </p:nvSpPr>
        <p:spPr>
          <a:xfrm>
            <a:off x="3310128" y="1234440"/>
            <a:ext cx="2468880" cy="1051560"/>
          </a:xfrm>
          <a:prstGeom prst="rect">
            <a:avLst/>
          </a:prstGeom>
          <a:solidFill>
            <a:srgbClr val="DEEBF7"/>
          </a:solidFill>
          <a:ln/>
        </p:spPr>
        <p:txBody>
          <a:bodyPr/>
          <a:lstStyle/>
          <a:p>
            <a:endParaRPr lang="zh-TW" altLang="en-US"/>
          </a:p>
        </p:txBody>
      </p:sp>
      <p:sp>
        <p:nvSpPr>
          <p:cNvPr id="9" name="Text 7"/>
          <p:cNvSpPr/>
          <p:nvPr/>
        </p:nvSpPr>
        <p:spPr>
          <a:xfrm>
            <a:off x="3310128" y="1234440"/>
            <a:ext cx="2468880" cy="1051560"/>
          </a:xfrm>
          <a:prstGeom prst="rect">
            <a:avLst/>
          </a:prstGeom>
          <a:noFill/>
          <a:ln/>
        </p:spPr>
        <p:txBody>
          <a:bodyPr wrap="square" lIns="0" tIns="0" rIns="0" bIns="0" rtlCol="0" anchor="ctr"/>
          <a:lstStyle/>
          <a:p>
            <a:pPr marL="0" indent="0" algn="ctr">
              <a:lnSpc>
                <a:spcPct val="110000"/>
              </a:lnSpc>
              <a:buNone/>
            </a:pPr>
            <a:r>
              <a:rPr lang="en-US" sz="1600" b="1" dirty="0">
                <a:solidFill>
                  <a:srgbClr val="1F4E79"/>
                </a:solidFill>
                <a:latin typeface="Microsoft JhengHei" pitchFamily="34" charset="0"/>
                <a:ea typeface="Microsoft JhengHei" pitchFamily="34" charset="-122"/>
                <a:cs typeface="Microsoft JhengHei" pitchFamily="34" charset="-120"/>
              </a:rPr>
              <a:t>解釋</a:t>
            </a:r>
            <a:endParaRPr lang="en-US" sz="1600" dirty="0"/>
          </a:p>
          <a:p>
            <a:pPr marL="0" indent="0" algn="ctr">
              <a:lnSpc>
                <a:spcPct val="110000"/>
              </a:lnSpc>
              <a:buNone/>
            </a:pPr>
            <a:r>
              <a:rPr lang="en-US" sz="1100" dirty="0">
                <a:solidFill>
                  <a:srgbClr val="1F2937"/>
                </a:solidFill>
                <a:latin typeface="Microsoft JhengHei" pitchFamily="34" charset="0"/>
                <a:ea typeface="Microsoft JhengHei" pitchFamily="34" charset="-122"/>
                <a:cs typeface="Microsoft JhengHei" pitchFamily="34" charset="-120"/>
              </a:rPr>
              <a:t>產出洞察與評量草稿</a:t>
            </a:r>
            <a:endParaRPr lang="en-US" sz="1600" dirty="0"/>
          </a:p>
        </p:txBody>
      </p:sp>
      <p:sp>
        <p:nvSpPr>
          <p:cNvPr id="10" name="Text 8"/>
          <p:cNvSpPr/>
          <p:nvPr/>
        </p:nvSpPr>
        <p:spPr>
          <a:xfrm>
            <a:off x="5760720" y="1234440"/>
            <a:ext cx="365760" cy="1051560"/>
          </a:xfrm>
          <a:prstGeom prst="rect">
            <a:avLst/>
          </a:prstGeom>
          <a:noFill/>
          <a:ln/>
        </p:spPr>
        <p:txBody>
          <a:bodyPr wrap="square" lIns="0" tIns="0" rIns="0" bIns="0" rtlCol="0" anchor="ctr"/>
          <a:lstStyle/>
          <a:p>
            <a:pPr marL="0" indent="0" algn="ctr">
              <a:buNone/>
            </a:pPr>
            <a:r>
              <a:rPr lang="en-US" sz="2000" b="1" dirty="0">
                <a:solidFill>
                  <a:srgbClr val="2E75B6"/>
                </a:solidFill>
                <a:latin typeface="Microsoft JhengHei" pitchFamily="34" charset="0"/>
                <a:ea typeface="Microsoft JhengHei" pitchFamily="34" charset="-122"/>
                <a:cs typeface="Microsoft JhengHei" pitchFamily="34" charset="-120"/>
              </a:rPr>
              <a:t>→</a:t>
            </a:r>
            <a:endParaRPr lang="en-US" sz="2000" dirty="0"/>
          </a:p>
        </p:txBody>
      </p:sp>
      <p:sp>
        <p:nvSpPr>
          <p:cNvPr id="11" name="Shape 9"/>
          <p:cNvSpPr/>
          <p:nvPr/>
        </p:nvSpPr>
        <p:spPr>
          <a:xfrm>
            <a:off x="6117336" y="1234440"/>
            <a:ext cx="2468880" cy="1051560"/>
          </a:xfrm>
          <a:prstGeom prst="rect">
            <a:avLst/>
          </a:prstGeom>
          <a:solidFill>
            <a:srgbClr val="1F4E79"/>
          </a:solidFill>
          <a:ln/>
        </p:spPr>
        <p:txBody>
          <a:bodyPr/>
          <a:lstStyle/>
          <a:p>
            <a:endParaRPr lang="zh-TW" altLang="en-US"/>
          </a:p>
        </p:txBody>
      </p:sp>
      <p:sp>
        <p:nvSpPr>
          <p:cNvPr id="12" name="Text 10"/>
          <p:cNvSpPr/>
          <p:nvPr/>
        </p:nvSpPr>
        <p:spPr>
          <a:xfrm>
            <a:off x="6117336" y="1234440"/>
            <a:ext cx="2468880" cy="1051560"/>
          </a:xfrm>
          <a:prstGeom prst="rect">
            <a:avLst/>
          </a:prstGeom>
          <a:noFill/>
          <a:ln/>
        </p:spPr>
        <p:txBody>
          <a:bodyPr wrap="square" lIns="0" tIns="0" rIns="0" bIns="0" rtlCol="0" anchor="ctr"/>
          <a:lstStyle/>
          <a:p>
            <a:pPr marL="0" indent="0" algn="ctr">
              <a:lnSpc>
                <a:spcPct val="110000"/>
              </a:lnSpc>
              <a:buNone/>
            </a:pPr>
            <a:r>
              <a:rPr lang="en-US" sz="1600" b="1" dirty="0">
                <a:solidFill>
                  <a:srgbClr val="FFFFFF"/>
                </a:solidFill>
                <a:latin typeface="Microsoft JhengHei" pitchFamily="34" charset="0"/>
                <a:ea typeface="Microsoft JhengHei" pitchFamily="34" charset="-122"/>
                <a:cs typeface="Microsoft JhengHei" pitchFamily="34" charset="-120"/>
              </a:rPr>
              <a:t>回饋</a:t>
            </a:r>
            <a:endParaRPr lang="en-US" sz="1600" dirty="0"/>
          </a:p>
          <a:p>
            <a:pPr marL="0" indent="0" algn="ctr">
              <a:lnSpc>
                <a:spcPct val="110000"/>
              </a:lnSpc>
              <a:buNone/>
            </a:pPr>
            <a:r>
              <a:rPr lang="en-US" sz="1100" dirty="0">
                <a:solidFill>
                  <a:srgbClr val="BDD7EE"/>
                </a:solidFill>
                <a:latin typeface="Microsoft JhengHei" pitchFamily="34" charset="0"/>
                <a:ea typeface="Microsoft JhengHei" pitchFamily="34" charset="-122"/>
                <a:cs typeface="Microsoft JhengHei" pitchFamily="34" charset="-120"/>
              </a:rPr>
              <a:t>教師核實、對齊、定稿</a:t>
            </a:r>
            <a:endParaRPr lang="en-US" sz="1600" dirty="0"/>
          </a:p>
        </p:txBody>
      </p:sp>
      <p:sp>
        <p:nvSpPr>
          <p:cNvPr id="13" name="Text 11"/>
          <p:cNvSpPr/>
          <p:nvPr/>
        </p:nvSpPr>
        <p:spPr>
          <a:xfrm>
            <a:off x="502920" y="2395728"/>
            <a:ext cx="8138160" cy="320040"/>
          </a:xfrm>
          <a:prstGeom prst="rect">
            <a:avLst/>
          </a:prstGeom>
          <a:noFill/>
          <a:ln/>
        </p:spPr>
        <p:txBody>
          <a:bodyPr wrap="square" lIns="0" tIns="0" rIns="0" bIns="0" rtlCol="0" anchor="ctr"/>
          <a:lstStyle/>
          <a:p>
            <a:pPr marL="0" indent="0" algn="ctr">
              <a:buNone/>
            </a:pPr>
            <a:r>
              <a:rPr lang="en-US" sz="1100" i="1" dirty="0">
                <a:solidFill>
                  <a:srgbClr val="5B6B7F"/>
                </a:solidFill>
                <a:latin typeface="Microsoft JhengHei" pitchFamily="34" charset="0"/>
                <a:ea typeface="Microsoft JhengHei" pitchFamily="34" charset="-122"/>
                <a:cs typeface="Microsoft JhengHei" pitchFamily="34" charset="-120"/>
              </a:rPr>
              <a:t>↺ 理解 → 解釋 → 回饋：隨資料累積，循環持續優化教學內容</a:t>
            </a:r>
            <a:endParaRPr lang="en-US" sz="1100" dirty="0"/>
          </a:p>
        </p:txBody>
      </p:sp>
      <p:sp>
        <p:nvSpPr>
          <p:cNvPr id="14" name="Shape 12"/>
          <p:cNvSpPr/>
          <p:nvPr/>
        </p:nvSpPr>
        <p:spPr>
          <a:xfrm>
            <a:off x="502920" y="2880360"/>
            <a:ext cx="8138160" cy="868680"/>
          </a:xfrm>
          <a:prstGeom prst="rect">
            <a:avLst/>
          </a:prstGeom>
          <a:solidFill>
            <a:srgbClr val="DEEBF7"/>
          </a:solidFill>
          <a:ln/>
        </p:spPr>
        <p:txBody>
          <a:bodyPr/>
          <a:lstStyle/>
          <a:p>
            <a:endParaRPr lang="zh-TW" altLang="en-US"/>
          </a:p>
        </p:txBody>
      </p:sp>
      <p:sp>
        <p:nvSpPr>
          <p:cNvPr id="15" name="Shape 13"/>
          <p:cNvSpPr/>
          <p:nvPr/>
        </p:nvSpPr>
        <p:spPr>
          <a:xfrm>
            <a:off x="502920" y="2880360"/>
            <a:ext cx="64008" cy="868680"/>
          </a:xfrm>
          <a:prstGeom prst="rect">
            <a:avLst/>
          </a:prstGeom>
          <a:solidFill>
            <a:srgbClr val="2E75B6"/>
          </a:solidFill>
          <a:ln/>
        </p:spPr>
        <p:txBody>
          <a:bodyPr/>
          <a:lstStyle/>
          <a:p>
            <a:endParaRPr lang="zh-TW" altLang="en-US"/>
          </a:p>
        </p:txBody>
      </p:sp>
      <p:sp>
        <p:nvSpPr>
          <p:cNvPr id="16" name="Text 14"/>
          <p:cNvSpPr/>
          <p:nvPr/>
        </p:nvSpPr>
        <p:spPr>
          <a:xfrm>
            <a:off x="731520" y="2880360"/>
            <a:ext cx="7680960" cy="868680"/>
          </a:xfrm>
          <a:prstGeom prst="rect">
            <a:avLst/>
          </a:prstGeom>
          <a:noFill/>
          <a:ln/>
        </p:spPr>
        <p:txBody>
          <a:bodyPr wrap="square" lIns="0" tIns="0" rIns="0" bIns="0" rtlCol="0" anchor="ctr"/>
          <a:lstStyle/>
          <a:p>
            <a:pPr marL="0" indent="0">
              <a:lnSpc>
                <a:spcPct val="115000"/>
              </a:lnSpc>
              <a:buNone/>
            </a:pPr>
            <a:r>
              <a:rPr lang="en-US" sz="1400" b="1" dirty="0">
                <a:solidFill>
                  <a:srgbClr val="1F4E79"/>
                </a:solidFill>
                <a:latin typeface="Microsoft JhengHei" pitchFamily="34" charset="0"/>
                <a:ea typeface="Microsoft JhengHei" pitchFamily="34" charset="-122"/>
                <a:cs typeface="Microsoft JhengHei" pitchFamily="34" charset="-120"/>
              </a:rPr>
              <a:t>教師的新角色＝工作流管理者　</a:t>
            </a:r>
            <a:r>
              <a:rPr lang="en-US" sz="1200" dirty="0">
                <a:solidFill>
                  <a:srgbClr val="1F2937"/>
                </a:solidFill>
                <a:latin typeface="Microsoft JhengHei" pitchFamily="34" charset="0"/>
                <a:ea typeface="Microsoft JhengHei" pitchFamily="34" charset="-122"/>
                <a:cs typeface="Microsoft JhengHei" pitchFamily="34" charset="-120"/>
              </a:rPr>
              <a:t>負責「人類對齊（Human Alignment）」：確保 AI 產出符合醫學倫理、教育宗旨與法律責任；醫師、教師是責任的最終承擔者。</a:t>
            </a:r>
            <a:endParaRPr lang="en-US" sz="1400" dirty="0"/>
          </a:p>
        </p:txBody>
      </p:sp>
      <p:sp>
        <p:nvSpPr>
          <p:cNvPr id="17" name="Shape 15"/>
          <p:cNvSpPr/>
          <p:nvPr/>
        </p:nvSpPr>
        <p:spPr>
          <a:xfrm>
            <a:off x="502920" y="3977640"/>
            <a:ext cx="8138160" cy="713232"/>
          </a:xfrm>
          <a:prstGeom prst="rect">
            <a:avLst/>
          </a:prstGeom>
          <a:solidFill>
            <a:srgbClr val="1F4E79"/>
          </a:solidFill>
          <a:ln/>
        </p:spPr>
        <p:txBody>
          <a:bodyPr/>
          <a:lstStyle/>
          <a:p>
            <a:endParaRPr lang="zh-TW" altLang="en-US"/>
          </a:p>
        </p:txBody>
      </p:sp>
      <p:sp>
        <p:nvSpPr>
          <p:cNvPr id="18" name="Text 16"/>
          <p:cNvSpPr/>
          <p:nvPr/>
        </p:nvSpPr>
        <p:spPr>
          <a:xfrm>
            <a:off x="731520" y="3977640"/>
            <a:ext cx="7680960" cy="713232"/>
          </a:xfrm>
          <a:prstGeom prst="rect">
            <a:avLst/>
          </a:prstGeom>
          <a:noFill/>
          <a:ln/>
        </p:spPr>
        <p:txBody>
          <a:bodyPr wrap="square" lIns="0" tIns="0" rIns="0" bIns="0" rtlCol="0" anchor="ctr"/>
          <a:lstStyle/>
          <a:p>
            <a:pPr marL="0" indent="0" algn="ctr">
              <a:buNone/>
            </a:pPr>
            <a:r>
              <a:rPr lang="en-US" sz="1600" b="1" dirty="0">
                <a:solidFill>
                  <a:srgbClr val="FFFFFF"/>
                </a:solidFill>
                <a:latin typeface="Microsoft JhengHei" pitchFamily="34" charset="0"/>
                <a:ea typeface="Microsoft JhengHei" pitchFamily="34" charset="-122"/>
                <a:cs typeface="Microsoft JhengHei" pitchFamily="34" charset="-120"/>
              </a:rPr>
              <a:t>「模型不是醫師，它是具備理解能力的智慧資料管理員。」</a:t>
            </a:r>
            <a:endParaRPr lang="en-US" sz="1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641080" y="4828032"/>
            <a:ext cx="365760" cy="274320"/>
          </a:xfrm>
          <a:prstGeom prst="rect">
            <a:avLst/>
          </a:prstGeom>
          <a:noFill/>
          <a:ln/>
        </p:spPr>
        <p:txBody>
          <a:bodyPr wrap="square" lIns="0" tIns="0" rIns="0" bIns="0" rtlCol="0" anchor="ctr"/>
          <a:lstStyle/>
          <a:p>
            <a:pPr marL="0" indent="0" algn="r">
              <a:buNone/>
            </a:pPr>
            <a:r>
              <a:rPr lang="en-US" sz="1000" dirty="0">
                <a:solidFill>
                  <a:srgbClr val="5B6B7F"/>
                </a:solidFill>
                <a:latin typeface="Microsoft JhengHei" pitchFamily="34" charset="0"/>
                <a:ea typeface="Microsoft JhengHei" pitchFamily="34" charset="-122"/>
                <a:cs typeface="Microsoft JhengHei" pitchFamily="34" charset="-120"/>
              </a:rPr>
              <a:t>27</a:t>
            </a:r>
            <a:endParaRPr lang="en-US" sz="1000" dirty="0"/>
          </a:p>
        </p:txBody>
      </p:sp>
      <p:sp>
        <p:nvSpPr>
          <p:cNvPr id="3" name="Text 1"/>
          <p:cNvSpPr/>
          <p:nvPr/>
        </p:nvSpPr>
        <p:spPr>
          <a:xfrm>
            <a:off x="502920" y="201168"/>
            <a:ext cx="8046720" cy="274320"/>
          </a:xfrm>
          <a:prstGeom prst="rect">
            <a:avLst/>
          </a:prstGeom>
          <a:noFill/>
          <a:ln/>
        </p:spPr>
        <p:txBody>
          <a:bodyPr wrap="square" lIns="0" tIns="0" rIns="0" bIns="0" rtlCol="0" anchor="ctr"/>
          <a:lstStyle/>
          <a:p>
            <a:pPr marL="0" indent="0">
              <a:buNone/>
            </a:pPr>
            <a:r>
              <a:rPr lang="en-US" sz="1200" b="1" kern="0" spc="200" dirty="0">
                <a:solidFill>
                  <a:srgbClr val="2E75B6"/>
                </a:solidFill>
                <a:latin typeface="Microsoft JhengHei" pitchFamily="34" charset="0"/>
                <a:ea typeface="Microsoft JhengHei" pitchFamily="34" charset="-122"/>
                <a:cs typeface="Microsoft JhengHei" pitchFamily="34" charset="-120"/>
              </a:rPr>
              <a:t>HUMAN-IN-THE-LOOP</a:t>
            </a:r>
            <a:endParaRPr lang="en-US" sz="1200" dirty="0"/>
          </a:p>
        </p:txBody>
      </p:sp>
      <p:sp>
        <p:nvSpPr>
          <p:cNvPr id="4" name="Text 2"/>
          <p:cNvSpPr/>
          <p:nvPr/>
        </p:nvSpPr>
        <p:spPr>
          <a:xfrm>
            <a:off x="502920" y="457200"/>
            <a:ext cx="8138160" cy="566928"/>
          </a:xfrm>
          <a:prstGeom prst="rect">
            <a:avLst/>
          </a:prstGeom>
          <a:noFill/>
          <a:ln/>
        </p:spPr>
        <p:txBody>
          <a:bodyPr wrap="square" lIns="0" tIns="0" rIns="0" bIns="0" rtlCol="0" anchor="ctr"/>
          <a:lstStyle/>
          <a:p>
            <a:pPr marL="0" indent="0">
              <a:buNone/>
            </a:pPr>
            <a:r>
              <a:rPr lang="en-US" sz="2700" b="1" dirty="0">
                <a:solidFill>
                  <a:srgbClr val="1F4E79"/>
                </a:solidFill>
                <a:latin typeface="Microsoft JhengHei" pitchFamily="34" charset="0"/>
                <a:ea typeface="Microsoft JhengHei" pitchFamily="34" charset="-122"/>
                <a:cs typeface="Microsoft JhengHei" pitchFamily="34" charset="-120"/>
              </a:rPr>
              <a:t>人為什麼一定要留在迴圈裡</a:t>
            </a:r>
            <a:endParaRPr lang="en-US" sz="2700" dirty="0"/>
          </a:p>
        </p:txBody>
      </p:sp>
      <p:sp>
        <p:nvSpPr>
          <p:cNvPr id="5" name="Shape 3"/>
          <p:cNvSpPr/>
          <p:nvPr/>
        </p:nvSpPr>
        <p:spPr>
          <a:xfrm>
            <a:off x="502920" y="1143000"/>
            <a:ext cx="3931920" cy="3200400"/>
          </a:xfrm>
          <a:prstGeom prst="rect">
            <a:avLst/>
          </a:prstGeom>
          <a:solidFill>
            <a:srgbClr val="DEEBF7"/>
          </a:solidFill>
          <a:ln/>
        </p:spPr>
        <p:txBody>
          <a:bodyPr/>
          <a:lstStyle/>
          <a:p>
            <a:endParaRPr lang="zh-TW" altLang="en-US"/>
          </a:p>
        </p:txBody>
      </p:sp>
      <p:sp>
        <p:nvSpPr>
          <p:cNvPr id="6" name="Shape 4"/>
          <p:cNvSpPr/>
          <p:nvPr/>
        </p:nvSpPr>
        <p:spPr>
          <a:xfrm>
            <a:off x="502920" y="1143000"/>
            <a:ext cx="64008" cy="3200400"/>
          </a:xfrm>
          <a:prstGeom prst="rect">
            <a:avLst/>
          </a:prstGeom>
          <a:solidFill>
            <a:srgbClr val="2E75B6"/>
          </a:solidFill>
          <a:ln/>
        </p:spPr>
        <p:txBody>
          <a:bodyPr/>
          <a:lstStyle/>
          <a:p>
            <a:endParaRPr lang="zh-TW" altLang="en-US"/>
          </a:p>
        </p:txBody>
      </p:sp>
      <p:sp>
        <p:nvSpPr>
          <p:cNvPr id="7" name="Text 5"/>
          <p:cNvSpPr/>
          <p:nvPr/>
        </p:nvSpPr>
        <p:spPr>
          <a:xfrm>
            <a:off x="731520" y="1261872"/>
            <a:ext cx="3474720" cy="320040"/>
          </a:xfrm>
          <a:prstGeom prst="rect">
            <a:avLst/>
          </a:prstGeom>
          <a:noFill/>
          <a:ln/>
        </p:spPr>
        <p:txBody>
          <a:bodyPr wrap="square" lIns="0" tIns="0" rIns="0" bIns="0" rtlCol="0" anchor="ctr"/>
          <a:lstStyle/>
          <a:p>
            <a:pPr marL="0" indent="0">
              <a:buNone/>
            </a:pPr>
            <a:r>
              <a:rPr lang="en-US" sz="1500" b="1" dirty="0">
                <a:solidFill>
                  <a:srgbClr val="1F4E79"/>
                </a:solidFill>
                <a:latin typeface="Microsoft JhengHei" pitchFamily="34" charset="0"/>
                <a:ea typeface="Microsoft JhengHei" pitchFamily="34" charset="-122"/>
                <a:cs typeface="Microsoft JhengHei" pitchFamily="34" charset="-120"/>
              </a:rPr>
              <a:t>概念</a:t>
            </a:r>
            <a:endParaRPr lang="en-US" sz="1500" dirty="0"/>
          </a:p>
        </p:txBody>
      </p:sp>
      <p:sp>
        <p:nvSpPr>
          <p:cNvPr id="8" name="Text 6"/>
          <p:cNvSpPr/>
          <p:nvPr/>
        </p:nvSpPr>
        <p:spPr>
          <a:xfrm>
            <a:off x="731520" y="1664208"/>
            <a:ext cx="3520440" cy="2606040"/>
          </a:xfrm>
          <a:prstGeom prst="rect">
            <a:avLst/>
          </a:prstGeom>
          <a:noFill/>
          <a:ln/>
        </p:spPr>
        <p:txBody>
          <a:bodyPr wrap="square" lIns="0" tIns="0" rIns="0" bIns="0" rtlCol="0" anchor="ctr"/>
          <a:lstStyle/>
          <a:p>
            <a:pPr marL="0" indent="0">
              <a:lnSpc>
                <a:spcPct val="112000"/>
              </a:lnSpc>
              <a:buNone/>
            </a:pPr>
            <a:r>
              <a:rPr lang="en-US" sz="1200" dirty="0">
                <a:solidFill>
                  <a:srgbClr val="1F2937"/>
                </a:solidFill>
                <a:latin typeface="Microsoft JhengHei" pitchFamily="34" charset="0"/>
                <a:ea typeface="Microsoft JhengHei" pitchFamily="34" charset="-122"/>
                <a:cs typeface="Microsoft JhengHei" pitchFamily="34" charset="-120"/>
              </a:rPr>
              <a:t>AI 負責產生、人負責把關——產出須經人審閱、修正、核可後才生效。</a:t>
            </a:r>
            <a:endParaRPr lang="en-US" sz="1200" dirty="0"/>
          </a:p>
          <a:p>
            <a:pPr marL="0" indent="0">
              <a:lnSpc>
                <a:spcPct val="112000"/>
              </a:lnSpc>
              <a:buNone/>
            </a:pPr>
            <a:endParaRPr lang="en-US" sz="1200" dirty="0"/>
          </a:p>
          <a:p>
            <a:pPr marL="0" indent="0">
              <a:lnSpc>
                <a:spcPct val="112000"/>
              </a:lnSpc>
              <a:buNone/>
            </a:pPr>
            <a:r>
              <a:rPr lang="en-US" sz="1400" b="1" dirty="0">
                <a:solidFill>
                  <a:srgbClr val="1F4E79"/>
                </a:solidFill>
                <a:latin typeface="Microsoft JhengHei" pitchFamily="34" charset="0"/>
                <a:ea typeface="Microsoft JhengHei" pitchFamily="34" charset="-122"/>
                <a:cs typeface="Microsoft JhengHei" pitchFamily="34" charset="-120"/>
              </a:rPr>
              <a:t>輸入把關　</a:t>
            </a:r>
            <a:r>
              <a:rPr lang="en-US" sz="1200" dirty="0">
                <a:solidFill>
                  <a:srgbClr val="1F2937"/>
                </a:solidFill>
                <a:latin typeface="Microsoft JhengHei" pitchFamily="34" charset="0"/>
                <a:ea typeface="Microsoft JhengHei" pitchFamily="34" charset="-122"/>
                <a:cs typeface="Microsoft JhengHei" pitchFamily="34" charset="-120"/>
              </a:rPr>
              <a:t>指令明確、不放病人可識別資料、權限控管</a:t>
            </a:r>
            <a:endParaRPr lang="en-US" sz="1200" dirty="0"/>
          </a:p>
          <a:p>
            <a:pPr marL="0" indent="0">
              <a:lnSpc>
                <a:spcPct val="112000"/>
              </a:lnSpc>
              <a:buNone/>
            </a:pPr>
            <a:endParaRPr lang="en-US" sz="1200" dirty="0"/>
          </a:p>
          <a:p>
            <a:pPr marL="0" indent="0">
              <a:lnSpc>
                <a:spcPct val="112000"/>
              </a:lnSpc>
              <a:buNone/>
            </a:pPr>
            <a:r>
              <a:rPr lang="en-US" sz="1400" b="1" dirty="0">
                <a:solidFill>
                  <a:srgbClr val="1F4E79"/>
                </a:solidFill>
                <a:latin typeface="Microsoft JhengHei" pitchFamily="34" charset="0"/>
                <a:ea typeface="Microsoft JhengHei" pitchFamily="34" charset="-122"/>
                <a:cs typeface="Microsoft JhengHei" pitchFamily="34" charset="-120"/>
              </a:rPr>
              <a:t>過程監督　</a:t>
            </a:r>
            <a:r>
              <a:rPr lang="en-US" sz="1200" dirty="0">
                <a:solidFill>
                  <a:srgbClr val="1F2937"/>
                </a:solidFill>
                <a:latin typeface="Microsoft JhengHei" pitchFamily="34" charset="0"/>
                <a:ea typeface="Microsoft JhengHei" pitchFamily="34" charset="-122"/>
                <a:cs typeface="Microsoft JhengHei" pitchFamily="34" charset="-120"/>
              </a:rPr>
              <a:t>分段審閱、兩階段提問、查核臨床正確性</a:t>
            </a:r>
            <a:endParaRPr lang="en-US" sz="1200" dirty="0"/>
          </a:p>
          <a:p>
            <a:pPr marL="0" indent="0">
              <a:lnSpc>
                <a:spcPct val="112000"/>
              </a:lnSpc>
              <a:buNone/>
            </a:pPr>
            <a:endParaRPr lang="en-US" sz="1200" dirty="0"/>
          </a:p>
          <a:p>
            <a:pPr marL="0" indent="0">
              <a:lnSpc>
                <a:spcPct val="112000"/>
              </a:lnSpc>
              <a:buNone/>
            </a:pPr>
            <a:r>
              <a:rPr lang="en-US" sz="1400" b="1" dirty="0">
                <a:solidFill>
                  <a:srgbClr val="1F4E79"/>
                </a:solidFill>
                <a:latin typeface="Microsoft JhengHei" pitchFamily="34" charset="0"/>
                <a:ea typeface="Microsoft JhengHei" pitchFamily="34" charset="-122"/>
                <a:cs typeface="Microsoft JhengHei" pitchFamily="34" charset="-120"/>
              </a:rPr>
              <a:t>輸出定稿　</a:t>
            </a:r>
            <a:r>
              <a:rPr lang="en-US" sz="1200" dirty="0">
                <a:solidFill>
                  <a:srgbClr val="1F2937"/>
                </a:solidFill>
                <a:latin typeface="Microsoft JhengHei" pitchFamily="34" charset="0"/>
                <a:ea typeface="Microsoft JhengHei" pitchFamily="34" charset="-122"/>
                <a:cs typeface="Microsoft JhengHei" pitchFamily="34" charset="-120"/>
              </a:rPr>
              <a:t>人類對齊、最終核可、承擔責任</a:t>
            </a:r>
            <a:endParaRPr lang="en-US" sz="1200" dirty="0"/>
          </a:p>
        </p:txBody>
      </p:sp>
      <p:sp>
        <p:nvSpPr>
          <p:cNvPr id="9" name="Shape 7"/>
          <p:cNvSpPr/>
          <p:nvPr/>
        </p:nvSpPr>
        <p:spPr>
          <a:xfrm>
            <a:off x="4709160" y="1143000"/>
            <a:ext cx="3931920" cy="3200400"/>
          </a:xfrm>
          <a:prstGeom prst="rect">
            <a:avLst/>
          </a:prstGeom>
          <a:solidFill>
            <a:srgbClr val="DEEBF7"/>
          </a:solidFill>
          <a:ln/>
        </p:spPr>
        <p:txBody>
          <a:bodyPr/>
          <a:lstStyle/>
          <a:p>
            <a:endParaRPr lang="zh-TW" altLang="en-US"/>
          </a:p>
        </p:txBody>
      </p:sp>
      <p:sp>
        <p:nvSpPr>
          <p:cNvPr id="10" name="Shape 8"/>
          <p:cNvSpPr/>
          <p:nvPr/>
        </p:nvSpPr>
        <p:spPr>
          <a:xfrm>
            <a:off x="4709160" y="1143000"/>
            <a:ext cx="64008" cy="3200400"/>
          </a:xfrm>
          <a:prstGeom prst="rect">
            <a:avLst/>
          </a:prstGeom>
          <a:solidFill>
            <a:srgbClr val="2E75B6"/>
          </a:solidFill>
          <a:ln/>
        </p:spPr>
        <p:txBody>
          <a:bodyPr/>
          <a:lstStyle/>
          <a:p>
            <a:endParaRPr lang="zh-TW" altLang="en-US"/>
          </a:p>
        </p:txBody>
      </p:sp>
      <p:sp>
        <p:nvSpPr>
          <p:cNvPr id="11" name="Text 9"/>
          <p:cNvSpPr/>
          <p:nvPr/>
        </p:nvSpPr>
        <p:spPr>
          <a:xfrm>
            <a:off x="4937760" y="1261872"/>
            <a:ext cx="3474720" cy="320040"/>
          </a:xfrm>
          <a:prstGeom prst="rect">
            <a:avLst/>
          </a:prstGeom>
          <a:noFill/>
          <a:ln/>
        </p:spPr>
        <p:txBody>
          <a:bodyPr wrap="square" lIns="0" tIns="0" rIns="0" bIns="0" rtlCol="0" anchor="ctr"/>
          <a:lstStyle/>
          <a:p>
            <a:pPr marL="0" indent="0">
              <a:buNone/>
            </a:pPr>
            <a:r>
              <a:rPr lang="en-US" sz="1500" b="1" dirty="0">
                <a:solidFill>
                  <a:srgbClr val="1F4E79"/>
                </a:solidFill>
                <a:latin typeface="Microsoft JhengHei" pitchFamily="34" charset="0"/>
                <a:ea typeface="Microsoft JhengHei" pitchFamily="34" charset="-122"/>
                <a:cs typeface="Microsoft JhengHei" pitchFamily="34" charset="-120"/>
              </a:rPr>
              <a:t>為什麼重要</a:t>
            </a:r>
            <a:endParaRPr lang="en-US" sz="1500" dirty="0"/>
          </a:p>
        </p:txBody>
      </p:sp>
      <p:sp>
        <p:nvSpPr>
          <p:cNvPr id="12" name="Text 10"/>
          <p:cNvSpPr/>
          <p:nvPr/>
        </p:nvSpPr>
        <p:spPr>
          <a:xfrm>
            <a:off x="4937760" y="1664208"/>
            <a:ext cx="3520440" cy="2606040"/>
          </a:xfrm>
          <a:prstGeom prst="rect">
            <a:avLst/>
          </a:prstGeom>
          <a:noFill/>
          <a:ln/>
        </p:spPr>
        <p:txBody>
          <a:bodyPr wrap="square" lIns="0" tIns="0" rIns="0" bIns="0" rtlCol="0" anchor="ctr"/>
          <a:lstStyle/>
          <a:p>
            <a:pPr marL="0" indent="0">
              <a:lnSpc>
                <a:spcPct val="112000"/>
              </a:lnSpc>
              <a:buNone/>
            </a:pPr>
            <a:r>
              <a:rPr lang="en-US" sz="1400" b="1" dirty="0">
                <a:solidFill>
                  <a:srgbClr val="C00000"/>
                </a:solidFill>
                <a:latin typeface="Microsoft JhengHei" pitchFamily="34" charset="0"/>
                <a:ea typeface="Microsoft JhengHei" pitchFamily="34" charset="-122"/>
                <a:cs typeface="Microsoft JhengHei" pitchFamily="34" charset="-120"/>
              </a:rPr>
              <a:t>幻覺(Hallucination)　</a:t>
            </a:r>
            <a:r>
              <a:rPr lang="en-US" sz="1200" dirty="0">
                <a:solidFill>
                  <a:srgbClr val="1F2937"/>
                </a:solidFill>
                <a:latin typeface="Microsoft JhengHei" pitchFamily="34" charset="0"/>
                <a:ea typeface="Microsoft JhengHei" pitchFamily="34" charset="-122"/>
                <a:cs typeface="Microsoft JhengHei" pitchFamily="34" charset="-120"/>
              </a:rPr>
              <a:t>模型會「自信地說錯」；醫療不容許看似正確的錯誤</a:t>
            </a:r>
            <a:endParaRPr lang="en-US" sz="1400" dirty="0"/>
          </a:p>
          <a:p>
            <a:pPr marL="0" indent="0">
              <a:lnSpc>
                <a:spcPct val="112000"/>
              </a:lnSpc>
              <a:buNone/>
            </a:pPr>
            <a:endParaRPr lang="en-US" sz="1400" dirty="0"/>
          </a:p>
          <a:p>
            <a:pPr marL="0" indent="0">
              <a:lnSpc>
                <a:spcPct val="112000"/>
              </a:lnSpc>
              <a:buNone/>
            </a:pPr>
            <a:r>
              <a:rPr lang="en-US" sz="1400" b="1" dirty="0">
                <a:solidFill>
                  <a:srgbClr val="C00000"/>
                </a:solidFill>
                <a:latin typeface="Microsoft JhengHei" pitchFamily="34" charset="0"/>
                <a:ea typeface="Microsoft JhengHei" pitchFamily="34" charset="-122"/>
                <a:cs typeface="Microsoft JhengHei" pitchFamily="34" charset="-120"/>
              </a:rPr>
              <a:t>臨床正確性　</a:t>
            </a:r>
            <a:r>
              <a:rPr lang="en-US" sz="1200" dirty="0">
                <a:solidFill>
                  <a:srgbClr val="1F2937"/>
                </a:solidFill>
                <a:latin typeface="Microsoft JhengHei" pitchFamily="34" charset="0"/>
                <a:ea typeface="Microsoft JhengHei" pitchFamily="34" charset="-122"/>
                <a:cs typeface="Microsoft JhengHei" pitchFamily="34" charset="-120"/>
              </a:rPr>
              <a:t>在地指引、機構規範、最新證據，AI 未必跟得上</a:t>
            </a:r>
            <a:endParaRPr lang="en-US" sz="1400" dirty="0"/>
          </a:p>
          <a:p>
            <a:pPr marL="0" indent="0">
              <a:lnSpc>
                <a:spcPct val="112000"/>
              </a:lnSpc>
              <a:buNone/>
            </a:pPr>
            <a:endParaRPr lang="en-US" sz="1400" dirty="0"/>
          </a:p>
          <a:p>
            <a:pPr marL="0" indent="0">
              <a:lnSpc>
                <a:spcPct val="112000"/>
              </a:lnSpc>
              <a:buNone/>
            </a:pPr>
            <a:r>
              <a:rPr lang="en-US" sz="1400" b="1" dirty="0">
                <a:solidFill>
                  <a:srgbClr val="C00000"/>
                </a:solidFill>
                <a:latin typeface="Microsoft JhengHei" pitchFamily="34" charset="0"/>
                <a:ea typeface="Microsoft JhengHei" pitchFamily="34" charset="-122"/>
                <a:cs typeface="Microsoft JhengHei" pitchFamily="34" charset="-120"/>
              </a:rPr>
              <a:t>責任歸屬　</a:t>
            </a:r>
            <a:r>
              <a:rPr lang="en-US" sz="1200" dirty="0">
                <a:solidFill>
                  <a:srgbClr val="1F2937"/>
                </a:solidFill>
                <a:latin typeface="Microsoft JhengHei" pitchFamily="34" charset="0"/>
                <a:ea typeface="Microsoft JhengHei" pitchFamily="34" charset="-122"/>
                <a:cs typeface="Microsoft JhengHei" pitchFamily="34" charset="-120"/>
              </a:rPr>
              <a:t>醫師／教師是倫理與法律的最終承擔者——AI 不負責</a:t>
            </a:r>
            <a:endParaRPr lang="en-US" sz="1400" dirty="0"/>
          </a:p>
          <a:p>
            <a:pPr marL="0" indent="0">
              <a:lnSpc>
                <a:spcPct val="112000"/>
              </a:lnSpc>
              <a:buNone/>
            </a:pPr>
            <a:endParaRPr lang="en-US" sz="1400" dirty="0"/>
          </a:p>
          <a:p>
            <a:pPr marL="0" indent="0">
              <a:lnSpc>
                <a:spcPct val="112000"/>
              </a:lnSpc>
              <a:buNone/>
            </a:pPr>
            <a:r>
              <a:rPr lang="en-US" sz="1400" b="1" dirty="0">
                <a:solidFill>
                  <a:srgbClr val="C00000"/>
                </a:solidFill>
                <a:latin typeface="Microsoft JhengHei" pitchFamily="34" charset="0"/>
                <a:ea typeface="Microsoft JhengHei" pitchFamily="34" charset="-122"/>
                <a:cs typeface="Microsoft JhengHei" pitchFamily="34" charset="-120"/>
              </a:rPr>
              <a:t>病人安全與隱私　</a:t>
            </a:r>
            <a:r>
              <a:rPr lang="en-US" sz="1200" dirty="0">
                <a:solidFill>
                  <a:srgbClr val="1F2937"/>
                </a:solidFill>
                <a:latin typeface="Microsoft JhengHei" pitchFamily="34" charset="0"/>
                <a:ea typeface="Microsoft JhengHei" pitchFamily="34" charset="-122"/>
                <a:cs typeface="Microsoft JhengHei" pitchFamily="34" charset="-120"/>
              </a:rPr>
              <a:t>資料不離院；偏誤與公平性需要人檢視</a:t>
            </a:r>
            <a:endParaRPr lang="en-US" sz="1400" dirty="0"/>
          </a:p>
        </p:txBody>
      </p:sp>
      <p:sp>
        <p:nvSpPr>
          <p:cNvPr id="13" name="Shape 11"/>
          <p:cNvSpPr/>
          <p:nvPr/>
        </p:nvSpPr>
        <p:spPr>
          <a:xfrm>
            <a:off x="502920" y="4498848"/>
            <a:ext cx="8138160" cy="457200"/>
          </a:xfrm>
          <a:prstGeom prst="rect">
            <a:avLst/>
          </a:prstGeom>
          <a:solidFill>
            <a:srgbClr val="1F4E79"/>
          </a:solidFill>
          <a:ln/>
        </p:spPr>
        <p:txBody>
          <a:bodyPr/>
          <a:lstStyle/>
          <a:p>
            <a:endParaRPr lang="zh-TW" altLang="en-US"/>
          </a:p>
        </p:txBody>
      </p:sp>
      <p:sp>
        <p:nvSpPr>
          <p:cNvPr id="14" name="Text 12"/>
          <p:cNvSpPr/>
          <p:nvPr/>
        </p:nvSpPr>
        <p:spPr>
          <a:xfrm>
            <a:off x="731520" y="4498848"/>
            <a:ext cx="7680960" cy="457200"/>
          </a:xfrm>
          <a:prstGeom prst="rect">
            <a:avLst/>
          </a:prstGeom>
          <a:noFill/>
          <a:ln/>
        </p:spPr>
        <p:txBody>
          <a:bodyPr wrap="square" lIns="0" tIns="0" rIns="0" bIns="0" rtlCol="0" anchor="ctr"/>
          <a:lstStyle/>
          <a:p>
            <a:pPr marL="0" indent="0" algn="ctr">
              <a:buNone/>
            </a:pPr>
            <a:r>
              <a:rPr lang="en-US" sz="1350" b="1" dirty="0">
                <a:solidFill>
                  <a:srgbClr val="FFFFFF"/>
                </a:solidFill>
                <a:latin typeface="Microsoft JhengHei" pitchFamily="34" charset="0"/>
                <a:ea typeface="Microsoft JhengHei" pitchFamily="34" charset="-122"/>
                <a:cs typeface="Microsoft JhengHei" pitchFamily="34" charset="-120"/>
              </a:rPr>
              <a:t>在醫療與高利害評量，Human-in-the-Loop 不是選配，而是安全底線。</a:t>
            </a:r>
            <a:endParaRPr lang="en-US" sz="13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641080" y="4828032"/>
            <a:ext cx="365760" cy="274320"/>
          </a:xfrm>
          <a:prstGeom prst="rect">
            <a:avLst/>
          </a:prstGeom>
          <a:noFill/>
          <a:ln/>
        </p:spPr>
        <p:txBody>
          <a:bodyPr wrap="square" lIns="0" tIns="0" rIns="0" bIns="0" rtlCol="0" anchor="ctr"/>
          <a:lstStyle/>
          <a:p>
            <a:pPr marL="0" indent="0" algn="r">
              <a:buNone/>
            </a:pPr>
            <a:r>
              <a:rPr lang="en-US" sz="1000" dirty="0">
                <a:solidFill>
                  <a:srgbClr val="5B6B7F"/>
                </a:solidFill>
                <a:latin typeface="Microsoft JhengHei" pitchFamily="34" charset="0"/>
                <a:ea typeface="Microsoft JhengHei" pitchFamily="34" charset="-122"/>
                <a:cs typeface="Microsoft JhengHei" pitchFamily="34" charset="-120"/>
              </a:rPr>
              <a:t>28</a:t>
            </a:r>
            <a:endParaRPr lang="en-US" sz="1000" dirty="0"/>
          </a:p>
        </p:txBody>
      </p:sp>
      <p:sp>
        <p:nvSpPr>
          <p:cNvPr id="3" name="Text 1"/>
          <p:cNvSpPr/>
          <p:nvPr/>
        </p:nvSpPr>
        <p:spPr>
          <a:xfrm>
            <a:off x="502920" y="201168"/>
            <a:ext cx="8046720" cy="274320"/>
          </a:xfrm>
          <a:prstGeom prst="rect">
            <a:avLst/>
          </a:prstGeom>
          <a:noFill/>
          <a:ln/>
        </p:spPr>
        <p:txBody>
          <a:bodyPr wrap="square" lIns="0" tIns="0" rIns="0" bIns="0" rtlCol="0" anchor="ctr"/>
          <a:lstStyle/>
          <a:p>
            <a:pPr marL="0" indent="0">
              <a:buNone/>
            </a:pPr>
            <a:r>
              <a:rPr lang="en-US" sz="1200" b="1" kern="0" spc="200" dirty="0">
                <a:solidFill>
                  <a:srgbClr val="2E75B6"/>
                </a:solidFill>
                <a:latin typeface="Microsoft JhengHei" pitchFamily="34" charset="0"/>
                <a:ea typeface="Microsoft JhengHei" pitchFamily="34" charset="-122"/>
                <a:cs typeface="Microsoft JhengHei" pitchFamily="34" charset="-120"/>
              </a:rPr>
              <a:t>READY-TO-USE PROMPT</a:t>
            </a:r>
            <a:endParaRPr lang="en-US" sz="1200" dirty="0"/>
          </a:p>
        </p:txBody>
      </p:sp>
      <p:sp>
        <p:nvSpPr>
          <p:cNvPr id="4" name="Text 2"/>
          <p:cNvSpPr/>
          <p:nvPr/>
        </p:nvSpPr>
        <p:spPr>
          <a:xfrm>
            <a:off x="502920" y="457200"/>
            <a:ext cx="8138160" cy="566928"/>
          </a:xfrm>
          <a:prstGeom prst="rect">
            <a:avLst/>
          </a:prstGeom>
          <a:noFill/>
          <a:ln/>
        </p:spPr>
        <p:txBody>
          <a:bodyPr wrap="square" lIns="0" tIns="0" rIns="0" bIns="0" rtlCol="0" anchor="ctr"/>
          <a:lstStyle/>
          <a:p>
            <a:pPr marL="0" indent="0">
              <a:buNone/>
            </a:pPr>
            <a:r>
              <a:rPr lang="en-US" sz="2700" b="1" dirty="0">
                <a:solidFill>
                  <a:srgbClr val="1F4E79"/>
                </a:solidFill>
                <a:latin typeface="Microsoft JhengHei" pitchFamily="34" charset="0"/>
                <a:ea typeface="Microsoft JhengHei" pitchFamily="34" charset="-122"/>
                <a:cs typeface="Microsoft JhengHei" pitchFamily="34" charset="-120"/>
              </a:rPr>
              <a:t>可直接複製的出題 Prompt</a:t>
            </a:r>
            <a:endParaRPr lang="en-US" sz="2700" dirty="0"/>
          </a:p>
        </p:txBody>
      </p:sp>
      <p:sp>
        <p:nvSpPr>
          <p:cNvPr id="5" name="Shape 3"/>
          <p:cNvSpPr/>
          <p:nvPr/>
        </p:nvSpPr>
        <p:spPr>
          <a:xfrm>
            <a:off x="502920" y="1097280"/>
            <a:ext cx="8138160" cy="3310128"/>
          </a:xfrm>
          <a:prstGeom prst="rect">
            <a:avLst/>
          </a:prstGeom>
          <a:solidFill>
            <a:srgbClr val="1F4E79"/>
          </a:solidFill>
          <a:ln/>
        </p:spPr>
        <p:txBody>
          <a:bodyPr/>
          <a:lstStyle/>
          <a:p>
            <a:endParaRPr lang="zh-TW" altLang="en-US"/>
          </a:p>
        </p:txBody>
      </p:sp>
      <p:sp>
        <p:nvSpPr>
          <p:cNvPr id="6" name="Shape 4"/>
          <p:cNvSpPr/>
          <p:nvPr/>
        </p:nvSpPr>
        <p:spPr>
          <a:xfrm>
            <a:off x="502920" y="1097280"/>
            <a:ext cx="73152" cy="3310128"/>
          </a:xfrm>
          <a:prstGeom prst="rect">
            <a:avLst/>
          </a:prstGeom>
          <a:solidFill>
            <a:srgbClr val="BDD7EE"/>
          </a:solidFill>
          <a:ln/>
        </p:spPr>
        <p:txBody>
          <a:bodyPr/>
          <a:lstStyle/>
          <a:p>
            <a:endParaRPr lang="zh-TW" altLang="en-US"/>
          </a:p>
        </p:txBody>
      </p:sp>
      <p:sp>
        <p:nvSpPr>
          <p:cNvPr id="7" name="Text 5"/>
          <p:cNvSpPr/>
          <p:nvPr/>
        </p:nvSpPr>
        <p:spPr>
          <a:xfrm>
            <a:off x="749808" y="1225296"/>
            <a:ext cx="7726680" cy="3072384"/>
          </a:xfrm>
          <a:prstGeom prst="rect">
            <a:avLst/>
          </a:prstGeom>
          <a:noFill/>
          <a:ln/>
        </p:spPr>
        <p:txBody>
          <a:bodyPr wrap="square" lIns="0" tIns="0" rIns="0" bIns="0" rtlCol="0" anchor="t"/>
          <a:lstStyle/>
          <a:p>
            <a:pPr marL="0" indent="0">
              <a:lnSpc>
                <a:spcPct val="116000"/>
              </a:lnSpc>
              <a:buNone/>
            </a:pPr>
            <a:r>
              <a:rPr lang="en-US" sz="1050" b="1" dirty="0">
                <a:solidFill>
                  <a:srgbClr val="FFFFFF"/>
                </a:solidFill>
                <a:latin typeface="Microsoft JhengHei" pitchFamily="34" charset="0"/>
                <a:ea typeface="Microsoft JhengHei" pitchFamily="34" charset="-122"/>
                <a:cs typeface="Microsoft JhengHei" pitchFamily="34" charset="-120"/>
              </a:rPr>
              <a:t>幫我出一題 OSCE 教案，依 TAME 格式與 114 年度國考型檢核表開發。</a:t>
            </a:r>
            <a:endParaRPr lang="en-US" sz="1050" dirty="0"/>
          </a:p>
          <a:p>
            <a:pPr marL="0" indent="0">
              <a:lnSpc>
                <a:spcPct val="116000"/>
              </a:lnSpc>
              <a:buNone/>
            </a:pPr>
            <a:endParaRPr lang="en-US" sz="1050" dirty="0"/>
          </a:p>
          <a:p>
            <a:pPr marL="0" indent="0">
              <a:lnSpc>
                <a:spcPct val="116000"/>
              </a:lnSpc>
              <a:buNone/>
            </a:pPr>
            <a:r>
              <a:rPr lang="en-US" sz="1050" b="1" dirty="0">
                <a:solidFill>
                  <a:srgbClr val="BDD7EE"/>
                </a:solidFill>
                <a:latin typeface="Microsoft JhengHei" pitchFamily="34" charset="0"/>
                <a:ea typeface="Microsoft JhengHei" pitchFamily="34" charset="-122"/>
                <a:cs typeface="Microsoft JhengHei" pitchFamily="34" charset="-120"/>
              </a:rPr>
              <a:t>▍基本參數</a:t>
            </a:r>
            <a:endParaRPr lang="en-US" sz="1050" dirty="0"/>
          </a:p>
          <a:p>
            <a:pPr marL="0" indent="0">
              <a:lnSpc>
                <a:spcPct val="116000"/>
              </a:lnSpc>
              <a:buNone/>
            </a:pPr>
            <a:r>
              <a:rPr lang="en-US" sz="1050" dirty="0">
                <a:solidFill>
                  <a:srgbClr val="FFFFFF"/>
                </a:solidFill>
                <a:latin typeface="Microsoft JhengHei" pitchFamily="34" charset="0"/>
                <a:ea typeface="Microsoft JhengHei" pitchFamily="34" charset="-122"/>
                <a:cs typeface="Microsoft JhengHei" pitchFamily="34" charset="-120"/>
              </a:rPr>
              <a:t>站型：--｜科別：--｜主題／主訴：--</a:t>
            </a:r>
            <a:endParaRPr lang="en-US" sz="1050" dirty="0"/>
          </a:p>
          <a:p>
            <a:pPr marL="0" indent="0">
              <a:lnSpc>
                <a:spcPct val="116000"/>
              </a:lnSpc>
              <a:buNone/>
            </a:pPr>
            <a:r>
              <a:rPr lang="en-US" sz="1050" dirty="0">
                <a:solidFill>
                  <a:srgbClr val="FFFFFF"/>
                </a:solidFill>
                <a:latin typeface="Microsoft JhengHei" pitchFamily="34" charset="0"/>
                <a:ea typeface="Microsoft JhengHei" pitchFamily="34" charset="-122"/>
                <a:cs typeface="Microsoft JhengHei" pitchFamily="34" charset="-120"/>
              </a:rPr>
              <a:t>學員程度：--｜場景：--｜測驗時間：8 分鐘</a:t>
            </a:r>
            <a:endParaRPr lang="en-US" sz="1050" dirty="0"/>
          </a:p>
          <a:p>
            <a:pPr marL="0" indent="0">
              <a:lnSpc>
                <a:spcPct val="116000"/>
              </a:lnSpc>
              <a:buNone/>
            </a:pPr>
            <a:r>
              <a:rPr lang="en-US" sz="1050" b="1" dirty="0">
                <a:solidFill>
                  <a:srgbClr val="BDD7EE"/>
                </a:solidFill>
                <a:latin typeface="Microsoft JhengHei" pitchFamily="34" charset="0"/>
                <a:ea typeface="Microsoft JhengHei" pitchFamily="34" charset="-122"/>
                <a:cs typeface="Microsoft JhengHei" pitchFamily="34" charset="-120"/>
              </a:rPr>
              <a:t>▍評量設計</a:t>
            </a:r>
            <a:endParaRPr lang="en-US" sz="1050" dirty="0"/>
          </a:p>
          <a:p>
            <a:pPr marL="0" indent="0">
              <a:lnSpc>
                <a:spcPct val="116000"/>
              </a:lnSpc>
              <a:buNone/>
            </a:pPr>
            <a:r>
              <a:rPr lang="en-US" sz="1050" dirty="0">
                <a:solidFill>
                  <a:srgbClr val="FFFFFF"/>
                </a:solidFill>
                <a:latin typeface="Microsoft JhengHei" pitchFamily="34" charset="0"/>
                <a:ea typeface="Microsoft JhengHei" pitchFamily="34" charset="-122"/>
                <a:cs typeface="Microsoft JhengHei" pitchFamily="34" charset="-120"/>
              </a:rPr>
              <a:t>主要評量目標（考生要能做到什麼）：--</a:t>
            </a:r>
            <a:endParaRPr lang="en-US" sz="1050" dirty="0"/>
          </a:p>
          <a:p>
            <a:pPr marL="0" indent="0">
              <a:lnSpc>
                <a:spcPct val="116000"/>
              </a:lnSpc>
              <a:buNone/>
            </a:pPr>
            <a:r>
              <a:rPr lang="en-US" sz="1050" dirty="0">
                <a:solidFill>
                  <a:srgbClr val="FFFFFF"/>
                </a:solidFill>
                <a:latin typeface="Microsoft JhengHei" pitchFamily="34" charset="0"/>
                <a:ea typeface="Microsoft JhengHei" pitchFamily="34" charset="-122"/>
                <a:cs typeface="Microsoft JhengHei" pitchFamily="34" charset="-120"/>
              </a:rPr>
              <a:t>目標能力：--｜核心任務（8 分鐘內完成）：--</a:t>
            </a:r>
            <a:endParaRPr lang="en-US" sz="1050" dirty="0"/>
          </a:p>
          <a:p>
            <a:pPr marL="0" indent="0">
              <a:lnSpc>
                <a:spcPct val="116000"/>
              </a:lnSpc>
              <a:buNone/>
            </a:pPr>
            <a:r>
              <a:rPr lang="en-US" sz="1050" dirty="0">
                <a:solidFill>
                  <a:srgbClr val="FFFFFF"/>
                </a:solidFill>
                <a:latin typeface="Microsoft JhengHei" pitchFamily="34" charset="0"/>
                <a:ea typeface="Microsoft JhengHei" pitchFamily="34" charset="-122"/>
                <a:cs typeface="Microsoft JhengHei" pitchFamily="34" charset="-120"/>
              </a:rPr>
              <a:t>主診斷：--｜重要鑑別診斷（至少 3 個）：--</a:t>
            </a:r>
            <a:endParaRPr lang="en-US" sz="1050" dirty="0"/>
          </a:p>
          <a:p>
            <a:pPr marL="0" indent="0">
              <a:lnSpc>
                <a:spcPct val="116000"/>
              </a:lnSpc>
              <a:buNone/>
            </a:pPr>
            <a:r>
              <a:rPr lang="en-US" sz="1050" b="1" dirty="0">
                <a:solidFill>
                  <a:srgbClr val="BDD7EE"/>
                </a:solidFill>
                <a:latin typeface="Microsoft JhengHei" pitchFamily="34" charset="0"/>
                <a:ea typeface="Microsoft JhengHei" pitchFamily="34" charset="-122"/>
                <a:cs typeface="Microsoft JhengHei" pitchFamily="34" charset="-120"/>
              </a:rPr>
              <a:t>▍臨床素材</a:t>
            </a:r>
            <a:endParaRPr lang="en-US" sz="1050" dirty="0"/>
          </a:p>
          <a:p>
            <a:pPr marL="0" indent="0">
              <a:lnSpc>
                <a:spcPct val="116000"/>
              </a:lnSpc>
              <a:buNone/>
            </a:pPr>
            <a:r>
              <a:rPr lang="en-US" sz="1050" dirty="0">
                <a:solidFill>
                  <a:srgbClr val="FFFFFF"/>
                </a:solidFill>
                <a:latin typeface="Microsoft JhengHei" pitchFamily="34" charset="0"/>
                <a:ea typeface="Microsoft JhengHei" pitchFamily="34" charset="-122"/>
                <a:cs typeface="Microsoft JhengHei" pitchFamily="34" charset="-120"/>
              </a:rPr>
              <a:t>關鍵病史／危險因子：--｜重要陽性＋陰性發現：--</a:t>
            </a:r>
            <a:endParaRPr lang="en-US" sz="1050" dirty="0"/>
          </a:p>
          <a:p>
            <a:pPr marL="0" indent="0">
              <a:lnSpc>
                <a:spcPct val="116000"/>
              </a:lnSpc>
              <a:buNone/>
            </a:pPr>
            <a:r>
              <a:rPr lang="en-US" sz="1050" dirty="0">
                <a:solidFill>
                  <a:srgbClr val="FFFFFF"/>
                </a:solidFill>
                <a:latin typeface="Microsoft JhengHei" pitchFamily="34" charset="0"/>
                <a:ea typeface="Microsoft JhengHei" pitchFamily="34" charset="-122"/>
                <a:cs typeface="Microsoft JhengHei" pitchFamily="34" charset="-120"/>
              </a:rPr>
              <a:t>想放入的檢查／檢驗／影像報告：--｜高鑑別力（★）重點：--</a:t>
            </a:r>
            <a:endParaRPr lang="en-US" sz="1050" dirty="0"/>
          </a:p>
          <a:p>
            <a:pPr marL="0" indent="0">
              <a:lnSpc>
                <a:spcPct val="116000"/>
              </a:lnSpc>
              <a:buNone/>
            </a:pPr>
            <a:r>
              <a:rPr lang="en-US" sz="1050" b="1" dirty="0">
                <a:solidFill>
                  <a:srgbClr val="BDD7EE"/>
                </a:solidFill>
                <a:latin typeface="Microsoft JhengHei" pitchFamily="34" charset="0"/>
                <a:ea typeface="Microsoft JhengHei" pitchFamily="34" charset="-122"/>
                <a:cs typeface="Microsoft JhengHei" pitchFamily="34" charset="-120"/>
              </a:rPr>
              <a:t>▍執行細節</a:t>
            </a:r>
            <a:endParaRPr lang="en-US" sz="1050" dirty="0"/>
          </a:p>
          <a:p>
            <a:pPr marL="0" indent="0">
              <a:lnSpc>
                <a:spcPct val="116000"/>
              </a:lnSpc>
              <a:buNone/>
            </a:pPr>
            <a:r>
              <a:rPr lang="en-US" sz="1050" dirty="0">
                <a:solidFill>
                  <a:srgbClr val="FFFFFF"/>
                </a:solidFill>
                <a:latin typeface="Microsoft JhengHei" pitchFamily="34" charset="0"/>
                <a:ea typeface="Microsoft JhengHei" pitchFamily="34" charset="-122"/>
                <a:cs typeface="Microsoft JhengHei" pitchFamily="34" charset="-120"/>
              </a:rPr>
              <a:t>必要人員／道具：--｜產出層級：--｜預估難度：--</a:t>
            </a:r>
            <a:endParaRPr lang="en-US" sz="1050" dirty="0"/>
          </a:p>
          <a:p>
            <a:pPr marL="0" indent="0">
              <a:lnSpc>
                <a:spcPct val="116000"/>
              </a:lnSpc>
              <a:buNone/>
            </a:pPr>
            <a:endParaRPr lang="en-US" sz="1050" dirty="0"/>
          </a:p>
          <a:p>
            <a:pPr marL="0" indent="0">
              <a:lnSpc>
                <a:spcPct val="116000"/>
              </a:lnSpc>
              <a:buNone/>
            </a:pPr>
            <a:r>
              <a:rPr lang="en-US" sz="1050" b="1" dirty="0">
                <a:solidFill>
                  <a:srgbClr val="BDD7EE"/>
                </a:solidFill>
                <a:latin typeface="Microsoft JhengHei" pitchFamily="34" charset="0"/>
                <a:ea typeface="Microsoft JhengHei" pitchFamily="34" charset="-122"/>
                <a:cs typeface="Microsoft JhengHei" pitchFamily="34" charset="-120"/>
              </a:rPr>
              <a:t>請先用一句話確認藍圖（場景／科別／主題／站型／對象），再分段產出，最後輸出 Word 檔。</a:t>
            </a:r>
            <a:endParaRPr lang="en-US" sz="1050" dirty="0"/>
          </a:p>
        </p:txBody>
      </p:sp>
      <p:sp>
        <p:nvSpPr>
          <p:cNvPr id="8" name="Shape 6"/>
          <p:cNvSpPr/>
          <p:nvPr/>
        </p:nvSpPr>
        <p:spPr>
          <a:xfrm>
            <a:off x="502920" y="4526280"/>
            <a:ext cx="8138160" cy="457200"/>
          </a:xfrm>
          <a:prstGeom prst="rect">
            <a:avLst/>
          </a:prstGeom>
          <a:solidFill>
            <a:srgbClr val="DEEBF7"/>
          </a:solidFill>
          <a:ln/>
        </p:spPr>
        <p:txBody>
          <a:bodyPr/>
          <a:lstStyle/>
          <a:p>
            <a:endParaRPr lang="zh-TW" altLang="en-US"/>
          </a:p>
        </p:txBody>
      </p:sp>
      <p:sp>
        <p:nvSpPr>
          <p:cNvPr id="9" name="Text 7"/>
          <p:cNvSpPr/>
          <p:nvPr/>
        </p:nvSpPr>
        <p:spPr>
          <a:xfrm>
            <a:off x="731520" y="4526280"/>
            <a:ext cx="7680960" cy="457200"/>
          </a:xfrm>
          <a:prstGeom prst="rect">
            <a:avLst/>
          </a:prstGeom>
          <a:noFill/>
          <a:ln/>
        </p:spPr>
        <p:txBody>
          <a:bodyPr wrap="square" lIns="0" tIns="0" rIns="0" bIns="0" rtlCol="0" anchor="ctr"/>
          <a:lstStyle/>
          <a:p>
            <a:pPr marL="0" indent="0">
              <a:buNone/>
            </a:pPr>
            <a:r>
              <a:rPr lang="en-US" sz="1150" b="1" dirty="0">
                <a:solidFill>
                  <a:srgbClr val="1F4E79"/>
                </a:solidFill>
                <a:latin typeface="Microsoft JhengHei" pitchFamily="34" charset="0"/>
                <a:ea typeface="Microsoft JhengHei" pitchFamily="34" charset="-122"/>
                <a:cs typeface="Microsoft JhengHei" pitchFamily="34" charset="-120"/>
              </a:rPr>
              <a:t>把每個 -- 換成你的內容即可。</a:t>
            </a:r>
            <a:r>
              <a:rPr lang="en-US" sz="1100" dirty="0">
                <a:solidFill>
                  <a:srgbClr val="1F2937"/>
                </a:solidFill>
                <a:latin typeface="Microsoft JhengHei" pitchFamily="34" charset="0"/>
                <a:ea typeface="Microsoft JhengHei" pitchFamily="34" charset="-122"/>
                <a:cs typeface="Microsoft JhengHei" pitchFamily="34" charset="-120"/>
              </a:rPr>
              <a:t>　15 項×0/1/2、★2–5、共通≤1、Teach-back、IAPP、三欄對白等規則，系統會自動把關。</a:t>
            </a:r>
            <a:endParaRPr lang="en-US" sz="11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29">
    <p:bg>
      <p:bgPr>
        <a:solidFill>
          <a:srgbClr val="1F4E79"/>
        </a:solidFill>
        <a:effectLst/>
      </p:bgPr>
    </p:bg>
    <p:spTree>
      <p:nvGrpSpPr>
        <p:cNvPr id="1" name=""/>
        <p:cNvGrpSpPr/>
        <p:nvPr/>
      </p:nvGrpSpPr>
      <p:grpSpPr>
        <a:xfrm>
          <a:off x="0" y="0"/>
          <a:ext cx="0" cy="0"/>
          <a:chOff x="0" y="0"/>
          <a:chExt cx="0" cy="0"/>
        </a:xfrm>
      </p:grpSpPr>
      <p:sp>
        <p:nvSpPr>
          <p:cNvPr id="2" name="Text 0"/>
          <p:cNvSpPr/>
          <p:nvPr/>
        </p:nvSpPr>
        <p:spPr>
          <a:xfrm>
            <a:off x="8641080" y="4828032"/>
            <a:ext cx="365760" cy="274320"/>
          </a:xfrm>
          <a:prstGeom prst="rect">
            <a:avLst/>
          </a:prstGeom>
          <a:noFill/>
          <a:ln/>
        </p:spPr>
        <p:txBody>
          <a:bodyPr wrap="square" lIns="0" tIns="0" rIns="0" bIns="0" rtlCol="0" anchor="ctr"/>
          <a:lstStyle/>
          <a:p>
            <a:pPr marL="0" indent="0" algn="r">
              <a:buNone/>
            </a:pPr>
            <a:r>
              <a:rPr lang="en-US" sz="1000" dirty="0">
                <a:solidFill>
                  <a:srgbClr val="BDD7EE"/>
                </a:solidFill>
                <a:latin typeface="Microsoft JhengHei" pitchFamily="34" charset="0"/>
                <a:ea typeface="Microsoft JhengHei" pitchFamily="34" charset="-122"/>
                <a:cs typeface="Microsoft JhengHei" pitchFamily="34" charset="-120"/>
              </a:rPr>
              <a:t>29</a:t>
            </a:r>
            <a:endParaRPr lang="en-US" sz="1000" dirty="0"/>
          </a:p>
        </p:txBody>
      </p:sp>
      <p:sp>
        <p:nvSpPr>
          <p:cNvPr id="3" name="Text 1"/>
          <p:cNvSpPr/>
          <p:nvPr/>
        </p:nvSpPr>
        <p:spPr>
          <a:xfrm>
            <a:off x="640080" y="502920"/>
            <a:ext cx="7863840" cy="320040"/>
          </a:xfrm>
          <a:prstGeom prst="rect">
            <a:avLst/>
          </a:prstGeom>
          <a:noFill/>
          <a:ln/>
        </p:spPr>
        <p:txBody>
          <a:bodyPr wrap="square" lIns="0" tIns="0" rIns="0" bIns="0" rtlCol="0" anchor="ctr"/>
          <a:lstStyle/>
          <a:p>
            <a:pPr marL="0" indent="0">
              <a:buNone/>
            </a:pPr>
            <a:r>
              <a:rPr lang="en-US" sz="1300" b="1" kern="0" spc="300" dirty="0">
                <a:solidFill>
                  <a:srgbClr val="BDD7EE"/>
                </a:solidFill>
                <a:latin typeface="Microsoft JhengHei" pitchFamily="34" charset="0"/>
                <a:ea typeface="Microsoft JhengHei" pitchFamily="34" charset="-122"/>
                <a:cs typeface="Microsoft JhengHei" pitchFamily="34" charset="-120"/>
              </a:rPr>
              <a:t>TAKE HOME MESSAGE</a:t>
            </a:r>
            <a:endParaRPr lang="en-US" sz="1300" dirty="0"/>
          </a:p>
        </p:txBody>
      </p:sp>
      <p:sp>
        <p:nvSpPr>
          <p:cNvPr id="4" name="Shape 2"/>
          <p:cNvSpPr/>
          <p:nvPr/>
        </p:nvSpPr>
        <p:spPr>
          <a:xfrm>
            <a:off x="640080" y="914400"/>
            <a:ext cx="7863840" cy="566928"/>
          </a:xfrm>
          <a:prstGeom prst="rect">
            <a:avLst/>
          </a:prstGeom>
          <a:solidFill>
            <a:srgbClr val="2A5D8F"/>
          </a:solidFill>
          <a:ln/>
        </p:spPr>
        <p:txBody>
          <a:bodyPr/>
          <a:lstStyle/>
          <a:p>
            <a:endParaRPr lang="zh-TW" altLang="en-US"/>
          </a:p>
        </p:txBody>
      </p:sp>
      <p:sp>
        <p:nvSpPr>
          <p:cNvPr id="5" name="Shape 3"/>
          <p:cNvSpPr/>
          <p:nvPr/>
        </p:nvSpPr>
        <p:spPr>
          <a:xfrm>
            <a:off x="822960" y="1005840"/>
            <a:ext cx="384048" cy="384048"/>
          </a:xfrm>
          <a:prstGeom prst="ellipse">
            <a:avLst/>
          </a:prstGeom>
          <a:solidFill>
            <a:srgbClr val="FFFFFF"/>
          </a:solidFill>
          <a:ln/>
        </p:spPr>
        <p:txBody>
          <a:bodyPr/>
          <a:lstStyle/>
          <a:p>
            <a:endParaRPr lang="zh-TW" altLang="en-US"/>
          </a:p>
        </p:txBody>
      </p:sp>
      <p:sp>
        <p:nvSpPr>
          <p:cNvPr id="6" name="Text 4"/>
          <p:cNvSpPr/>
          <p:nvPr/>
        </p:nvSpPr>
        <p:spPr>
          <a:xfrm>
            <a:off x="822960" y="994867"/>
            <a:ext cx="384048" cy="384048"/>
          </a:xfrm>
          <a:prstGeom prst="rect">
            <a:avLst/>
          </a:prstGeom>
          <a:noFill/>
          <a:ln/>
        </p:spPr>
        <p:txBody>
          <a:bodyPr wrap="square" lIns="0" tIns="0" rIns="0" bIns="0" rtlCol="0" anchor="ctr"/>
          <a:lstStyle/>
          <a:p>
            <a:pPr marL="0" indent="0" algn="ctr">
              <a:buNone/>
            </a:pPr>
            <a:r>
              <a:rPr lang="en-US" sz="1400" b="1" dirty="0">
                <a:solidFill>
                  <a:srgbClr val="1F4E79"/>
                </a:solidFill>
                <a:latin typeface="Microsoft JhengHei" pitchFamily="34" charset="0"/>
                <a:ea typeface="Microsoft JhengHei" pitchFamily="34" charset="-122"/>
                <a:cs typeface="Microsoft JhengHei" pitchFamily="34" charset="-120"/>
              </a:rPr>
              <a:t>1</a:t>
            </a:r>
            <a:endParaRPr lang="en-US" sz="1400" dirty="0"/>
          </a:p>
        </p:txBody>
      </p:sp>
      <p:sp>
        <p:nvSpPr>
          <p:cNvPr id="7" name="Text 5"/>
          <p:cNvSpPr/>
          <p:nvPr/>
        </p:nvSpPr>
        <p:spPr>
          <a:xfrm>
            <a:off x="1371600" y="914400"/>
            <a:ext cx="7040880" cy="566928"/>
          </a:xfrm>
          <a:prstGeom prst="rect">
            <a:avLst/>
          </a:prstGeom>
          <a:noFill/>
          <a:ln/>
        </p:spPr>
        <p:txBody>
          <a:bodyPr wrap="square" lIns="0" tIns="0" rIns="0" bIns="0" rtlCol="0" anchor="ctr"/>
          <a:lstStyle/>
          <a:p>
            <a:pPr marL="0" indent="0">
              <a:buNone/>
            </a:pPr>
            <a:r>
              <a:rPr lang="en-US" sz="1400" b="1" dirty="0">
                <a:solidFill>
                  <a:srgbClr val="FFFFFF"/>
                </a:solidFill>
                <a:latin typeface="Microsoft JhengHei" pitchFamily="34" charset="0"/>
                <a:ea typeface="Microsoft JhengHei" pitchFamily="34" charset="-122"/>
                <a:cs typeface="Microsoft JhengHei" pitchFamily="34" charset="-120"/>
              </a:rPr>
              <a:t>OSCE 不只是評量，更是教學策略——考試引導教學</a:t>
            </a:r>
            <a:endParaRPr lang="en-US" sz="1400" dirty="0"/>
          </a:p>
        </p:txBody>
      </p:sp>
      <p:sp>
        <p:nvSpPr>
          <p:cNvPr id="8" name="Shape 6"/>
          <p:cNvSpPr/>
          <p:nvPr/>
        </p:nvSpPr>
        <p:spPr>
          <a:xfrm>
            <a:off x="640080" y="1581912"/>
            <a:ext cx="7863840" cy="566928"/>
          </a:xfrm>
          <a:prstGeom prst="rect">
            <a:avLst/>
          </a:prstGeom>
          <a:solidFill>
            <a:srgbClr val="2A5D8F"/>
          </a:solidFill>
          <a:ln/>
        </p:spPr>
        <p:txBody>
          <a:bodyPr/>
          <a:lstStyle/>
          <a:p>
            <a:endParaRPr lang="zh-TW" altLang="en-US"/>
          </a:p>
        </p:txBody>
      </p:sp>
      <p:sp>
        <p:nvSpPr>
          <p:cNvPr id="9" name="Shape 7"/>
          <p:cNvSpPr/>
          <p:nvPr/>
        </p:nvSpPr>
        <p:spPr>
          <a:xfrm>
            <a:off x="822960" y="1673352"/>
            <a:ext cx="384048" cy="384048"/>
          </a:xfrm>
          <a:prstGeom prst="ellipse">
            <a:avLst/>
          </a:prstGeom>
          <a:solidFill>
            <a:srgbClr val="FFFFFF"/>
          </a:solidFill>
          <a:ln/>
        </p:spPr>
        <p:txBody>
          <a:bodyPr/>
          <a:lstStyle/>
          <a:p>
            <a:endParaRPr lang="zh-TW" altLang="en-US"/>
          </a:p>
        </p:txBody>
      </p:sp>
      <p:sp>
        <p:nvSpPr>
          <p:cNvPr id="10" name="Text 8"/>
          <p:cNvSpPr/>
          <p:nvPr/>
        </p:nvSpPr>
        <p:spPr>
          <a:xfrm>
            <a:off x="822960" y="1662379"/>
            <a:ext cx="384048" cy="384048"/>
          </a:xfrm>
          <a:prstGeom prst="rect">
            <a:avLst/>
          </a:prstGeom>
          <a:noFill/>
          <a:ln/>
        </p:spPr>
        <p:txBody>
          <a:bodyPr wrap="square" lIns="0" tIns="0" rIns="0" bIns="0" rtlCol="0" anchor="ctr"/>
          <a:lstStyle/>
          <a:p>
            <a:pPr marL="0" indent="0" algn="ctr">
              <a:buNone/>
            </a:pPr>
            <a:r>
              <a:rPr lang="en-US" sz="1400" b="1" dirty="0">
                <a:solidFill>
                  <a:srgbClr val="1F4E79"/>
                </a:solidFill>
                <a:latin typeface="Microsoft JhengHei" pitchFamily="34" charset="0"/>
                <a:ea typeface="Microsoft JhengHei" pitchFamily="34" charset="-122"/>
                <a:cs typeface="Microsoft JhengHei" pitchFamily="34" charset="-120"/>
              </a:rPr>
              <a:t>2</a:t>
            </a:r>
            <a:endParaRPr lang="en-US" sz="1400" dirty="0"/>
          </a:p>
        </p:txBody>
      </p:sp>
      <p:sp>
        <p:nvSpPr>
          <p:cNvPr id="11" name="Text 9"/>
          <p:cNvSpPr/>
          <p:nvPr/>
        </p:nvSpPr>
        <p:spPr>
          <a:xfrm>
            <a:off x="1371600" y="1581912"/>
            <a:ext cx="7040880" cy="566928"/>
          </a:xfrm>
          <a:prstGeom prst="rect">
            <a:avLst/>
          </a:prstGeom>
          <a:noFill/>
          <a:ln/>
        </p:spPr>
        <p:txBody>
          <a:bodyPr wrap="square" lIns="0" tIns="0" rIns="0" bIns="0" rtlCol="0" anchor="ctr"/>
          <a:lstStyle/>
          <a:p>
            <a:pPr marL="0" indent="0">
              <a:buNone/>
            </a:pPr>
            <a:r>
              <a:rPr lang="en-US" sz="1400" b="1" dirty="0">
                <a:solidFill>
                  <a:srgbClr val="FFFFFF"/>
                </a:solidFill>
                <a:latin typeface="Microsoft JhengHei" pitchFamily="34" charset="0"/>
                <a:ea typeface="Microsoft JhengHei" pitchFamily="34" charset="-122"/>
                <a:cs typeface="Microsoft JhengHei" pitchFamily="34" charset="-120"/>
              </a:rPr>
              <a:t>教案是系統工程：五大部分環環相扣，從評分表出發</a:t>
            </a:r>
            <a:endParaRPr lang="en-US" sz="1400" dirty="0"/>
          </a:p>
        </p:txBody>
      </p:sp>
      <p:sp>
        <p:nvSpPr>
          <p:cNvPr id="12" name="Shape 10"/>
          <p:cNvSpPr/>
          <p:nvPr/>
        </p:nvSpPr>
        <p:spPr>
          <a:xfrm>
            <a:off x="640080" y="2249424"/>
            <a:ext cx="7863840" cy="566928"/>
          </a:xfrm>
          <a:prstGeom prst="rect">
            <a:avLst/>
          </a:prstGeom>
          <a:solidFill>
            <a:srgbClr val="2A5D8F"/>
          </a:solidFill>
          <a:ln/>
        </p:spPr>
        <p:txBody>
          <a:bodyPr/>
          <a:lstStyle/>
          <a:p>
            <a:endParaRPr lang="zh-TW" altLang="en-US"/>
          </a:p>
        </p:txBody>
      </p:sp>
      <p:sp>
        <p:nvSpPr>
          <p:cNvPr id="13" name="Shape 11"/>
          <p:cNvSpPr/>
          <p:nvPr/>
        </p:nvSpPr>
        <p:spPr>
          <a:xfrm>
            <a:off x="822960" y="2340864"/>
            <a:ext cx="384048" cy="384048"/>
          </a:xfrm>
          <a:prstGeom prst="ellipse">
            <a:avLst/>
          </a:prstGeom>
          <a:solidFill>
            <a:srgbClr val="FFFFFF"/>
          </a:solidFill>
          <a:ln/>
        </p:spPr>
        <p:txBody>
          <a:bodyPr/>
          <a:lstStyle/>
          <a:p>
            <a:endParaRPr lang="zh-TW" altLang="en-US"/>
          </a:p>
        </p:txBody>
      </p:sp>
      <p:sp>
        <p:nvSpPr>
          <p:cNvPr id="14" name="Text 12"/>
          <p:cNvSpPr/>
          <p:nvPr/>
        </p:nvSpPr>
        <p:spPr>
          <a:xfrm>
            <a:off x="822960" y="2329891"/>
            <a:ext cx="384048" cy="384048"/>
          </a:xfrm>
          <a:prstGeom prst="rect">
            <a:avLst/>
          </a:prstGeom>
          <a:noFill/>
          <a:ln/>
        </p:spPr>
        <p:txBody>
          <a:bodyPr wrap="square" lIns="0" tIns="0" rIns="0" bIns="0" rtlCol="0" anchor="ctr"/>
          <a:lstStyle/>
          <a:p>
            <a:pPr marL="0" indent="0" algn="ctr">
              <a:buNone/>
            </a:pPr>
            <a:r>
              <a:rPr lang="en-US" sz="1400" b="1" dirty="0">
                <a:solidFill>
                  <a:srgbClr val="1F4E79"/>
                </a:solidFill>
                <a:latin typeface="Microsoft JhengHei" pitchFamily="34" charset="0"/>
                <a:ea typeface="Microsoft JhengHei" pitchFamily="34" charset="-122"/>
                <a:cs typeface="Microsoft JhengHei" pitchFamily="34" charset="-120"/>
              </a:rPr>
              <a:t>3</a:t>
            </a:r>
            <a:endParaRPr lang="en-US" sz="1400" dirty="0"/>
          </a:p>
        </p:txBody>
      </p:sp>
      <p:sp>
        <p:nvSpPr>
          <p:cNvPr id="15" name="Text 13"/>
          <p:cNvSpPr/>
          <p:nvPr/>
        </p:nvSpPr>
        <p:spPr>
          <a:xfrm>
            <a:off x="1371600" y="2249424"/>
            <a:ext cx="7040880" cy="566928"/>
          </a:xfrm>
          <a:prstGeom prst="rect">
            <a:avLst/>
          </a:prstGeom>
          <a:noFill/>
          <a:ln/>
        </p:spPr>
        <p:txBody>
          <a:bodyPr wrap="square" lIns="0" tIns="0" rIns="0" bIns="0" rtlCol="0" anchor="ctr"/>
          <a:lstStyle/>
          <a:p>
            <a:pPr marL="0" indent="0">
              <a:buNone/>
            </a:pPr>
            <a:r>
              <a:rPr lang="en-US" sz="1400" b="1" dirty="0">
                <a:solidFill>
                  <a:srgbClr val="FFFFFF"/>
                </a:solidFill>
                <a:latin typeface="Microsoft JhengHei" pitchFamily="34" charset="0"/>
                <a:ea typeface="Microsoft JhengHei" pitchFamily="34" charset="-122"/>
                <a:cs typeface="Microsoft JhengHei" pitchFamily="34" charset="-120"/>
              </a:rPr>
              <a:t>評分項目＝可觀察行為；三級錨點清楚；子項目不超過 3 個</a:t>
            </a:r>
            <a:endParaRPr lang="en-US" sz="1400" dirty="0"/>
          </a:p>
        </p:txBody>
      </p:sp>
      <p:sp>
        <p:nvSpPr>
          <p:cNvPr id="16" name="Shape 14"/>
          <p:cNvSpPr/>
          <p:nvPr/>
        </p:nvSpPr>
        <p:spPr>
          <a:xfrm>
            <a:off x="640080" y="2916936"/>
            <a:ext cx="7863840" cy="566928"/>
          </a:xfrm>
          <a:prstGeom prst="rect">
            <a:avLst/>
          </a:prstGeom>
          <a:solidFill>
            <a:srgbClr val="2A5D8F"/>
          </a:solidFill>
          <a:ln/>
        </p:spPr>
        <p:txBody>
          <a:bodyPr/>
          <a:lstStyle/>
          <a:p>
            <a:endParaRPr lang="zh-TW" altLang="en-US"/>
          </a:p>
        </p:txBody>
      </p:sp>
      <p:sp>
        <p:nvSpPr>
          <p:cNvPr id="17" name="Shape 15"/>
          <p:cNvSpPr/>
          <p:nvPr/>
        </p:nvSpPr>
        <p:spPr>
          <a:xfrm>
            <a:off x="822960" y="3008376"/>
            <a:ext cx="384048" cy="384048"/>
          </a:xfrm>
          <a:prstGeom prst="ellipse">
            <a:avLst/>
          </a:prstGeom>
          <a:solidFill>
            <a:srgbClr val="FFFFFF"/>
          </a:solidFill>
          <a:ln/>
        </p:spPr>
        <p:txBody>
          <a:bodyPr/>
          <a:lstStyle/>
          <a:p>
            <a:endParaRPr lang="zh-TW" altLang="en-US"/>
          </a:p>
        </p:txBody>
      </p:sp>
      <p:sp>
        <p:nvSpPr>
          <p:cNvPr id="18" name="Text 16"/>
          <p:cNvSpPr/>
          <p:nvPr/>
        </p:nvSpPr>
        <p:spPr>
          <a:xfrm>
            <a:off x="822960" y="2997403"/>
            <a:ext cx="384048" cy="384048"/>
          </a:xfrm>
          <a:prstGeom prst="rect">
            <a:avLst/>
          </a:prstGeom>
          <a:noFill/>
          <a:ln/>
        </p:spPr>
        <p:txBody>
          <a:bodyPr wrap="square" lIns="0" tIns="0" rIns="0" bIns="0" rtlCol="0" anchor="ctr"/>
          <a:lstStyle/>
          <a:p>
            <a:pPr marL="0" indent="0" algn="ctr">
              <a:buNone/>
            </a:pPr>
            <a:r>
              <a:rPr lang="en-US" sz="1400" b="1" dirty="0">
                <a:solidFill>
                  <a:srgbClr val="1F4E79"/>
                </a:solidFill>
                <a:latin typeface="Microsoft JhengHei" pitchFamily="34" charset="0"/>
                <a:ea typeface="Microsoft JhengHei" pitchFamily="34" charset="-122"/>
                <a:cs typeface="Microsoft JhengHei" pitchFamily="34" charset="-120"/>
              </a:rPr>
              <a:t>4</a:t>
            </a:r>
            <a:endParaRPr lang="en-US" sz="1400" dirty="0"/>
          </a:p>
        </p:txBody>
      </p:sp>
      <p:sp>
        <p:nvSpPr>
          <p:cNvPr id="19" name="Text 17"/>
          <p:cNvSpPr/>
          <p:nvPr/>
        </p:nvSpPr>
        <p:spPr>
          <a:xfrm>
            <a:off x="1371600" y="2916936"/>
            <a:ext cx="7040880" cy="566928"/>
          </a:xfrm>
          <a:prstGeom prst="rect">
            <a:avLst/>
          </a:prstGeom>
          <a:noFill/>
          <a:ln/>
        </p:spPr>
        <p:txBody>
          <a:bodyPr wrap="square" lIns="0" tIns="0" rIns="0" bIns="0" rtlCol="0" anchor="ctr"/>
          <a:lstStyle/>
          <a:p>
            <a:pPr marL="0" indent="0">
              <a:buNone/>
            </a:pPr>
            <a:r>
              <a:rPr lang="en-US" sz="1400" b="1" dirty="0">
                <a:solidFill>
                  <a:srgbClr val="FFFFFF"/>
                </a:solidFill>
                <a:latin typeface="Microsoft JhengHei" pitchFamily="34" charset="0"/>
                <a:ea typeface="Microsoft JhengHei" pitchFamily="34" charset="-122"/>
                <a:cs typeface="Microsoft JhengHei" pitchFamily="34" charset="-120"/>
              </a:rPr>
              <a:t>先回答三個問題、畫好藍圖，再動筆；產出後過品質檢核閘</a:t>
            </a:r>
            <a:endParaRPr lang="en-US" sz="1400" dirty="0"/>
          </a:p>
        </p:txBody>
      </p:sp>
      <p:sp>
        <p:nvSpPr>
          <p:cNvPr id="20" name="Shape 18"/>
          <p:cNvSpPr/>
          <p:nvPr/>
        </p:nvSpPr>
        <p:spPr>
          <a:xfrm>
            <a:off x="640080" y="3584448"/>
            <a:ext cx="7863840" cy="566928"/>
          </a:xfrm>
          <a:prstGeom prst="rect">
            <a:avLst/>
          </a:prstGeom>
          <a:solidFill>
            <a:srgbClr val="2A5D8F"/>
          </a:solidFill>
          <a:ln/>
        </p:spPr>
        <p:txBody>
          <a:bodyPr/>
          <a:lstStyle/>
          <a:p>
            <a:endParaRPr lang="zh-TW" altLang="en-US"/>
          </a:p>
        </p:txBody>
      </p:sp>
      <p:sp>
        <p:nvSpPr>
          <p:cNvPr id="21" name="Shape 19"/>
          <p:cNvSpPr/>
          <p:nvPr/>
        </p:nvSpPr>
        <p:spPr>
          <a:xfrm>
            <a:off x="822960" y="3675888"/>
            <a:ext cx="384048" cy="384048"/>
          </a:xfrm>
          <a:prstGeom prst="ellipse">
            <a:avLst/>
          </a:prstGeom>
          <a:solidFill>
            <a:srgbClr val="FFFFFF"/>
          </a:solidFill>
          <a:ln/>
        </p:spPr>
        <p:txBody>
          <a:bodyPr/>
          <a:lstStyle/>
          <a:p>
            <a:endParaRPr lang="zh-TW" altLang="en-US"/>
          </a:p>
        </p:txBody>
      </p:sp>
      <p:sp>
        <p:nvSpPr>
          <p:cNvPr id="22" name="Text 20"/>
          <p:cNvSpPr/>
          <p:nvPr/>
        </p:nvSpPr>
        <p:spPr>
          <a:xfrm>
            <a:off x="822960" y="3664915"/>
            <a:ext cx="384048" cy="384048"/>
          </a:xfrm>
          <a:prstGeom prst="rect">
            <a:avLst/>
          </a:prstGeom>
          <a:noFill/>
          <a:ln/>
        </p:spPr>
        <p:txBody>
          <a:bodyPr wrap="square" lIns="0" tIns="0" rIns="0" bIns="0" rtlCol="0" anchor="ctr"/>
          <a:lstStyle/>
          <a:p>
            <a:pPr marL="0" indent="0" algn="ctr">
              <a:buNone/>
            </a:pPr>
            <a:r>
              <a:rPr lang="en-US" sz="1400" b="1" dirty="0">
                <a:solidFill>
                  <a:srgbClr val="1F4E79"/>
                </a:solidFill>
                <a:latin typeface="Microsoft JhengHei" pitchFamily="34" charset="0"/>
                <a:ea typeface="Microsoft JhengHei" pitchFamily="34" charset="-122"/>
                <a:cs typeface="Microsoft JhengHei" pitchFamily="34" charset="-120"/>
              </a:rPr>
              <a:t>5</a:t>
            </a:r>
            <a:endParaRPr lang="en-US" sz="1400" dirty="0"/>
          </a:p>
        </p:txBody>
      </p:sp>
      <p:sp>
        <p:nvSpPr>
          <p:cNvPr id="23" name="Text 21"/>
          <p:cNvSpPr/>
          <p:nvPr/>
        </p:nvSpPr>
        <p:spPr>
          <a:xfrm>
            <a:off x="1371600" y="3584448"/>
            <a:ext cx="7040880" cy="566928"/>
          </a:xfrm>
          <a:prstGeom prst="rect">
            <a:avLst/>
          </a:prstGeom>
          <a:noFill/>
          <a:ln/>
        </p:spPr>
        <p:txBody>
          <a:bodyPr wrap="square" lIns="0" tIns="0" rIns="0" bIns="0" rtlCol="0" anchor="ctr"/>
          <a:lstStyle/>
          <a:p>
            <a:pPr marL="0" indent="0">
              <a:buNone/>
            </a:pPr>
            <a:r>
              <a:rPr lang="en-US" sz="1400" b="1" dirty="0">
                <a:solidFill>
                  <a:srgbClr val="FFFFFF"/>
                </a:solidFill>
                <a:latin typeface="Microsoft JhengHei" pitchFamily="34" charset="0"/>
                <a:ea typeface="Microsoft JhengHei" pitchFamily="34" charset="-122"/>
                <a:cs typeface="Microsoft JhengHei" pitchFamily="34" charset="-120"/>
              </a:rPr>
              <a:t>LLM 加速 80%，臨床專業把關 20%</a:t>
            </a:r>
            <a:endParaRPr lang="en-US" sz="1400" dirty="0"/>
          </a:p>
        </p:txBody>
      </p:sp>
      <p:sp>
        <p:nvSpPr>
          <p:cNvPr id="24" name="Shape 22"/>
          <p:cNvSpPr/>
          <p:nvPr/>
        </p:nvSpPr>
        <p:spPr>
          <a:xfrm>
            <a:off x="640080" y="4251960"/>
            <a:ext cx="7863840" cy="566928"/>
          </a:xfrm>
          <a:prstGeom prst="rect">
            <a:avLst/>
          </a:prstGeom>
          <a:solidFill>
            <a:srgbClr val="2A5D8F"/>
          </a:solidFill>
          <a:ln/>
        </p:spPr>
        <p:txBody>
          <a:bodyPr/>
          <a:lstStyle/>
          <a:p>
            <a:endParaRPr lang="zh-TW" altLang="en-US"/>
          </a:p>
        </p:txBody>
      </p:sp>
      <p:sp>
        <p:nvSpPr>
          <p:cNvPr id="25" name="Shape 23"/>
          <p:cNvSpPr/>
          <p:nvPr/>
        </p:nvSpPr>
        <p:spPr>
          <a:xfrm>
            <a:off x="822960" y="4343400"/>
            <a:ext cx="384048" cy="384048"/>
          </a:xfrm>
          <a:prstGeom prst="ellipse">
            <a:avLst/>
          </a:prstGeom>
          <a:solidFill>
            <a:srgbClr val="FFFFFF"/>
          </a:solidFill>
          <a:ln/>
        </p:spPr>
        <p:txBody>
          <a:bodyPr/>
          <a:lstStyle/>
          <a:p>
            <a:endParaRPr lang="zh-TW" altLang="en-US"/>
          </a:p>
        </p:txBody>
      </p:sp>
      <p:sp>
        <p:nvSpPr>
          <p:cNvPr id="26" name="Text 24"/>
          <p:cNvSpPr/>
          <p:nvPr/>
        </p:nvSpPr>
        <p:spPr>
          <a:xfrm>
            <a:off x="822960" y="4332427"/>
            <a:ext cx="384048" cy="384048"/>
          </a:xfrm>
          <a:prstGeom prst="rect">
            <a:avLst/>
          </a:prstGeom>
          <a:noFill/>
          <a:ln/>
        </p:spPr>
        <p:txBody>
          <a:bodyPr wrap="square" lIns="0" tIns="0" rIns="0" bIns="0" rtlCol="0" anchor="ctr"/>
          <a:lstStyle/>
          <a:p>
            <a:pPr marL="0" indent="0" algn="ctr">
              <a:buNone/>
            </a:pPr>
            <a:r>
              <a:rPr lang="en-US" sz="1400" b="1" dirty="0">
                <a:solidFill>
                  <a:srgbClr val="1F4E79"/>
                </a:solidFill>
                <a:latin typeface="Microsoft JhengHei" pitchFamily="34" charset="0"/>
                <a:ea typeface="Microsoft JhengHei" pitchFamily="34" charset="-122"/>
                <a:cs typeface="Microsoft JhengHei" pitchFamily="34" charset="-120"/>
              </a:rPr>
              <a:t>6</a:t>
            </a:r>
            <a:endParaRPr lang="en-US" sz="1400" dirty="0"/>
          </a:p>
        </p:txBody>
      </p:sp>
      <p:sp>
        <p:nvSpPr>
          <p:cNvPr id="27" name="Text 25"/>
          <p:cNvSpPr/>
          <p:nvPr/>
        </p:nvSpPr>
        <p:spPr>
          <a:xfrm>
            <a:off x="1371600" y="4251960"/>
            <a:ext cx="7040880" cy="566928"/>
          </a:xfrm>
          <a:prstGeom prst="rect">
            <a:avLst/>
          </a:prstGeom>
          <a:noFill/>
          <a:ln/>
        </p:spPr>
        <p:txBody>
          <a:bodyPr wrap="square" lIns="0" tIns="0" rIns="0" bIns="0" rtlCol="0" anchor="ctr"/>
          <a:lstStyle/>
          <a:p>
            <a:pPr marL="0" indent="0">
              <a:buNone/>
            </a:pPr>
            <a:r>
              <a:rPr lang="en-US" sz="1400" b="1" dirty="0">
                <a:solidFill>
                  <a:srgbClr val="FFFFFF"/>
                </a:solidFill>
                <a:latin typeface="Microsoft JhengHei" pitchFamily="34" charset="0"/>
                <a:ea typeface="Microsoft JhengHei" pitchFamily="34" charset="-122"/>
                <a:cs typeface="Microsoft JhengHei" pitchFamily="34" charset="-120"/>
              </a:rPr>
              <a:t>LLM 是「智慧資料管理員」不是醫師——教師負責人類對齊與最終責任</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0">
    <p:bg>
      <p:bgPr>
        <a:solidFill>
          <a:srgbClr val="1F4E79"/>
        </a:solidFill>
        <a:effectLst/>
      </p:bgPr>
    </p:bg>
    <p:spTree>
      <p:nvGrpSpPr>
        <p:cNvPr id="1" name=""/>
        <p:cNvGrpSpPr/>
        <p:nvPr/>
      </p:nvGrpSpPr>
      <p:grpSpPr>
        <a:xfrm>
          <a:off x="0" y="0"/>
          <a:ext cx="0" cy="0"/>
          <a:chOff x="0" y="0"/>
          <a:chExt cx="0" cy="0"/>
        </a:xfrm>
      </p:grpSpPr>
      <p:sp>
        <p:nvSpPr>
          <p:cNvPr id="2" name="Text 0"/>
          <p:cNvSpPr/>
          <p:nvPr/>
        </p:nvSpPr>
        <p:spPr>
          <a:xfrm>
            <a:off x="640080" y="1737360"/>
            <a:ext cx="7863840" cy="822960"/>
          </a:xfrm>
          <a:prstGeom prst="rect">
            <a:avLst/>
          </a:prstGeom>
          <a:noFill/>
          <a:ln/>
        </p:spPr>
        <p:txBody>
          <a:bodyPr wrap="square" lIns="0" tIns="0" rIns="0" bIns="0" rtlCol="0" anchor="ctr"/>
          <a:lstStyle/>
          <a:p>
            <a:pPr marL="0" indent="0">
              <a:buNone/>
            </a:pPr>
            <a:r>
              <a:rPr lang="en-US" sz="4400" b="1" dirty="0">
                <a:solidFill>
                  <a:srgbClr val="FFFFFF"/>
                </a:solidFill>
                <a:latin typeface="Microsoft JhengHei" pitchFamily="34" charset="0"/>
                <a:ea typeface="Microsoft JhengHei" pitchFamily="34" charset="-122"/>
                <a:cs typeface="Microsoft JhengHei" pitchFamily="34" charset="-120"/>
              </a:rPr>
              <a:t>Any Questions?</a:t>
            </a:r>
            <a:endParaRPr lang="en-US" sz="4400" dirty="0"/>
          </a:p>
        </p:txBody>
      </p:sp>
      <p:sp>
        <p:nvSpPr>
          <p:cNvPr id="3" name="Text 1"/>
          <p:cNvSpPr/>
          <p:nvPr/>
        </p:nvSpPr>
        <p:spPr>
          <a:xfrm>
            <a:off x="640080" y="2651760"/>
            <a:ext cx="7863840" cy="411480"/>
          </a:xfrm>
          <a:prstGeom prst="rect">
            <a:avLst/>
          </a:prstGeom>
          <a:noFill/>
          <a:ln/>
        </p:spPr>
        <p:txBody>
          <a:bodyPr wrap="square" lIns="0" tIns="0" rIns="0" bIns="0" rtlCol="0" anchor="ctr"/>
          <a:lstStyle/>
          <a:p>
            <a:pPr marL="0" indent="0">
              <a:buNone/>
            </a:pPr>
            <a:r>
              <a:rPr lang="en-US" sz="1700" dirty="0">
                <a:solidFill>
                  <a:srgbClr val="BDD7EE"/>
                </a:solidFill>
                <a:latin typeface="Microsoft JhengHei" pitchFamily="34" charset="0"/>
                <a:ea typeface="Microsoft JhengHei" pitchFamily="34" charset="-122"/>
                <a:cs typeface="Microsoft JhengHei" pitchFamily="34" charset="-120"/>
              </a:rPr>
              <a:t>您的臨床經驗，是最好的題材</a:t>
            </a:r>
            <a:endParaRPr lang="en-US" sz="1700" dirty="0"/>
          </a:p>
        </p:txBody>
      </p:sp>
      <p:sp>
        <p:nvSpPr>
          <p:cNvPr id="4" name="Shape 2"/>
          <p:cNvSpPr/>
          <p:nvPr/>
        </p:nvSpPr>
        <p:spPr>
          <a:xfrm>
            <a:off x="658368" y="3611880"/>
            <a:ext cx="2011680" cy="0"/>
          </a:xfrm>
          <a:prstGeom prst="line">
            <a:avLst/>
          </a:prstGeom>
          <a:noFill/>
          <a:ln w="25400">
            <a:solidFill>
              <a:srgbClr val="2E75B6"/>
            </a:solidFill>
            <a:prstDash val="solid"/>
          </a:ln>
        </p:spPr>
        <p:txBody>
          <a:bodyPr/>
          <a:lstStyle/>
          <a:p>
            <a:endParaRPr lang="zh-TW" altLang="en-US"/>
          </a:p>
        </p:txBody>
      </p:sp>
      <p:sp>
        <p:nvSpPr>
          <p:cNvPr id="5" name="Text 3"/>
          <p:cNvSpPr/>
          <p:nvPr/>
        </p:nvSpPr>
        <p:spPr>
          <a:xfrm>
            <a:off x="640080" y="3749040"/>
            <a:ext cx="6858000" cy="640080"/>
          </a:xfrm>
          <a:prstGeom prst="rect">
            <a:avLst/>
          </a:prstGeom>
          <a:noFill/>
          <a:ln/>
        </p:spPr>
        <p:txBody>
          <a:bodyPr wrap="square" lIns="0" tIns="0" rIns="0" bIns="0" rtlCol="0" anchor="ctr"/>
          <a:lstStyle/>
          <a:p>
            <a:pPr marL="0" indent="0">
              <a:lnSpc>
                <a:spcPct val="130000"/>
              </a:lnSpc>
              <a:buNone/>
            </a:pPr>
            <a:r>
              <a:rPr lang="en-US" sz="1300" dirty="0">
                <a:solidFill>
                  <a:srgbClr val="FFFFFF"/>
                </a:solidFill>
                <a:latin typeface="Microsoft JhengHei" pitchFamily="34" charset="0"/>
                <a:ea typeface="Microsoft JhengHei" pitchFamily="34" charset="-122"/>
                <a:cs typeface="Microsoft JhengHei" pitchFamily="34" charset="-120"/>
              </a:rPr>
              <a:t>陳義展 醫師　長庚醫院 一般外科｜臨床技能中心主任</a:t>
            </a:r>
            <a:endParaRPr lang="en-US" sz="1300" dirty="0"/>
          </a:p>
          <a:p>
            <a:pPr marL="0" indent="0">
              <a:lnSpc>
                <a:spcPct val="130000"/>
              </a:lnSpc>
              <a:buNone/>
            </a:pPr>
            <a:r>
              <a:rPr lang="en-US" sz="1300" dirty="0">
                <a:solidFill>
                  <a:srgbClr val="BDD7EE"/>
                </a:solidFill>
                <a:latin typeface="Microsoft JhengHei" pitchFamily="34" charset="0"/>
                <a:ea typeface="Microsoft JhengHei" pitchFamily="34" charset="-122"/>
                <a:cs typeface="Microsoft JhengHei" pitchFamily="34" charset="-120"/>
              </a:rPr>
              <a:t>a017749@gmail.com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E1B3206-2DEA-4C4B-8584-8AF6D80E1E03}">
  <we:reference id="wa200010001" version="1.0.0.0" store="en-US" storeType="OMEX"/>
  <we:alternateReferences>
    <we:reference id="WA200010001" version="1.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TotalTime>
  <Words>2770</Words>
  <Application>Microsoft Office PowerPoint</Application>
  <PresentationFormat>如螢幕大小 (16:9)</PresentationFormat>
  <Paragraphs>681</Paragraphs>
  <Slides>43</Slides>
  <Notes>34</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43</vt:i4>
      </vt:variant>
    </vt:vector>
  </HeadingPairs>
  <TitlesOfParts>
    <vt:vector size="50" baseType="lpstr">
      <vt:lpstr>Google Sans Text</vt:lpstr>
      <vt:lpstr>微軟正黑體</vt:lpstr>
      <vt:lpstr>微軟正黑體</vt:lpstr>
      <vt:lpstr>Arial</vt:lpstr>
      <vt:lpstr>Calibri</vt:lpstr>
      <vt:lpstr>Times New Roman</vt:lpstr>
      <vt:lpstr>Office Theme</vt:lpstr>
      <vt:lpstr>PowerPoint 簡報</vt:lpstr>
      <vt:lpstr>PowerPoint 簡報</vt:lpstr>
      <vt:lpstr>PowerPoint 簡報</vt:lpstr>
      <vt:lpstr>為什麼要評估學員?</vt:lpstr>
      <vt:lpstr>學習者為中心</vt:lpstr>
      <vt:lpstr>模擬手術</vt:lpstr>
      <vt:lpstr>學習評量</vt:lpstr>
      <vt:lpstr>模擬病人考題</vt:lpstr>
      <vt:lpstr>PowerPoint 簡報</vt:lpstr>
      <vt:lpstr>OSCE</vt:lpstr>
      <vt:lpstr>OSCE在臨床教學中的角色</vt:lpstr>
      <vt:lpstr>一場考試有幾個人參與</vt:lpstr>
      <vt:lpstr>OSCE的好處</vt:lpstr>
      <vt:lpstr>PowerPoint 簡報</vt:lpstr>
      <vt:lpstr>PowerPoint 簡報</vt:lpstr>
      <vt:lpstr>PowerPoint 簡報</vt:lpstr>
      <vt:lpstr>出題的目的是什麼?</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按一下以編輯母片標題樣式</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OSCE 出題原則</dc:title>
  <dc:subject>PptxGenJS Presentation</dc:subject>
  <dc:creator>陳義展</dc:creator>
  <cp:lastModifiedBy>YiChan Chen</cp:lastModifiedBy>
  <cp:revision>2</cp:revision>
  <dcterms:created xsi:type="dcterms:W3CDTF">2026-06-15T01:38:58Z</dcterms:created>
  <dcterms:modified xsi:type="dcterms:W3CDTF">2026-06-15T01:45:48Z</dcterms:modified>
</cp:coreProperties>
</file>